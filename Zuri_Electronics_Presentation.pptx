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7" d="100"/>
          <a:sy n="97" d="100"/>
        </p:scale>
        <p:origin x="115"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07338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12161520" cy="3474720"/>
          </a:xfrm>
          <a:prstGeom prst="rect">
            <a:avLst/>
          </a:prstGeom>
          <a:solidFill>
            <a:srgbClr val="16213E"/>
          </a:solidFill>
          <a:ln/>
        </p:spPr>
      </p:sp>
      <p:sp>
        <p:nvSpPr>
          <p:cNvPr id="3" name="Shape 1"/>
          <p:cNvSpPr/>
          <p:nvPr/>
        </p:nvSpPr>
        <p:spPr>
          <a:xfrm>
            <a:off x="0" y="3474720"/>
            <a:ext cx="12161520" cy="54864"/>
          </a:xfrm>
          <a:prstGeom prst="rect">
            <a:avLst/>
          </a:prstGeom>
          <a:solidFill>
            <a:srgbClr val="00CEC9"/>
          </a:solidFill>
          <a:ln/>
        </p:spPr>
      </p:sp>
      <p:sp>
        <p:nvSpPr>
          <p:cNvPr id="4" name="Text 2"/>
          <p:cNvSpPr/>
          <p:nvPr/>
        </p:nvSpPr>
        <p:spPr>
          <a:xfrm>
            <a:off x="457200" y="731520"/>
            <a:ext cx="11247120" cy="1097280"/>
          </a:xfrm>
          <a:prstGeom prst="rect">
            <a:avLst/>
          </a:prstGeom>
          <a:noFill/>
          <a:ln/>
        </p:spPr>
        <p:txBody>
          <a:bodyPr wrap="square" rtlCol="0" anchor="ctr"/>
          <a:lstStyle/>
          <a:p>
            <a:pPr marL="0" indent="0" algn="ctr">
              <a:buNone/>
            </a:pPr>
            <a:r>
              <a:rPr lang="en-US" sz="4800" b="1" dirty="0">
                <a:solidFill>
                  <a:srgbClr val="FFFFFF"/>
                </a:solidFill>
                <a:latin typeface="Arial" pitchFamily="34" charset="0"/>
                <a:ea typeface="Arial" pitchFamily="34" charset="-122"/>
                <a:cs typeface="Arial" pitchFamily="34" charset="-120"/>
              </a:rPr>
              <a:t>ZURI ELECTRONICS</a:t>
            </a:r>
            <a:endParaRPr lang="en-US" sz="4800" dirty="0"/>
          </a:p>
        </p:txBody>
      </p:sp>
      <p:sp>
        <p:nvSpPr>
          <p:cNvPr id="5" name="Text 3"/>
          <p:cNvSpPr/>
          <p:nvPr/>
        </p:nvSpPr>
        <p:spPr>
          <a:xfrm>
            <a:off x="457200" y="1828800"/>
            <a:ext cx="11247120" cy="640080"/>
          </a:xfrm>
          <a:prstGeom prst="rect">
            <a:avLst/>
          </a:prstGeom>
          <a:noFill/>
          <a:ln/>
        </p:spPr>
        <p:txBody>
          <a:bodyPr wrap="square" rtlCol="0" anchor="ctr"/>
          <a:lstStyle/>
          <a:p>
            <a:pPr marL="0" indent="0" algn="ctr">
              <a:buNone/>
            </a:pPr>
            <a:r>
              <a:rPr lang="en-US" sz="2200" dirty="0">
                <a:solidFill>
                  <a:srgbClr val="00CEC9"/>
                </a:solidFill>
                <a:latin typeface="Arial" pitchFamily="34" charset="0"/>
                <a:ea typeface="Arial" pitchFamily="34" charset="-122"/>
                <a:cs typeface="Arial" pitchFamily="34" charset="-120"/>
              </a:rPr>
              <a:t>Business Intelligence Analysis</a:t>
            </a:r>
            <a:endParaRPr lang="en-US" sz="2200" dirty="0"/>
          </a:p>
        </p:txBody>
      </p:sp>
      <p:sp>
        <p:nvSpPr>
          <p:cNvPr id="6" name="Text 4"/>
          <p:cNvSpPr/>
          <p:nvPr/>
        </p:nvSpPr>
        <p:spPr>
          <a:xfrm>
            <a:off x="457200" y="2468880"/>
            <a:ext cx="11247120" cy="457200"/>
          </a:xfrm>
          <a:prstGeom prst="rect">
            <a:avLst/>
          </a:prstGeom>
          <a:noFill/>
          <a:ln/>
        </p:spPr>
        <p:txBody>
          <a:bodyPr wrap="square" rtlCol="0" anchor="ctr"/>
          <a:lstStyle/>
          <a:p>
            <a:pPr marL="0" indent="0" algn="ctr">
              <a:buNone/>
            </a:pPr>
            <a:r>
              <a:rPr lang="en-US" sz="1200" dirty="0">
                <a:solidFill>
                  <a:srgbClr val="CCCCCC"/>
                </a:solidFill>
                <a:latin typeface="Arial" pitchFamily="34" charset="0"/>
                <a:ea typeface="Arial" pitchFamily="34" charset="-122"/>
                <a:cs typeface="Arial" pitchFamily="34" charset="-120"/>
              </a:rPr>
              <a:t>Power BI Dashboard  |  Data Cleaning  |  DAX Modeling  |  Row-Level Security</a:t>
            </a:r>
            <a:endParaRPr lang="en-US" sz="1200" dirty="0"/>
          </a:p>
        </p:txBody>
      </p:sp>
      <p:sp>
        <p:nvSpPr>
          <p:cNvPr id="7" name="Text 5"/>
          <p:cNvSpPr/>
          <p:nvPr/>
        </p:nvSpPr>
        <p:spPr>
          <a:xfrm>
            <a:off x="3200400" y="4023360"/>
            <a:ext cx="5486400" cy="365760"/>
          </a:xfrm>
          <a:prstGeom prst="rect">
            <a:avLst/>
          </a:prstGeom>
          <a:noFill/>
          <a:ln/>
        </p:spPr>
        <p:txBody>
          <a:bodyPr wrap="square" rtlCol="0" anchor="ctr"/>
          <a:lstStyle/>
          <a:p>
            <a:pPr marL="0" indent="0" algn="ctr">
              <a:buNone/>
            </a:pPr>
            <a:r>
              <a:rPr lang="en-US" sz="1300" dirty="0">
                <a:solidFill>
                  <a:srgbClr val="CCCCCC"/>
                </a:solidFill>
                <a:latin typeface="Arial" pitchFamily="34" charset="0"/>
                <a:ea typeface="Arial" pitchFamily="34" charset="-122"/>
                <a:cs typeface="Arial" pitchFamily="34" charset="-120"/>
              </a:rPr>
              <a:t>Prepared by:  </a:t>
            </a:r>
            <a:r>
              <a:rPr lang="en-US" sz="1300" b="1" dirty="0">
                <a:solidFill>
                  <a:srgbClr val="FFFFFF"/>
                </a:solidFill>
                <a:latin typeface="Arial" pitchFamily="34" charset="0"/>
                <a:ea typeface="Arial" pitchFamily="34" charset="-122"/>
                <a:cs typeface="Arial" pitchFamily="34" charset="-120"/>
              </a:rPr>
              <a:t>Oluwatoni Oladipo</a:t>
            </a:r>
            <a:endParaRPr lang="en-US" sz="1300" dirty="0"/>
          </a:p>
        </p:txBody>
      </p:sp>
      <p:sp>
        <p:nvSpPr>
          <p:cNvPr id="8" name="Text 6"/>
          <p:cNvSpPr/>
          <p:nvPr/>
        </p:nvSpPr>
        <p:spPr>
          <a:xfrm>
            <a:off x="3200400" y="4480560"/>
            <a:ext cx="5486400" cy="320040"/>
          </a:xfrm>
          <a:prstGeom prst="rect">
            <a:avLst/>
          </a:prstGeom>
          <a:noFill/>
          <a:ln/>
        </p:spPr>
        <p:txBody>
          <a:bodyPr wrap="square" rtlCol="0" anchor="ctr"/>
          <a:lstStyle/>
          <a:p>
            <a:pPr marL="0" indent="0" algn="ctr">
              <a:buNone/>
            </a:pPr>
            <a:r>
              <a:rPr lang="en-US" sz="1200" dirty="0">
                <a:solidFill>
                  <a:srgbClr val="CCCCCC"/>
                </a:solidFill>
                <a:latin typeface="Arial" pitchFamily="34" charset="0"/>
                <a:ea typeface="Arial" pitchFamily="34" charset="-122"/>
                <a:cs typeface="Arial" pitchFamily="34" charset="-120"/>
              </a:rPr>
              <a:t>Role:  </a:t>
            </a:r>
            <a:r>
              <a:rPr lang="en-US" sz="1200" dirty="0">
                <a:solidFill>
                  <a:srgbClr val="00CEC9"/>
                </a:solidFill>
                <a:latin typeface="Arial" pitchFamily="34" charset="0"/>
                <a:ea typeface="Arial" pitchFamily="34" charset="-122"/>
                <a:cs typeface="Arial" pitchFamily="34" charset="-120"/>
              </a:rPr>
              <a:t>Data Analyst</a:t>
            </a:r>
            <a:endParaRPr lang="en-US" sz="1200" dirty="0"/>
          </a:p>
        </p:txBody>
      </p:sp>
      <p:sp>
        <p:nvSpPr>
          <p:cNvPr id="9" name="Text 7"/>
          <p:cNvSpPr/>
          <p:nvPr/>
        </p:nvSpPr>
        <p:spPr>
          <a:xfrm>
            <a:off x="3200400" y="4846320"/>
            <a:ext cx="5486400" cy="320040"/>
          </a:xfrm>
          <a:prstGeom prst="rect">
            <a:avLst/>
          </a:prstGeom>
          <a:noFill/>
          <a:ln/>
        </p:spPr>
        <p:txBody>
          <a:bodyPr wrap="square" rtlCol="0" anchor="ctr"/>
          <a:lstStyle/>
          <a:p>
            <a:pPr marL="0" indent="0" algn="ctr">
              <a:buNone/>
            </a:pPr>
            <a:r>
              <a:rPr lang="en-US" sz="1200" dirty="0">
                <a:solidFill>
                  <a:srgbClr val="CCCCCC"/>
                </a:solidFill>
                <a:latin typeface="Arial" pitchFamily="34" charset="0"/>
                <a:ea typeface="Arial" pitchFamily="34" charset="-122"/>
                <a:cs typeface="Arial" pitchFamily="34" charset="-120"/>
              </a:rPr>
              <a:t>Date:  </a:t>
            </a:r>
            <a:r>
              <a:rPr lang="en-US" sz="1200" dirty="0">
                <a:solidFill>
                  <a:srgbClr val="FFFFFF"/>
                </a:solidFill>
                <a:latin typeface="Arial" pitchFamily="34" charset="0"/>
                <a:ea typeface="Arial" pitchFamily="34" charset="-122"/>
                <a:cs typeface="Arial" pitchFamily="34" charset="-120"/>
              </a:rPr>
              <a:t>July 2026</a:t>
            </a:r>
            <a:endParaRPr lang="en-US" sz="1200" dirty="0"/>
          </a:p>
        </p:txBody>
      </p:sp>
      <p:sp>
        <p:nvSpPr>
          <p:cNvPr id="10" name="Text 8"/>
          <p:cNvSpPr/>
          <p:nvPr/>
        </p:nvSpPr>
        <p:spPr>
          <a:xfrm>
            <a:off x="3200400" y="5212080"/>
            <a:ext cx="5486400" cy="320040"/>
          </a:xfrm>
          <a:prstGeom prst="rect">
            <a:avLst/>
          </a:prstGeom>
          <a:noFill/>
          <a:ln/>
        </p:spPr>
        <p:txBody>
          <a:bodyPr wrap="square" rtlCol="0" anchor="ctr"/>
          <a:lstStyle/>
          <a:p>
            <a:pPr marL="0" indent="0" algn="ctr">
              <a:buNone/>
            </a:pPr>
            <a:r>
              <a:rPr lang="en-US" sz="1100" dirty="0">
                <a:solidFill>
                  <a:srgbClr val="CCCCCC"/>
                </a:solidFill>
                <a:latin typeface="Arial" pitchFamily="34" charset="0"/>
                <a:ea typeface="Arial" pitchFamily="34" charset="-122"/>
                <a:cs typeface="Arial" pitchFamily="34" charset="-120"/>
              </a:rPr>
              <a:t>Contact:  </a:t>
            </a:r>
            <a:r>
              <a:rPr lang="en-US" sz="1100" dirty="0">
                <a:solidFill>
                  <a:srgbClr val="00CEC9"/>
                </a:solidFill>
                <a:latin typeface="Arial" pitchFamily="34" charset="0"/>
                <a:ea typeface="Arial" pitchFamily="34" charset="-122"/>
                <a:cs typeface="Arial" pitchFamily="34" charset="-120"/>
              </a:rPr>
              <a:t>toni@tonianalytics.com.ng</a:t>
            </a:r>
            <a:endParaRPr lang="en-US" sz="1100" dirty="0"/>
          </a:p>
        </p:txBody>
      </p:sp>
      <p:sp>
        <p:nvSpPr>
          <p:cNvPr id="11" name="Text 9"/>
          <p:cNvSpPr/>
          <p:nvPr/>
        </p:nvSpPr>
        <p:spPr>
          <a:xfrm>
            <a:off x="0" y="6446520"/>
            <a:ext cx="12161520" cy="320040"/>
          </a:xfrm>
          <a:prstGeom prst="rect">
            <a:avLst/>
          </a:prstGeom>
          <a:noFill/>
          <a:ln/>
        </p:spPr>
        <p:txBody>
          <a:bodyPr wrap="square" rtlCol="0" anchor="ctr"/>
          <a:lstStyle/>
          <a:p>
            <a:pPr marL="0" indent="0" algn="ctr">
              <a:buNone/>
            </a:pPr>
            <a:r>
              <a:rPr lang="en-US" sz="800" dirty="0">
                <a:solidFill>
                  <a:srgbClr val="CCCCCC"/>
                </a:solidFill>
                <a:latin typeface="Arial" pitchFamily="34" charset="0"/>
                <a:ea typeface="Arial" pitchFamily="34" charset="-122"/>
                <a:cs typeface="Arial" pitchFamily="34" charset="-120"/>
              </a:rPr>
              <a:t>Zuri Electronics Analysis  |  Oluwatoni Oladipo  |  1/16</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A2E"/>
        </a:solidFill>
        <a:effectLst/>
      </p:bgPr>
    </p:bg>
    <p:spTree>
      <p:nvGrpSpPr>
        <p:cNvPr id="1" name=""/>
        <p:cNvGrpSpPr/>
        <p:nvPr/>
      </p:nvGrpSpPr>
      <p:grpSpPr>
        <a:xfrm>
          <a:off x="0" y="0"/>
          <a:ext cx="0" cy="0"/>
          <a:chOff x="0" y="0"/>
          <a:chExt cx="0" cy="0"/>
        </a:xfrm>
      </p:grpSpPr>
      <p:sp>
        <p:nvSpPr>
          <p:cNvPr id="2" name="Text 0"/>
          <p:cNvSpPr/>
          <p:nvPr/>
        </p:nvSpPr>
        <p:spPr>
          <a:xfrm>
            <a:off x="640080" y="365760"/>
            <a:ext cx="4572000" cy="640080"/>
          </a:xfrm>
          <a:prstGeom prst="rect">
            <a:avLst/>
          </a:prstGeom>
          <a:noFill/>
          <a:ln/>
        </p:spPr>
        <p:txBody>
          <a:bodyPr wrap="square" rtlCol="0" anchor="ctr"/>
          <a:lstStyle/>
          <a:p>
            <a:pPr marL="0" indent="0">
              <a:buNone/>
            </a:pPr>
            <a:r>
              <a:rPr lang="en-US" sz="2800" b="1" dirty="0">
                <a:solidFill>
                  <a:srgbClr val="FFFFFF"/>
                </a:solidFill>
                <a:latin typeface="Arial" pitchFamily="34" charset="0"/>
                <a:ea typeface="Arial" pitchFamily="34" charset="-122"/>
                <a:cs typeface="Arial" pitchFamily="34" charset="-120"/>
              </a:rPr>
              <a:t>TABLE OF CONTENTS</a:t>
            </a:r>
            <a:endParaRPr lang="en-US" sz="2800" dirty="0"/>
          </a:p>
        </p:txBody>
      </p:sp>
      <p:sp>
        <p:nvSpPr>
          <p:cNvPr id="3" name="Shape 1"/>
          <p:cNvSpPr/>
          <p:nvPr/>
        </p:nvSpPr>
        <p:spPr>
          <a:xfrm>
            <a:off x="640080" y="960120"/>
            <a:ext cx="3657600" cy="36576"/>
          </a:xfrm>
          <a:prstGeom prst="rect">
            <a:avLst/>
          </a:prstGeom>
          <a:solidFill>
            <a:srgbClr val="00CEC9"/>
          </a:solidFill>
          <a:ln/>
        </p:spPr>
      </p:sp>
      <p:sp>
        <p:nvSpPr>
          <p:cNvPr id="4" name="Text 2"/>
          <p:cNvSpPr/>
          <p:nvPr/>
        </p:nvSpPr>
        <p:spPr>
          <a:xfrm>
            <a:off x="914400" y="1463040"/>
            <a:ext cx="5029200" cy="411480"/>
          </a:xfrm>
          <a:prstGeom prst="rect">
            <a:avLst/>
          </a:prstGeom>
          <a:noFill/>
          <a:ln/>
        </p:spPr>
        <p:txBody>
          <a:bodyPr wrap="square" rtlCol="0" anchor="ctr"/>
          <a:lstStyle/>
          <a:p>
            <a:pPr marL="0" indent="0">
              <a:buNone/>
            </a:pPr>
            <a:r>
              <a:rPr lang="en-US" sz="1300" dirty="0">
                <a:solidFill>
                  <a:srgbClr val="00CEC9"/>
                </a:solidFill>
                <a:latin typeface="Arial" pitchFamily="34" charset="0"/>
                <a:ea typeface="Arial" pitchFamily="34" charset="-122"/>
                <a:cs typeface="Arial" pitchFamily="34" charset="-120"/>
              </a:rPr>
              <a:t>01   Executive Summary</a:t>
            </a:r>
            <a:endParaRPr lang="en-US" sz="1300" dirty="0"/>
          </a:p>
        </p:txBody>
      </p:sp>
      <p:sp>
        <p:nvSpPr>
          <p:cNvPr id="5" name="Text 3"/>
          <p:cNvSpPr/>
          <p:nvPr/>
        </p:nvSpPr>
        <p:spPr>
          <a:xfrm>
            <a:off x="914400" y="1965960"/>
            <a:ext cx="5029200" cy="411480"/>
          </a:xfrm>
          <a:prstGeom prst="rect">
            <a:avLst/>
          </a:prstGeom>
          <a:noFill/>
          <a:ln/>
        </p:spPr>
        <p:txBody>
          <a:bodyPr wrap="square" rtlCol="0" anchor="ctr"/>
          <a:lstStyle/>
          <a:p>
            <a:pPr marL="0" indent="0">
              <a:buNone/>
            </a:pPr>
            <a:r>
              <a:rPr lang="en-US" sz="1300" dirty="0">
                <a:solidFill>
                  <a:srgbClr val="FFFFFF"/>
                </a:solidFill>
                <a:latin typeface="Arial" pitchFamily="34" charset="0"/>
                <a:ea typeface="Arial" pitchFamily="34" charset="-122"/>
                <a:cs typeface="Arial" pitchFamily="34" charset="-120"/>
              </a:rPr>
              <a:t>02   Project Overview</a:t>
            </a:r>
            <a:endParaRPr lang="en-US" sz="1300" dirty="0"/>
          </a:p>
        </p:txBody>
      </p:sp>
      <p:sp>
        <p:nvSpPr>
          <p:cNvPr id="6" name="Text 4"/>
          <p:cNvSpPr/>
          <p:nvPr/>
        </p:nvSpPr>
        <p:spPr>
          <a:xfrm>
            <a:off x="914400" y="2468880"/>
            <a:ext cx="5029200" cy="411480"/>
          </a:xfrm>
          <a:prstGeom prst="rect">
            <a:avLst/>
          </a:prstGeom>
          <a:noFill/>
          <a:ln/>
        </p:spPr>
        <p:txBody>
          <a:bodyPr wrap="square" rtlCol="0" anchor="ctr"/>
          <a:lstStyle/>
          <a:p>
            <a:pPr marL="0" indent="0">
              <a:buNone/>
            </a:pPr>
            <a:r>
              <a:rPr lang="en-US" sz="1300" dirty="0">
                <a:solidFill>
                  <a:srgbClr val="FFFFFF"/>
                </a:solidFill>
                <a:latin typeface="Arial" pitchFamily="34" charset="0"/>
                <a:ea typeface="Arial" pitchFamily="34" charset="-122"/>
                <a:cs typeface="Arial" pitchFamily="34" charset="-120"/>
              </a:rPr>
              <a:t>03   Dataset Overview</a:t>
            </a:r>
            <a:endParaRPr lang="en-US" sz="1300" dirty="0"/>
          </a:p>
        </p:txBody>
      </p:sp>
      <p:sp>
        <p:nvSpPr>
          <p:cNvPr id="7" name="Text 5"/>
          <p:cNvSpPr/>
          <p:nvPr/>
        </p:nvSpPr>
        <p:spPr>
          <a:xfrm>
            <a:off x="914400" y="2971800"/>
            <a:ext cx="5029200" cy="411480"/>
          </a:xfrm>
          <a:prstGeom prst="rect">
            <a:avLst/>
          </a:prstGeom>
          <a:noFill/>
          <a:ln/>
        </p:spPr>
        <p:txBody>
          <a:bodyPr wrap="square" rtlCol="0" anchor="ctr"/>
          <a:lstStyle/>
          <a:p>
            <a:pPr marL="0" indent="0">
              <a:buNone/>
            </a:pPr>
            <a:r>
              <a:rPr lang="en-US" sz="1300" dirty="0">
                <a:solidFill>
                  <a:srgbClr val="FFFFFF"/>
                </a:solidFill>
                <a:latin typeface="Arial" pitchFamily="34" charset="0"/>
                <a:ea typeface="Arial" pitchFamily="34" charset="-122"/>
                <a:cs typeface="Arial" pitchFamily="34" charset="-120"/>
              </a:rPr>
              <a:t>04   Data Cleaning (Power Query)</a:t>
            </a:r>
            <a:endParaRPr lang="en-US" sz="1300" dirty="0"/>
          </a:p>
        </p:txBody>
      </p:sp>
      <p:sp>
        <p:nvSpPr>
          <p:cNvPr id="8" name="Text 6"/>
          <p:cNvSpPr/>
          <p:nvPr/>
        </p:nvSpPr>
        <p:spPr>
          <a:xfrm>
            <a:off x="914400" y="3474720"/>
            <a:ext cx="5029200" cy="411480"/>
          </a:xfrm>
          <a:prstGeom prst="rect">
            <a:avLst/>
          </a:prstGeom>
          <a:noFill/>
          <a:ln/>
        </p:spPr>
        <p:txBody>
          <a:bodyPr wrap="square" rtlCol="0" anchor="ctr"/>
          <a:lstStyle/>
          <a:p>
            <a:pPr marL="0" indent="0">
              <a:buNone/>
            </a:pPr>
            <a:r>
              <a:rPr lang="en-US" sz="1300" dirty="0">
                <a:solidFill>
                  <a:srgbClr val="FFFFFF"/>
                </a:solidFill>
                <a:latin typeface="Arial" pitchFamily="34" charset="0"/>
                <a:ea typeface="Arial" pitchFamily="34" charset="-122"/>
                <a:cs typeface="Arial" pitchFamily="34" charset="-120"/>
              </a:rPr>
              <a:t>05   Null City &amp; Region Resolution</a:t>
            </a:r>
            <a:endParaRPr lang="en-US" sz="1300" dirty="0"/>
          </a:p>
        </p:txBody>
      </p:sp>
      <p:sp>
        <p:nvSpPr>
          <p:cNvPr id="9" name="Text 7"/>
          <p:cNvSpPr/>
          <p:nvPr/>
        </p:nvSpPr>
        <p:spPr>
          <a:xfrm>
            <a:off x="914400" y="3977640"/>
            <a:ext cx="5029200" cy="411480"/>
          </a:xfrm>
          <a:prstGeom prst="rect">
            <a:avLst/>
          </a:prstGeom>
          <a:noFill/>
          <a:ln/>
        </p:spPr>
        <p:txBody>
          <a:bodyPr wrap="square" rtlCol="0" anchor="ctr"/>
          <a:lstStyle/>
          <a:p>
            <a:pPr marL="0" indent="0">
              <a:buNone/>
            </a:pPr>
            <a:r>
              <a:rPr lang="en-US" sz="1300" dirty="0">
                <a:solidFill>
                  <a:srgbClr val="FFFFFF"/>
                </a:solidFill>
                <a:latin typeface="Arial" pitchFamily="34" charset="0"/>
                <a:ea typeface="Arial" pitchFamily="34" charset="-122"/>
                <a:cs typeface="Arial" pitchFamily="34" charset="-120"/>
              </a:rPr>
              <a:t>06   Cost &amp; Discount Handling</a:t>
            </a:r>
            <a:endParaRPr lang="en-US" sz="1300" dirty="0"/>
          </a:p>
        </p:txBody>
      </p:sp>
      <p:sp>
        <p:nvSpPr>
          <p:cNvPr id="10" name="Text 8"/>
          <p:cNvSpPr/>
          <p:nvPr/>
        </p:nvSpPr>
        <p:spPr>
          <a:xfrm>
            <a:off x="914400" y="4480560"/>
            <a:ext cx="5029200" cy="411480"/>
          </a:xfrm>
          <a:prstGeom prst="rect">
            <a:avLst/>
          </a:prstGeom>
          <a:noFill/>
          <a:ln/>
        </p:spPr>
        <p:txBody>
          <a:bodyPr wrap="square" rtlCol="0" anchor="ctr"/>
          <a:lstStyle/>
          <a:p>
            <a:pPr marL="0" indent="0">
              <a:buNone/>
            </a:pPr>
            <a:r>
              <a:rPr lang="en-US" sz="1300" dirty="0">
                <a:solidFill>
                  <a:srgbClr val="FFFFFF"/>
                </a:solidFill>
                <a:latin typeface="Arial" pitchFamily="34" charset="0"/>
                <a:ea typeface="Arial" pitchFamily="34" charset="-122"/>
                <a:cs typeface="Arial" pitchFamily="34" charset="-120"/>
              </a:rPr>
              <a:t>07   Data Modeling (DAX)</a:t>
            </a:r>
            <a:endParaRPr lang="en-US" sz="1300" dirty="0"/>
          </a:p>
        </p:txBody>
      </p:sp>
      <p:sp>
        <p:nvSpPr>
          <p:cNvPr id="11" name="Text 9"/>
          <p:cNvSpPr/>
          <p:nvPr/>
        </p:nvSpPr>
        <p:spPr>
          <a:xfrm>
            <a:off x="6400800" y="1463040"/>
            <a:ext cx="5029200" cy="411480"/>
          </a:xfrm>
          <a:prstGeom prst="rect">
            <a:avLst/>
          </a:prstGeom>
          <a:noFill/>
          <a:ln/>
        </p:spPr>
        <p:txBody>
          <a:bodyPr wrap="square" rtlCol="0" anchor="ctr"/>
          <a:lstStyle/>
          <a:p>
            <a:pPr marL="0" indent="0">
              <a:buNone/>
            </a:pPr>
            <a:r>
              <a:rPr lang="en-US" sz="1300" dirty="0">
                <a:solidFill>
                  <a:srgbClr val="FFFFFF"/>
                </a:solidFill>
                <a:latin typeface="Arial" pitchFamily="34" charset="0"/>
                <a:ea typeface="Arial" pitchFamily="34" charset="-122"/>
                <a:cs typeface="Arial" pitchFamily="34" charset="-120"/>
              </a:rPr>
              <a:t>08   DAX Measures</a:t>
            </a:r>
            <a:endParaRPr lang="en-US" sz="1300" dirty="0"/>
          </a:p>
        </p:txBody>
      </p:sp>
      <p:sp>
        <p:nvSpPr>
          <p:cNvPr id="12" name="Text 10"/>
          <p:cNvSpPr/>
          <p:nvPr/>
        </p:nvSpPr>
        <p:spPr>
          <a:xfrm>
            <a:off x="6400800" y="1965960"/>
            <a:ext cx="5029200" cy="411480"/>
          </a:xfrm>
          <a:prstGeom prst="rect">
            <a:avLst/>
          </a:prstGeom>
          <a:noFill/>
          <a:ln/>
        </p:spPr>
        <p:txBody>
          <a:bodyPr wrap="square" rtlCol="0" anchor="ctr"/>
          <a:lstStyle/>
          <a:p>
            <a:pPr marL="0" indent="0">
              <a:buNone/>
            </a:pPr>
            <a:r>
              <a:rPr lang="en-US" sz="1300" dirty="0">
                <a:solidFill>
                  <a:srgbClr val="FFFFFF"/>
                </a:solidFill>
                <a:latin typeface="Arial" pitchFamily="34" charset="0"/>
                <a:ea typeface="Arial" pitchFamily="34" charset="-122"/>
                <a:cs typeface="Arial" pitchFamily="34" charset="-120"/>
              </a:rPr>
              <a:t>09   Dashboard Design</a:t>
            </a:r>
            <a:endParaRPr lang="en-US" sz="1300" dirty="0"/>
          </a:p>
        </p:txBody>
      </p:sp>
      <p:sp>
        <p:nvSpPr>
          <p:cNvPr id="13" name="Text 11"/>
          <p:cNvSpPr/>
          <p:nvPr/>
        </p:nvSpPr>
        <p:spPr>
          <a:xfrm>
            <a:off x="6400800" y="2468880"/>
            <a:ext cx="5029200" cy="411480"/>
          </a:xfrm>
          <a:prstGeom prst="rect">
            <a:avLst/>
          </a:prstGeom>
          <a:noFill/>
          <a:ln/>
        </p:spPr>
        <p:txBody>
          <a:bodyPr wrap="square" rtlCol="0" anchor="ctr"/>
          <a:lstStyle/>
          <a:p>
            <a:pPr marL="0" indent="0">
              <a:buNone/>
            </a:pPr>
            <a:r>
              <a:rPr lang="en-US" sz="1300" dirty="0">
                <a:solidFill>
                  <a:srgbClr val="FFFFFF"/>
                </a:solidFill>
                <a:latin typeface="Arial" pitchFamily="34" charset="0"/>
                <a:ea typeface="Arial" pitchFamily="34" charset="-122"/>
                <a:cs typeface="Arial" pitchFamily="34" charset="-120"/>
              </a:rPr>
              <a:t>10   Key Performance Indicators</a:t>
            </a:r>
            <a:endParaRPr lang="en-US" sz="1300" dirty="0"/>
          </a:p>
        </p:txBody>
      </p:sp>
      <p:sp>
        <p:nvSpPr>
          <p:cNvPr id="14" name="Text 12"/>
          <p:cNvSpPr/>
          <p:nvPr/>
        </p:nvSpPr>
        <p:spPr>
          <a:xfrm>
            <a:off x="6400800" y="2971800"/>
            <a:ext cx="5029200" cy="411480"/>
          </a:xfrm>
          <a:prstGeom prst="rect">
            <a:avLst/>
          </a:prstGeom>
          <a:noFill/>
          <a:ln/>
        </p:spPr>
        <p:txBody>
          <a:bodyPr wrap="square" rtlCol="0" anchor="ctr"/>
          <a:lstStyle/>
          <a:p>
            <a:pPr marL="0" indent="0">
              <a:buNone/>
            </a:pPr>
            <a:r>
              <a:rPr lang="en-US" sz="1300" dirty="0">
                <a:solidFill>
                  <a:srgbClr val="FFFFFF"/>
                </a:solidFill>
                <a:latin typeface="Arial" pitchFamily="34" charset="0"/>
                <a:ea typeface="Arial" pitchFamily="34" charset="-122"/>
                <a:cs typeface="Arial" pitchFamily="34" charset="-120"/>
              </a:rPr>
              <a:t>11   Business Insights</a:t>
            </a:r>
            <a:endParaRPr lang="en-US" sz="1300" dirty="0"/>
          </a:p>
        </p:txBody>
      </p:sp>
      <p:sp>
        <p:nvSpPr>
          <p:cNvPr id="15" name="Text 13"/>
          <p:cNvSpPr/>
          <p:nvPr/>
        </p:nvSpPr>
        <p:spPr>
          <a:xfrm>
            <a:off x="6400800" y="3474720"/>
            <a:ext cx="5029200" cy="411480"/>
          </a:xfrm>
          <a:prstGeom prst="rect">
            <a:avLst/>
          </a:prstGeom>
          <a:noFill/>
          <a:ln/>
        </p:spPr>
        <p:txBody>
          <a:bodyPr wrap="square" rtlCol="0" anchor="ctr"/>
          <a:lstStyle/>
          <a:p>
            <a:pPr marL="0" indent="0">
              <a:buNone/>
            </a:pPr>
            <a:r>
              <a:rPr lang="en-US" sz="1300" dirty="0">
                <a:solidFill>
                  <a:srgbClr val="FFFFFF"/>
                </a:solidFill>
                <a:latin typeface="Arial" pitchFamily="34" charset="0"/>
                <a:ea typeface="Arial" pitchFamily="34" charset="-122"/>
                <a:cs typeface="Arial" pitchFamily="34" charset="-120"/>
              </a:rPr>
              <a:t>12   Recommendations</a:t>
            </a:r>
            <a:endParaRPr lang="en-US" sz="1300" dirty="0"/>
          </a:p>
        </p:txBody>
      </p:sp>
      <p:sp>
        <p:nvSpPr>
          <p:cNvPr id="16" name="Text 14"/>
          <p:cNvSpPr/>
          <p:nvPr/>
        </p:nvSpPr>
        <p:spPr>
          <a:xfrm>
            <a:off x="6400800" y="3977640"/>
            <a:ext cx="5029200" cy="411480"/>
          </a:xfrm>
          <a:prstGeom prst="rect">
            <a:avLst/>
          </a:prstGeom>
          <a:noFill/>
          <a:ln/>
        </p:spPr>
        <p:txBody>
          <a:bodyPr wrap="square" rtlCol="0" anchor="ctr"/>
          <a:lstStyle/>
          <a:p>
            <a:pPr marL="0" indent="0">
              <a:buNone/>
            </a:pPr>
            <a:r>
              <a:rPr lang="en-US" sz="1300" dirty="0">
                <a:solidFill>
                  <a:srgbClr val="FFFFFF"/>
                </a:solidFill>
                <a:latin typeface="Arial" pitchFamily="34" charset="0"/>
                <a:ea typeface="Arial" pitchFamily="34" charset="-122"/>
                <a:cs typeface="Arial" pitchFamily="34" charset="-120"/>
              </a:rPr>
              <a:t>13   Row-Level Security</a:t>
            </a:r>
            <a:endParaRPr lang="en-US" sz="1300" dirty="0"/>
          </a:p>
        </p:txBody>
      </p:sp>
      <p:sp>
        <p:nvSpPr>
          <p:cNvPr id="17" name="Text 15"/>
          <p:cNvSpPr/>
          <p:nvPr/>
        </p:nvSpPr>
        <p:spPr>
          <a:xfrm>
            <a:off x="6400800" y="4480560"/>
            <a:ext cx="5029200" cy="411480"/>
          </a:xfrm>
          <a:prstGeom prst="rect">
            <a:avLst/>
          </a:prstGeom>
          <a:noFill/>
          <a:ln/>
        </p:spPr>
        <p:txBody>
          <a:bodyPr wrap="square" rtlCol="0" anchor="ctr"/>
          <a:lstStyle/>
          <a:p>
            <a:pPr marL="0" indent="0">
              <a:buNone/>
            </a:pPr>
            <a:r>
              <a:rPr lang="en-US" sz="1300" dirty="0">
                <a:solidFill>
                  <a:srgbClr val="FFFFFF"/>
                </a:solidFill>
                <a:latin typeface="Arial" pitchFamily="34" charset="0"/>
                <a:ea typeface="Arial" pitchFamily="34" charset="-122"/>
                <a:cs typeface="Arial" pitchFamily="34" charset="-120"/>
              </a:rPr>
              <a:t>14   Data Refresh &amp; Conclusion</a:t>
            </a:r>
            <a:endParaRPr lang="en-US" sz="1300" dirty="0"/>
          </a:p>
        </p:txBody>
      </p:sp>
      <p:sp>
        <p:nvSpPr>
          <p:cNvPr id="18" name="Text 16"/>
          <p:cNvSpPr/>
          <p:nvPr/>
        </p:nvSpPr>
        <p:spPr>
          <a:xfrm>
            <a:off x="0" y="6446520"/>
            <a:ext cx="12161520" cy="320040"/>
          </a:xfrm>
          <a:prstGeom prst="rect">
            <a:avLst/>
          </a:prstGeom>
          <a:noFill/>
          <a:ln/>
        </p:spPr>
        <p:txBody>
          <a:bodyPr wrap="square" rtlCol="0" anchor="ctr"/>
          <a:lstStyle/>
          <a:p>
            <a:pPr marL="0" indent="0" algn="ctr">
              <a:buNone/>
            </a:pPr>
            <a:r>
              <a:rPr lang="en-US" sz="800" dirty="0">
                <a:solidFill>
                  <a:srgbClr val="CCCCCC"/>
                </a:solidFill>
                <a:latin typeface="Arial" pitchFamily="34" charset="0"/>
                <a:ea typeface="Arial" pitchFamily="34" charset="-122"/>
                <a:cs typeface="Arial" pitchFamily="34" charset="-120"/>
              </a:rPr>
              <a:t>Zuri Electronics Analysis  |  Oluwatoni Oladipo  |  2/16</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5486400" cy="640080"/>
          </a:xfrm>
          <a:prstGeom prst="rect">
            <a:avLst/>
          </a:prstGeom>
          <a:noFill/>
          <a:ln/>
        </p:spPr>
        <p:txBody>
          <a:bodyPr wrap="square" rtlCol="0" anchor="ctr"/>
          <a:lstStyle/>
          <a:p>
            <a:pPr marL="0" indent="0">
              <a:buNone/>
            </a:pPr>
            <a:r>
              <a:rPr lang="en-US" sz="2800" b="1" dirty="0">
                <a:solidFill>
                  <a:srgbClr val="16213E"/>
                </a:solidFill>
                <a:latin typeface="Arial" pitchFamily="34" charset="0"/>
                <a:ea typeface="Arial" pitchFamily="34" charset="-122"/>
                <a:cs typeface="Arial" pitchFamily="34" charset="-120"/>
              </a:rPr>
              <a:t>EXECUTIVE SUMMARY</a:t>
            </a:r>
            <a:endParaRPr lang="en-US" sz="2800" dirty="0"/>
          </a:p>
        </p:txBody>
      </p:sp>
      <p:sp>
        <p:nvSpPr>
          <p:cNvPr id="3" name="Shape 1"/>
          <p:cNvSpPr/>
          <p:nvPr/>
        </p:nvSpPr>
        <p:spPr>
          <a:xfrm>
            <a:off x="640080" y="914400"/>
            <a:ext cx="3657600" cy="36576"/>
          </a:xfrm>
          <a:prstGeom prst="rect">
            <a:avLst/>
          </a:prstGeom>
          <a:solidFill>
            <a:srgbClr val="00CEC9"/>
          </a:solidFill>
          <a:ln/>
        </p:spPr>
      </p:sp>
      <p:sp>
        <p:nvSpPr>
          <p:cNvPr id="4" name="Text 2"/>
          <p:cNvSpPr/>
          <p:nvPr/>
        </p:nvSpPr>
        <p:spPr>
          <a:xfrm>
            <a:off x="640080" y="1188720"/>
            <a:ext cx="10881360" cy="822960"/>
          </a:xfrm>
          <a:prstGeom prst="rect">
            <a:avLst/>
          </a:prstGeom>
          <a:noFill/>
          <a:ln/>
        </p:spPr>
        <p:txBody>
          <a:bodyPr wrap="square" rtlCol="0" anchor="ctr"/>
          <a:lstStyle/>
          <a:p>
            <a:pPr marL="0" indent="0" algn="l">
              <a:lnSpc>
                <a:spcPct val="130000"/>
              </a:lnSpc>
              <a:buNone/>
            </a:pPr>
            <a:r>
              <a:rPr lang="en-US" sz="1200" dirty="0">
                <a:solidFill>
                  <a:srgbClr val="333333"/>
                </a:solidFill>
                <a:latin typeface="Arial" pitchFamily="34" charset="0"/>
                <a:ea typeface="Arial" pitchFamily="34" charset="-122"/>
                <a:cs typeface="Arial" pitchFamily="34" charset="-120"/>
              </a:rPr>
              <a:t>This report presents a comprehensive Business Intelligence analysis of Zuri Electronics, a retail company operating across four U.S. regions. The analysis covers three years of transactional data (2023-2025) spanning 1,250 orders across Technology, Office Supplies, and Furniture categories.</a:t>
            </a:r>
            <a:endParaRPr lang="en-US" sz="1200" dirty="0"/>
          </a:p>
        </p:txBody>
      </p:sp>
      <p:sp>
        <p:nvSpPr>
          <p:cNvPr id="5" name="Shape 3"/>
          <p:cNvSpPr/>
          <p:nvPr/>
        </p:nvSpPr>
        <p:spPr>
          <a:xfrm>
            <a:off x="640080" y="2286000"/>
            <a:ext cx="2560320" cy="1463040"/>
          </a:xfrm>
          <a:prstGeom prst="roundRect">
            <a:avLst>
              <a:gd name="adj" fmla="val 6250"/>
            </a:avLst>
          </a:prstGeom>
          <a:solidFill>
            <a:srgbClr val="16213E"/>
          </a:solidFill>
          <a:ln/>
          <a:effectLst>
            <a:outerShdw blurRad="76200" dist="38100" dir="16200000" algn="bl" rotWithShape="0">
              <a:srgbClr val="000000">
                <a:alpha val="20000"/>
              </a:srgbClr>
            </a:outerShdw>
          </a:effectLst>
        </p:spPr>
      </p:sp>
      <p:sp>
        <p:nvSpPr>
          <p:cNvPr id="6" name="Text 4"/>
          <p:cNvSpPr/>
          <p:nvPr/>
        </p:nvSpPr>
        <p:spPr>
          <a:xfrm>
            <a:off x="640080" y="2423160"/>
            <a:ext cx="2560320" cy="822960"/>
          </a:xfrm>
          <a:prstGeom prst="rect">
            <a:avLst/>
          </a:prstGeom>
          <a:noFill/>
          <a:ln/>
        </p:spPr>
        <p:txBody>
          <a:bodyPr wrap="square" lIns="0" tIns="0" rIns="0" bIns="0" rtlCol="0" anchor="ctr"/>
          <a:lstStyle/>
          <a:p>
            <a:pPr marL="0" indent="0" algn="ctr">
              <a:buNone/>
            </a:pPr>
            <a:r>
              <a:rPr lang="en-US" sz="3200" b="1" dirty="0">
                <a:solidFill>
                  <a:srgbClr val="00CEC9"/>
                </a:solidFill>
                <a:latin typeface="Arial" pitchFamily="34" charset="0"/>
                <a:ea typeface="Arial" pitchFamily="34" charset="-122"/>
                <a:cs typeface="Arial" pitchFamily="34" charset="-120"/>
              </a:rPr>
              <a:t>$4.31M</a:t>
            </a:r>
            <a:endParaRPr lang="en-US" sz="3200" dirty="0"/>
          </a:p>
        </p:txBody>
      </p:sp>
      <p:sp>
        <p:nvSpPr>
          <p:cNvPr id="7" name="Text 5"/>
          <p:cNvSpPr/>
          <p:nvPr/>
        </p:nvSpPr>
        <p:spPr>
          <a:xfrm>
            <a:off x="640080" y="3200400"/>
            <a:ext cx="2560320" cy="411480"/>
          </a:xfrm>
          <a:prstGeom prst="rect">
            <a:avLst/>
          </a:prstGeom>
          <a:noFill/>
          <a:ln/>
        </p:spPr>
        <p:txBody>
          <a:bodyPr wrap="square" lIns="0" tIns="0" rIns="0" bIns="0" rtlCol="0" anchor="ctr"/>
          <a:lstStyle/>
          <a:p>
            <a:pPr marL="0" indent="0" algn="ctr">
              <a:buNone/>
            </a:pPr>
            <a:r>
              <a:rPr lang="en-US" sz="1200" dirty="0">
                <a:solidFill>
                  <a:srgbClr val="CCCCCC"/>
                </a:solidFill>
                <a:latin typeface="Arial" pitchFamily="34" charset="0"/>
                <a:ea typeface="Arial" pitchFamily="34" charset="-122"/>
                <a:cs typeface="Arial" pitchFamily="34" charset="-120"/>
              </a:rPr>
              <a:t>Total Sales</a:t>
            </a:r>
            <a:endParaRPr lang="en-US" sz="1200" dirty="0"/>
          </a:p>
        </p:txBody>
      </p:sp>
      <p:sp>
        <p:nvSpPr>
          <p:cNvPr id="8" name="Shape 6"/>
          <p:cNvSpPr/>
          <p:nvPr/>
        </p:nvSpPr>
        <p:spPr>
          <a:xfrm>
            <a:off x="3474720" y="2286000"/>
            <a:ext cx="2560320" cy="1463040"/>
          </a:xfrm>
          <a:prstGeom prst="roundRect">
            <a:avLst>
              <a:gd name="adj" fmla="val 6250"/>
            </a:avLst>
          </a:prstGeom>
          <a:solidFill>
            <a:srgbClr val="16213E"/>
          </a:solidFill>
          <a:ln/>
          <a:effectLst>
            <a:outerShdw blurRad="76200" dist="38100" dir="16200000" algn="bl" rotWithShape="0">
              <a:srgbClr val="000000">
                <a:alpha val="20000"/>
              </a:srgbClr>
            </a:outerShdw>
          </a:effectLst>
        </p:spPr>
      </p:sp>
      <p:sp>
        <p:nvSpPr>
          <p:cNvPr id="9" name="Text 7"/>
          <p:cNvSpPr/>
          <p:nvPr/>
        </p:nvSpPr>
        <p:spPr>
          <a:xfrm>
            <a:off x="3474720" y="2423160"/>
            <a:ext cx="2560320" cy="822960"/>
          </a:xfrm>
          <a:prstGeom prst="rect">
            <a:avLst/>
          </a:prstGeom>
          <a:noFill/>
          <a:ln/>
        </p:spPr>
        <p:txBody>
          <a:bodyPr wrap="square" lIns="0" tIns="0" rIns="0" bIns="0" rtlCol="0" anchor="ctr"/>
          <a:lstStyle/>
          <a:p>
            <a:pPr marL="0" indent="0" algn="ctr">
              <a:buNone/>
            </a:pPr>
            <a:r>
              <a:rPr lang="en-US" sz="3200" b="1" dirty="0">
                <a:solidFill>
                  <a:srgbClr val="00CEC9"/>
                </a:solidFill>
                <a:latin typeface="Arial" pitchFamily="34" charset="0"/>
                <a:ea typeface="Arial" pitchFamily="34" charset="-122"/>
                <a:cs typeface="Arial" pitchFamily="34" charset="-120"/>
              </a:rPr>
              <a:t>$1.27M</a:t>
            </a:r>
            <a:endParaRPr lang="en-US" sz="3200" dirty="0"/>
          </a:p>
        </p:txBody>
      </p:sp>
      <p:sp>
        <p:nvSpPr>
          <p:cNvPr id="10" name="Text 8"/>
          <p:cNvSpPr/>
          <p:nvPr/>
        </p:nvSpPr>
        <p:spPr>
          <a:xfrm>
            <a:off x="3474720" y="3200400"/>
            <a:ext cx="2560320" cy="411480"/>
          </a:xfrm>
          <a:prstGeom prst="rect">
            <a:avLst/>
          </a:prstGeom>
          <a:noFill/>
          <a:ln/>
        </p:spPr>
        <p:txBody>
          <a:bodyPr wrap="square" lIns="0" tIns="0" rIns="0" bIns="0" rtlCol="0" anchor="ctr"/>
          <a:lstStyle/>
          <a:p>
            <a:pPr marL="0" indent="0" algn="ctr">
              <a:buNone/>
            </a:pPr>
            <a:r>
              <a:rPr lang="en-US" sz="1200" dirty="0">
                <a:solidFill>
                  <a:srgbClr val="CCCCCC"/>
                </a:solidFill>
                <a:latin typeface="Arial" pitchFamily="34" charset="0"/>
                <a:ea typeface="Arial" pitchFamily="34" charset="-122"/>
                <a:cs typeface="Arial" pitchFamily="34" charset="-120"/>
              </a:rPr>
              <a:t>Total Profit</a:t>
            </a:r>
            <a:endParaRPr lang="en-US" sz="1200" dirty="0"/>
          </a:p>
        </p:txBody>
      </p:sp>
      <p:sp>
        <p:nvSpPr>
          <p:cNvPr id="11" name="Shape 9"/>
          <p:cNvSpPr/>
          <p:nvPr/>
        </p:nvSpPr>
        <p:spPr>
          <a:xfrm>
            <a:off x="6309360" y="2286000"/>
            <a:ext cx="2560320" cy="1463040"/>
          </a:xfrm>
          <a:prstGeom prst="roundRect">
            <a:avLst>
              <a:gd name="adj" fmla="val 6250"/>
            </a:avLst>
          </a:prstGeom>
          <a:solidFill>
            <a:srgbClr val="16213E"/>
          </a:solidFill>
          <a:ln/>
          <a:effectLst>
            <a:outerShdw blurRad="76200" dist="38100" dir="16200000" algn="bl" rotWithShape="0">
              <a:srgbClr val="000000">
                <a:alpha val="20000"/>
              </a:srgbClr>
            </a:outerShdw>
          </a:effectLst>
        </p:spPr>
      </p:sp>
      <p:sp>
        <p:nvSpPr>
          <p:cNvPr id="12" name="Text 10"/>
          <p:cNvSpPr/>
          <p:nvPr/>
        </p:nvSpPr>
        <p:spPr>
          <a:xfrm>
            <a:off x="6309360" y="2423160"/>
            <a:ext cx="2560320" cy="822960"/>
          </a:xfrm>
          <a:prstGeom prst="rect">
            <a:avLst/>
          </a:prstGeom>
          <a:noFill/>
          <a:ln/>
        </p:spPr>
        <p:txBody>
          <a:bodyPr wrap="square" lIns="0" tIns="0" rIns="0" bIns="0" rtlCol="0" anchor="ctr"/>
          <a:lstStyle/>
          <a:p>
            <a:pPr marL="0" indent="0" algn="ctr">
              <a:buNone/>
            </a:pPr>
            <a:r>
              <a:rPr lang="en-US" sz="3200" b="1" dirty="0">
                <a:solidFill>
                  <a:srgbClr val="00CEC9"/>
                </a:solidFill>
                <a:latin typeface="Arial" pitchFamily="34" charset="0"/>
                <a:ea typeface="Arial" pitchFamily="34" charset="-122"/>
                <a:cs typeface="Arial" pitchFamily="34" charset="-120"/>
              </a:rPr>
              <a:t>1,250</a:t>
            </a:r>
            <a:endParaRPr lang="en-US" sz="3200" dirty="0"/>
          </a:p>
        </p:txBody>
      </p:sp>
      <p:sp>
        <p:nvSpPr>
          <p:cNvPr id="13" name="Text 11"/>
          <p:cNvSpPr/>
          <p:nvPr/>
        </p:nvSpPr>
        <p:spPr>
          <a:xfrm>
            <a:off x="6309360" y="3200400"/>
            <a:ext cx="2560320" cy="411480"/>
          </a:xfrm>
          <a:prstGeom prst="rect">
            <a:avLst/>
          </a:prstGeom>
          <a:noFill/>
          <a:ln/>
        </p:spPr>
        <p:txBody>
          <a:bodyPr wrap="square" lIns="0" tIns="0" rIns="0" bIns="0" rtlCol="0" anchor="ctr"/>
          <a:lstStyle/>
          <a:p>
            <a:pPr marL="0" indent="0" algn="ctr">
              <a:buNone/>
            </a:pPr>
            <a:r>
              <a:rPr lang="en-US" sz="1200" dirty="0">
                <a:solidFill>
                  <a:srgbClr val="CCCCCC"/>
                </a:solidFill>
                <a:latin typeface="Arial" pitchFamily="34" charset="0"/>
                <a:ea typeface="Arial" pitchFamily="34" charset="-122"/>
                <a:cs typeface="Arial" pitchFamily="34" charset="-120"/>
              </a:rPr>
              <a:t>Total Orders</a:t>
            </a:r>
            <a:endParaRPr lang="en-US" sz="1200" dirty="0"/>
          </a:p>
        </p:txBody>
      </p:sp>
      <p:sp>
        <p:nvSpPr>
          <p:cNvPr id="14" name="Shape 12"/>
          <p:cNvSpPr/>
          <p:nvPr/>
        </p:nvSpPr>
        <p:spPr>
          <a:xfrm>
            <a:off x="9144000" y="2286000"/>
            <a:ext cx="2560320" cy="1463040"/>
          </a:xfrm>
          <a:prstGeom prst="roundRect">
            <a:avLst>
              <a:gd name="adj" fmla="val 6250"/>
            </a:avLst>
          </a:prstGeom>
          <a:solidFill>
            <a:srgbClr val="16213E"/>
          </a:solidFill>
          <a:ln/>
          <a:effectLst>
            <a:outerShdw blurRad="76200" dist="38100" dir="16200000" algn="bl" rotWithShape="0">
              <a:srgbClr val="000000">
                <a:alpha val="20000"/>
              </a:srgbClr>
            </a:outerShdw>
          </a:effectLst>
        </p:spPr>
      </p:sp>
      <p:sp>
        <p:nvSpPr>
          <p:cNvPr id="15" name="Text 13"/>
          <p:cNvSpPr/>
          <p:nvPr/>
        </p:nvSpPr>
        <p:spPr>
          <a:xfrm>
            <a:off x="9144000" y="2423160"/>
            <a:ext cx="2560320" cy="822960"/>
          </a:xfrm>
          <a:prstGeom prst="rect">
            <a:avLst/>
          </a:prstGeom>
          <a:noFill/>
          <a:ln/>
        </p:spPr>
        <p:txBody>
          <a:bodyPr wrap="square" lIns="0" tIns="0" rIns="0" bIns="0" rtlCol="0" anchor="ctr"/>
          <a:lstStyle/>
          <a:p>
            <a:pPr marL="0" indent="0" algn="ctr">
              <a:buNone/>
            </a:pPr>
            <a:r>
              <a:rPr lang="en-US" sz="3200" b="1" dirty="0">
                <a:solidFill>
                  <a:srgbClr val="00CEC9"/>
                </a:solidFill>
                <a:latin typeface="Arial" pitchFamily="34" charset="0"/>
                <a:ea typeface="Arial" pitchFamily="34" charset="-122"/>
                <a:cs typeface="Arial" pitchFamily="34" charset="-120"/>
              </a:rPr>
              <a:t>29.48%</a:t>
            </a:r>
            <a:endParaRPr lang="en-US" sz="3200" dirty="0"/>
          </a:p>
        </p:txBody>
      </p:sp>
      <p:sp>
        <p:nvSpPr>
          <p:cNvPr id="16" name="Text 14"/>
          <p:cNvSpPr/>
          <p:nvPr/>
        </p:nvSpPr>
        <p:spPr>
          <a:xfrm>
            <a:off x="9144000" y="3200400"/>
            <a:ext cx="2560320" cy="411480"/>
          </a:xfrm>
          <a:prstGeom prst="rect">
            <a:avLst/>
          </a:prstGeom>
          <a:noFill/>
          <a:ln/>
        </p:spPr>
        <p:txBody>
          <a:bodyPr wrap="square" lIns="0" tIns="0" rIns="0" bIns="0" rtlCol="0" anchor="ctr"/>
          <a:lstStyle/>
          <a:p>
            <a:pPr marL="0" indent="0" algn="ctr">
              <a:buNone/>
            </a:pPr>
            <a:r>
              <a:rPr lang="en-US" sz="1200" dirty="0">
                <a:solidFill>
                  <a:srgbClr val="CCCCCC"/>
                </a:solidFill>
                <a:latin typeface="Arial" pitchFamily="34" charset="0"/>
                <a:ea typeface="Arial" pitchFamily="34" charset="-122"/>
                <a:cs typeface="Arial" pitchFamily="34" charset="-120"/>
              </a:rPr>
              <a:t>Profit Margin</a:t>
            </a:r>
            <a:endParaRPr lang="en-US" sz="1200" dirty="0"/>
          </a:p>
        </p:txBody>
      </p:sp>
      <p:sp>
        <p:nvSpPr>
          <p:cNvPr id="17" name="Text 15"/>
          <p:cNvSpPr/>
          <p:nvPr/>
        </p:nvSpPr>
        <p:spPr>
          <a:xfrm>
            <a:off x="640080" y="4114800"/>
            <a:ext cx="10881360" cy="640080"/>
          </a:xfrm>
          <a:prstGeom prst="rect">
            <a:avLst/>
          </a:prstGeom>
          <a:noFill/>
          <a:ln/>
        </p:spPr>
        <p:txBody>
          <a:bodyPr wrap="square" rtlCol="0" anchor="ctr"/>
          <a:lstStyle/>
          <a:p>
            <a:pPr marL="0" indent="0">
              <a:lnSpc>
                <a:spcPct val="130000"/>
              </a:lnSpc>
              <a:buNone/>
            </a:pPr>
            <a:r>
              <a:rPr lang="en-US" sz="1200" dirty="0">
                <a:solidFill>
                  <a:srgbClr val="333333"/>
                </a:solidFill>
                <a:latin typeface="Arial" pitchFamily="34" charset="0"/>
                <a:ea typeface="Arial" pitchFamily="34" charset="-122"/>
                <a:cs typeface="Arial" pitchFamily="34" charset="-120"/>
              </a:rPr>
              <a:t>Key findings reveal a declining year-over-year trend, consistent mid-year sales dips, Corporate segment underperformance, and significant regional differences in product mix profitability.</a:t>
            </a:r>
            <a:endParaRPr lang="en-US" sz="1200" dirty="0"/>
          </a:p>
        </p:txBody>
      </p:sp>
      <p:sp>
        <p:nvSpPr>
          <p:cNvPr id="18" name="Shape 16"/>
          <p:cNvSpPr/>
          <p:nvPr/>
        </p:nvSpPr>
        <p:spPr>
          <a:xfrm>
            <a:off x="640080" y="5029200"/>
            <a:ext cx="2560320" cy="1005840"/>
          </a:xfrm>
          <a:prstGeom prst="roundRect">
            <a:avLst>
              <a:gd name="adj" fmla="val 9091"/>
            </a:avLst>
          </a:prstGeom>
          <a:solidFill>
            <a:srgbClr val="F5F5F5"/>
          </a:solidFill>
          <a:ln/>
        </p:spPr>
      </p:sp>
      <p:sp>
        <p:nvSpPr>
          <p:cNvPr id="19" name="Text 17"/>
          <p:cNvSpPr/>
          <p:nvPr/>
        </p:nvSpPr>
        <p:spPr>
          <a:xfrm>
            <a:off x="640080" y="5074920"/>
            <a:ext cx="2560320" cy="411480"/>
          </a:xfrm>
          <a:prstGeom prst="rect">
            <a:avLst/>
          </a:prstGeom>
          <a:noFill/>
          <a:ln/>
        </p:spPr>
        <p:txBody>
          <a:bodyPr wrap="square" lIns="0" tIns="0" rIns="0" bIns="0" rtlCol="0" anchor="ctr"/>
          <a:lstStyle/>
          <a:p>
            <a:pPr marL="0" indent="0" algn="ctr">
              <a:buNone/>
            </a:pPr>
            <a:r>
              <a:rPr lang="en-US" sz="1200" b="1" dirty="0">
                <a:solidFill>
                  <a:srgbClr val="16213E"/>
                </a:solidFill>
                <a:latin typeface="Arial" pitchFamily="34" charset="0"/>
                <a:ea typeface="Arial" pitchFamily="34" charset="-122"/>
                <a:cs typeface="Arial" pitchFamily="34" charset="-120"/>
              </a:rPr>
              <a:t>Data Cleaning</a:t>
            </a:r>
            <a:endParaRPr lang="en-US" sz="1200" dirty="0"/>
          </a:p>
        </p:txBody>
      </p:sp>
      <p:sp>
        <p:nvSpPr>
          <p:cNvPr id="20" name="Text 18"/>
          <p:cNvSpPr/>
          <p:nvPr/>
        </p:nvSpPr>
        <p:spPr>
          <a:xfrm>
            <a:off x="640080" y="5440680"/>
            <a:ext cx="2560320" cy="411480"/>
          </a:xfrm>
          <a:prstGeom prst="rect">
            <a:avLst/>
          </a:prstGeom>
          <a:noFill/>
          <a:ln/>
        </p:spPr>
        <p:txBody>
          <a:bodyPr wrap="square" lIns="0" tIns="0" rIns="0" bIns="0" rtlCol="0" anchor="ctr"/>
          <a:lstStyle/>
          <a:p>
            <a:pPr marL="0" indent="0" algn="ctr">
              <a:buNone/>
            </a:pPr>
            <a:r>
              <a:rPr lang="en-US" sz="1000" dirty="0">
                <a:solidFill>
                  <a:srgbClr val="333333"/>
                </a:solidFill>
                <a:latin typeface="Arial" pitchFamily="34" charset="0"/>
                <a:ea typeface="Arial" pitchFamily="34" charset="-122"/>
                <a:cs typeface="Arial" pitchFamily="34" charset="-120"/>
              </a:rPr>
              <a:t>Power Query (M Language)</a:t>
            </a:r>
            <a:endParaRPr lang="en-US" sz="1000" dirty="0"/>
          </a:p>
        </p:txBody>
      </p:sp>
      <p:sp>
        <p:nvSpPr>
          <p:cNvPr id="21" name="Shape 19"/>
          <p:cNvSpPr/>
          <p:nvPr/>
        </p:nvSpPr>
        <p:spPr>
          <a:xfrm>
            <a:off x="3474720" y="5029200"/>
            <a:ext cx="2560320" cy="1005840"/>
          </a:xfrm>
          <a:prstGeom prst="roundRect">
            <a:avLst>
              <a:gd name="adj" fmla="val 9091"/>
            </a:avLst>
          </a:prstGeom>
          <a:solidFill>
            <a:srgbClr val="F5F5F5"/>
          </a:solidFill>
          <a:ln/>
        </p:spPr>
      </p:sp>
      <p:sp>
        <p:nvSpPr>
          <p:cNvPr id="22" name="Text 20"/>
          <p:cNvSpPr/>
          <p:nvPr/>
        </p:nvSpPr>
        <p:spPr>
          <a:xfrm>
            <a:off x="3474720" y="5074920"/>
            <a:ext cx="2560320" cy="411480"/>
          </a:xfrm>
          <a:prstGeom prst="rect">
            <a:avLst/>
          </a:prstGeom>
          <a:noFill/>
          <a:ln/>
        </p:spPr>
        <p:txBody>
          <a:bodyPr wrap="square" lIns="0" tIns="0" rIns="0" bIns="0" rtlCol="0" anchor="ctr"/>
          <a:lstStyle/>
          <a:p>
            <a:pPr marL="0" indent="0" algn="ctr">
              <a:buNone/>
            </a:pPr>
            <a:r>
              <a:rPr lang="en-US" sz="1200" b="1" dirty="0">
                <a:solidFill>
                  <a:srgbClr val="16213E"/>
                </a:solidFill>
                <a:latin typeface="Arial" pitchFamily="34" charset="0"/>
                <a:ea typeface="Arial" pitchFamily="34" charset="-122"/>
                <a:cs typeface="Arial" pitchFamily="34" charset="-120"/>
              </a:rPr>
              <a:t>Data Model</a:t>
            </a:r>
            <a:endParaRPr lang="en-US" sz="1200" dirty="0"/>
          </a:p>
        </p:txBody>
      </p:sp>
      <p:sp>
        <p:nvSpPr>
          <p:cNvPr id="23" name="Text 21"/>
          <p:cNvSpPr/>
          <p:nvPr/>
        </p:nvSpPr>
        <p:spPr>
          <a:xfrm>
            <a:off x="3474720" y="5440680"/>
            <a:ext cx="2560320" cy="411480"/>
          </a:xfrm>
          <a:prstGeom prst="rect">
            <a:avLst/>
          </a:prstGeom>
          <a:noFill/>
          <a:ln/>
        </p:spPr>
        <p:txBody>
          <a:bodyPr wrap="square" lIns="0" tIns="0" rIns="0" bIns="0" rtlCol="0" anchor="ctr"/>
          <a:lstStyle/>
          <a:p>
            <a:pPr marL="0" indent="0" algn="ctr">
              <a:buNone/>
            </a:pPr>
            <a:r>
              <a:rPr lang="en-US" sz="1000" dirty="0">
                <a:solidFill>
                  <a:srgbClr val="333333"/>
                </a:solidFill>
                <a:latin typeface="Arial" pitchFamily="34" charset="0"/>
                <a:ea typeface="Arial" pitchFamily="34" charset="-122"/>
                <a:cs typeface="Arial" pitchFamily="34" charset="-120"/>
              </a:rPr>
              <a:t>Star Schema + DAX Date Table</a:t>
            </a:r>
            <a:endParaRPr lang="en-US" sz="1000" dirty="0"/>
          </a:p>
        </p:txBody>
      </p:sp>
      <p:sp>
        <p:nvSpPr>
          <p:cNvPr id="24" name="Shape 22"/>
          <p:cNvSpPr/>
          <p:nvPr/>
        </p:nvSpPr>
        <p:spPr>
          <a:xfrm>
            <a:off x="6309360" y="5029200"/>
            <a:ext cx="2560320" cy="1005840"/>
          </a:xfrm>
          <a:prstGeom prst="roundRect">
            <a:avLst>
              <a:gd name="adj" fmla="val 9091"/>
            </a:avLst>
          </a:prstGeom>
          <a:solidFill>
            <a:srgbClr val="F5F5F5"/>
          </a:solidFill>
          <a:ln/>
        </p:spPr>
      </p:sp>
      <p:sp>
        <p:nvSpPr>
          <p:cNvPr id="25" name="Text 23"/>
          <p:cNvSpPr/>
          <p:nvPr/>
        </p:nvSpPr>
        <p:spPr>
          <a:xfrm>
            <a:off x="6309360" y="5074920"/>
            <a:ext cx="2560320" cy="411480"/>
          </a:xfrm>
          <a:prstGeom prst="rect">
            <a:avLst/>
          </a:prstGeom>
          <a:noFill/>
          <a:ln/>
        </p:spPr>
        <p:txBody>
          <a:bodyPr wrap="square" lIns="0" tIns="0" rIns="0" bIns="0" rtlCol="0" anchor="ctr"/>
          <a:lstStyle/>
          <a:p>
            <a:pPr marL="0" indent="0" algn="ctr">
              <a:buNone/>
            </a:pPr>
            <a:r>
              <a:rPr lang="en-US" sz="1200" b="1" dirty="0">
                <a:solidFill>
                  <a:srgbClr val="16213E"/>
                </a:solidFill>
                <a:latin typeface="Arial" pitchFamily="34" charset="0"/>
                <a:ea typeface="Arial" pitchFamily="34" charset="-122"/>
                <a:cs typeface="Arial" pitchFamily="34" charset="-120"/>
              </a:rPr>
              <a:t>Dashboard</a:t>
            </a:r>
            <a:endParaRPr lang="en-US" sz="1200" dirty="0"/>
          </a:p>
        </p:txBody>
      </p:sp>
      <p:sp>
        <p:nvSpPr>
          <p:cNvPr id="26" name="Text 24"/>
          <p:cNvSpPr/>
          <p:nvPr/>
        </p:nvSpPr>
        <p:spPr>
          <a:xfrm>
            <a:off x="6309360" y="5440680"/>
            <a:ext cx="2560320" cy="411480"/>
          </a:xfrm>
          <a:prstGeom prst="rect">
            <a:avLst/>
          </a:prstGeom>
          <a:noFill/>
          <a:ln/>
        </p:spPr>
        <p:txBody>
          <a:bodyPr wrap="square" lIns="0" tIns="0" rIns="0" bIns="0" rtlCol="0" anchor="ctr"/>
          <a:lstStyle/>
          <a:p>
            <a:pPr marL="0" indent="0" algn="ctr">
              <a:buNone/>
            </a:pPr>
            <a:r>
              <a:rPr lang="en-US" sz="1000" dirty="0">
                <a:solidFill>
                  <a:srgbClr val="333333"/>
                </a:solidFill>
                <a:latin typeface="Arial" pitchFamily="34" charset="0"/>
                <a:ea typeface="Arial" pitchFamily="34" charset="-122"/>
                <a:cs typeface="Arial" pitchFamily="34" charset="-120"/>
              </a:rPr>
              <a:t>Dark-themed Executive Dashboard</a:t>
            </a:r>
            <a:endParaRPr lang="en-US" sz="1000" dirty="0"/>
          </a:p>
        </p:txBody>
      </p:sp>
      <p:sp>
        <p:nvSpPr>
          <p:cNvPr id="27" name="Shape 25"/>
          <p:cNvSpPr/>
          <p:nvPr/>
        </p:nvSpPr>
        <p:spPr>
          <a:xfrm>
            <a:off x="9144000" y="5029200"/>
            <a:ext cx="2560320" cy="1005840"/>
          </a:xfrm>
          <a:prstGeom prst="roundRect">
            <a:avLst>
              <a:gd name="adj" fmla="val 9091"/>
            </a:avLst>
          </a:prstGeom>
          <a:solidFill>
            <a:srgbClr val="F5F5F5"/>
          </a:solidFill>
          <a:ln/>
        </p:spPr>
      </p:sp>
      <p:sp>
        <p:nvSpPr>
          <p:cNvPr id="28" name="Text 26"/>
          <p:cNvSpPr/>
          <p:nvPr/>
        </p:nvSpPr>
        <p:spPr>
          <a:xfrm>
            <a:off x="9144000" y="5074920"/>
            <a:ext cx="2560320" cy="411480"/>
          </a:xfrm>
          <a:prstGeom prst="rect">
            <a:avLst/>
          </a:prstGeom>
          <a:noFill/>
          <a:ln/>
        </p:spPr>
        <p:txBody>
          <a:bodyPr wrap="square" lIns="0" tIns="0" rIns="0" bIns="0" rtlCol="0" anchor="ctr"/>
          <a:lstStyle/>
          <a:p>
            <a:pPr marL="0" indent="0" algn="ctr">
              <a:buNone/>
            </a:pPr>
            <a:r>
              <a:rPr lang="en-US" sz="1200" b="1" dirty="0">
                <a:solidFill>
                  <a:srgbClr val="16213E"/>
                </a:solidFill>
                <a:latin typeface="Arial" pitchFamily="34" charset="0"/>
                <a:ea typeface="Arial" pitchFamily="34" charset="-122"/>
                <a:cs typeface="Arial" pitchFamily="34" charset="-120"/>
              </a:rPr>
              <a:t>Security</a:t>
            </a:r>
            <a:endParaRPr lang="en-US" sz="1200" dirty="0"/>
          </a:p>
        </p:txBody>
      </p:sp>
      <p:sp>
        <p:nvSpPr>
          <p:cNvPr id="29" name="Text 27"/>
          <p:cNvSpPr/>
          <p:nvPr/>
        </p:nvSpPr>
        <p:spPr>
          <a:xfrm>
            <a:off x="9144000" y="5440680"/>
            <a:ext cx="2560320" cy="411480"/>
          </a:xfrm>
          <a:prstGeom prst="rect">
            <a:avLst/>
          </a:prstGeom>
          <a:noFill/>
          <a:ln/>
        </p:spPr>
        <p:txBody>
          <a:bodyPr wrap="square" lIns="0" tIns="0" rIns="0" bIns="0" rtlCol="0" anchor="ctr"/>
          <a:lstStyle/>
          <a:p>
            <a:pPr marL="0" indent="0" algn="ctr">
              <a:buNone/>
            </a:pPr>
            <a:r>
              <a:rPr lang="en-US" sz="1000" dirty="0">
                <a:solidFill>
                  <a:srgbClr val="333333"/>
                </a:solidFill>
                <a:latin typeface="Arial" pitchFamily="34" charset="0"/>
                <a:ea typeface="Arial" pitchFamily="34" charset="-122"/>
                <a:cs typeface="Arial" pitchFamily="34" charset="-120"/>
              </a:rPr>
              <a:t>4 RLS Roles Implemented</a:t>
            </a:r>
            <a:endParaRPr lang="en-US" sz="1000" dirty="0"/>
          </a:p>
        </p:txBody>
      </p:sp>
      <p:sp>
        <p:nvSpPr>
          <p:cNvPr id="30" name="Text 28"/>
          <p:cNvSpPr/>
          <p:nvPr/>
        </p:nvSpPr>
        <p:spPr>
          <a:xfrm>
            <a:off x="0" y="6446520"/>
            <a:ext cx="12161520" cy="320040"/>
          </a:xfrm>
          <a:prstGeom prst="rect">
            <a:avLst/>
          </a:prstGeom>
          <a:noFill/>
          <a:ln/>
        </p:spPr>
        <p:txBody>
          <a:bodyPr wrap="square" rtlCol="0" anchor="ctr"/>
          <a:lstStyle/>
          <a:p>
            <a:pPr marL="0" indent="0" algn="ctr">
              <a:buNone/>
            </a:pPr>
            <a:r>
              <a:rPr lang="en-US" sz="800" dirty="0">
                <a:solidFill>
                  <a:srgbClr val="CCCCCC"/>
                </a:solidFill>
                <a:latin typeface="Arial" pitchFamily="34" charset="0"/>
                <a:ea typeface="Arial" pitchFamily="34" charset="-122"/>
                <a:cs typeface="Arial" pitchFamily="34" charset="-120"/>
              </a:rPr>
              <a:t>Zuri Electronics Analysis  |  Oluwatoni Oladipo  |  3/16</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A2E"/>
        </a:solidFill>
        <a:effectLst/>
      </p:bgPr>
    </p:bg>
    <p:spTree>
      <p:nvGrpSpPr>
        <p:cNvPr id="1" name=""/>
        <p:cNvGrpSpPr/>
        <p:nvPr/>
      </p:nvGrpSpPr>
      <p:grpSpPr>
        <a:xfrm>
          <a:off x="0" y="0"/>
          <a:ext cx="0" cy="0"/>
          <a:chOff x="0" y="0"/>
          <a:chExt cx="0" cy="0"/>
        </a:xfrm>
      </p:grpSpPr>
      <p:sp>
        <p:nvSpPr>
          <p:cNvPr id="2" name="Text 0"/>
          <p:cNvSpPr/>
          <p:nvPr/>
        </p:nvSpPr>
        <p:spPr>
          <a:xfrm>
            <a:off x="640080" y="365760"/>
            <a:ext cx="5486400" cy="640080"/>
          </a:xfrm>
          <a:prstGeom prst="rect">
            <a:avLst/>
          </a:prstGeom>
          <a:noFill/>
          <a:ln/>
        </p:spPr>
        <p:txBody>
          <a:bodyPr wrap="square" rtlCol="0" anchor="ctr"/>
          <a:lstStyle/>
          <a:p>
            <a:pPr marL="0" indent="0">
              <a:buNone/>
            </a:pPr>
            <a:r>
              <a:rPr lang="en-US" sz="2800" b="1" dirty="0">
                <a:solidFill>
                  <a:srgbClr val="FFFFFF"/>
                </a:solidFill>
                <a:latin typeface="Arial" pitchFamily="34" charset="0"/>
                <a:ea typeface="Arial" pitchFamily="34" charset="-122"/>
                <a:cs typeface="Arial" pitchFamily="34" charset="-120"/>
              </a:rPr>
              <a:t>PROJECT OVERVIEW</a:t>
            </a:r>
            <a:endParaRPr lang="en-US" sz="2800" dirty="0"/>
          </a:p>
        </p:txBody>
      </p:sp>
      <p:sp>
        <p:nvSpPr>
          <p:cNvPr id="3" name="Shape 1"/>
          <p:cNvSpPr/>
          <p:nvPr/>
        </p:nvSpPr>
        <p:spPr>
          <a:xfrm>
            <a:off x="640080" y="960120"/>
            <a:ext cx="3657600" cy="36576"/>
          </a:xfrm>
          <a:prstGeom prst="rect">
            <a:avLst/>
          </a:prstGeom>
          <a:solidFill>
            <a:srgbClr val="00CEC9"/>
          </a:solidFill>
          <a:ln/>
        </p:spPr>
      </p:sp>
      <p:sp>
        <p:nvSpPr>
          <p:cNvPr id="4" name="Text 2"/>
          <p:cNvSpPr/>
          <p:nvPr/>
        </p:nvSpPr>
        <p:spPr>
          <a:xfrm>
            <a:off x="640080" y="1188720"/>
            <a:ext cx="4572000" cy="365760"/>
          </a:xfrm>
          <a:prstGeom prst="rect">
            <a:avLst/>
          </a:prstGeom>
          <a:noFill/>
          <a:ln/>
        </p:spPr>
        <p:txBody>
          <a:bodyPr wrap="square" rtlCol="0" anchor="ctr"/>
          <a:lstStyle/>
          <a:p>
            <a:pPr marL="0" indent="0">
              <a:buNone/>
            </a:pPr>
            <a:r>
              <a:rPr lang="en-US" sz="1600" b="1" dirty="0">
                <a:solidFill>
                  <a:srgbClr val="00CEC9"/>
                </a:solidFill>
                <a:latin typeface="Arial" pitchFamily="34" charset="0"/>
                <a:ea typeface="Arial" pitchFamily="34" charset="-122"/>
                <a:cs typeface="Arial" pitchFamily="34" charset="-120"/>
              </a:rPr>
              <a:t>Objective</a:t>
            </a:r>
            <a:endParaRPr lang="en-US" sz="1600" dirty="0"/>
          </a:p>
        </p:txBody>
      </p:sp>
      <p:sp>
        <p:nvSpPr>
          <p:cNvPr id="5" name="Text 3"/>
          <p:cNvSpPr/>
          <p:nvPr/>
        </p:nvSpPr>
        <p:spPr>
          <a:xfrm>
            <a:off x="640080" y="1600200"/>
            <a:ext cx="10881360" cy="640080"/>
          </a:xfrm>
          <a:prstGeom prst="rect">
            <a:avLst/>
          </a:prstGeom>
          <a:noFill/>
          <a:ln/>
        </p:spPr>
        <p:txBody>
          <a:bodyPr wrap="square" rtlCol="0" anchor="ctr"/>
          <a:lstStyle/>
          <a:p>
            <a:pPr marL="0" indent="0">
              <a:lnSpc>
                <a:spcPct val="130000"/>
              </a:lnSpc>
              <a:buNone/>
            </a:pPr>
            <a:r>
              <a:rPr lang="en-US" sz="1200" dirty="0">
                <a:solidFill>
                  <a:srgbClr val="FFFFFF"/>
                </a:solidFill>
                <a:latin typeface="Arial" pitchFamily="34" charset="0"/>
                <a:ea typeface="Arial" pitchFamily="34" charset="-122"/>
                <a:cs typeface="Arial" pitchFamily="34" charset="-120"/>
              </a:rPr>
              <a:t>Transform raw transactional data into a fully interactive Power BI executive dashboard that enables stakeholders to monitor sales performance, identify trends, compare regional and segment performance, and make data-driven business decisions.</a:t>
            </a:r>
            <a:endParaRPr lang="en-US" sz="1200" dirty="0"/>
          </a:p>
        </p:txBody>
      </p:sp>
      <p:sp>
        <p:nvSpPr>
          <p:cNvPr id="6" name="Text 4"/>
          <p:cNvSpPr/>
          <p:nvPr/>
        </p:nvSpPr>
        <p:spPr>
          <a:xfrm>
            <a:off x="640080" y="2468880"/>
            <a:ext cx="4572000" cy="365760"/>
          </a:xfrm>
          <a:prstGeom prst="rect">
            <a:avLst/>
          </a:prstGeom>
          <a:noFill/>
          <a:ln/>
        </p:spPr>
        <p:txBody>
          <a:bodyPr wrap="square" rtlCol="0" anchor="ctr"/>
          <a:lstStyle/>
          <a:p>
            <a:pPr marL="0" indent="0">
              <a:buNone/>
            </a:pPr>
            <a:r>
              <a:rPr lang="en-US" sz="1600" b="1" dirty="0">
                <a:solidFill>
                  <a:srgbClr val="00CEC9"/>
                </a:solidFill>
                <a:latin typeface="Arial" pitchFamily="34" charset="0"/>
                <a:ea typeface="Arial" pitchFamily="34" charset="-122"/>
                <a:cs typeface="Arial" pitchFamily="34" charset="-120"/>
              </a:rPr>
              <a:t>Tools &amp; Technologies</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2926080"/>
          <a:ext cx="10881360" cy="1965960"/>
        </p:xfrm>
        <a:graphic>
          <a:graphicData uri="http://schemas.openxmlformats.org/drawingml/2006/table">
            <a:tbl>
              <a:tblPr/>
              <a:tblGrid>
                <a:gridCol w="3200400">
                  <a:extLst>
                    <a:ext uri="{9D8B030D-6E8A-4147-A177-3AD203B41FA5}">
                      <a16:colId xmlns:a16="http://schemas.microsoft.com/office/drawing/2014/main" val="20000"/>
                    </a:ext>
                  </a:extLst>
                </a:gridCol>
                <a:gridCol w="7680960">
                  <a:extLst>
                    <a:ext uri="{9D8B030D-6E8A-4147-A177-3AD203B41FA5}">
                      <a16:colId xmlns:a16="http://schemas.microsoft.com/office/drawing/2014/main" val="20001"/>
                    </a:ext>
                  </a:extLst>
                </a:gridCol>
              </a:tblGrid>
              <a:tr h="365760">
                <a:tc>
                  <a:txBody>
                    <a:bodyPr/>
                    <a:lstStyle/>
                    <a:p>
                      <a:pPr marL="0" indent="0">
                        <a:buNone/>
                      </a:pPr>
                      <a:r>
                        <a:rPr lang="en-US" sz="1100" b="1" dirty="0">
                          <a:solidFill>
                            <a:srgbClr val="FFFFFF"/>
                          </a:solidFill>
                          <a:latin typeface="Arial" pitchFamily="34" charset="0"/>
                          <a:ea typeface="Arial" pitchFamily="34" charset="-122"/>
                          <a:cs typeface="Arial" pitchFamily="34" charset="-120"/>
                        </a:rPr>
                        <a:t>Tool</a:t>
                      </a:r>
                      <a:endParaRPr lang="en-US" sz="11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0097A7"/>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Purpose</a:t>
                      </a:r>
                      <a:endParaRPr lang="en-US" sz="11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0097A7"/>
                    </a:solidFill>
                  </a:tcPr>
                </a:tc>
                <a:extLst>
                  <a:ext uri="{0D108BD9-81ED-4DB2-BD59-A6C34878D82A}">
                    <a16:rowId xmlns:a16="http://schemas.microsoft.com/office/drawing/2014/main" val="10000"/>
                  </a:ext>
                </a:extLst>
              </a:tr>
              <a:tr h="320040">
                <a:tc>
                  <a:txBody>
                    <a:bodyPr/>
                    <a:lstStyle/>
                    <a:p>
                      <a:pPr marL="0" indent="0">
                        <a:buNone/>
                      </a:pPr>
                      <a:r>
                        <a:rPr lang="en-US" sz="1000" dirty="0">
                          <a:solidFill>
                            <a:srgbClr val="FFFFFF"/>
                          </a:solidFill>
                          <a:latin typeface="Arial" pitchFamily="34" charset="0"/>
                          <a:ea typeface="Arial" pitchFamily="34" charset="-122"/>
                          <a:cs typeface="Arial" pitchFamily="34" charset="-120"/>
                        </a:rPr>
                        <a:t>Power BI Desktop</a:t>
                      </a:r>
                      <a:endParaRPr lang="en-US" sz="10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tc>
                  <a:txBody>
                    <a:bodyPr/>
                    <a:lstStyle/>
                    <a:p>
                      <a:pPr marL="0" indent="0">
                        <a:buNone/>
                      </a:pPr>
                      <a:r>
                        <a:rPr lang="en-US" sz="1000" dirty="0">
                          <a:solidFill>
                            <a:srgbClr val="CCCCCC"/>
                          </a:solidFill>
                          <a:latin typeface="Arial" pitchFamily="34" charset="0"/>
                          <a:ea typeface="Arial" pitchFamily="34" charset="-122"/>
                          <a:cs typeface="Arial" pitchFamily="34" charset="-120"/>
                        </a:rPr>
                        <a:t>Dashboard design, data modeling, and visualization</a:t>
                      </a:r>
                      <a:endParaRPr lang="en-US" sz="10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extLst>
                  <a:ext uri="{0D108BD9-81ED-4DB2-BD59-A6C34878D82A}">
                    <a16:rowId xmlns:a16="http://schemas.microsoft.com/office/drawing/2014/main" val="10001"/>
                  </a:ext>
                </a:extLst>
              </a:tr>
              <a:tr h="320040">
                <a:tc>
                  <a:txBody>
                    <a:bodyPr/>
                    <a:lstStyle/>
                    <a:p>
                      <a:pPr marL="0" indent="0">
                        <a:buNone/>
                      </a:pPr>
                      <a:r>
                        <a:rPr lang="en-US" sz="1000" dirty="0">
                          <a:solidFill>
                            <a:srgbClr val="FFFFFF"/>
                          </a:solidFill>
                          <a:latin typeface="Arial" pitchFamily="34" charset="0"/>
                          <a:ea typeface="Arial" pitchFamily="34" charset="-122"/>
                          <a:cs typeface="Arial" pitchFamily="34" charset="-120"/>
                        </a:rPr>
                        <a:t>Power Query (M Language)</a:t>
                      </a:r>
                      <a:endParaRPr lang="en-US" sz="10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tc>
                  <a:txBody>
                    <a:bodyPr/>
                    <a:lstStyle/>
                    <a:p>
                      <a:pPr marL="0" indent="0">
                        <a:buNone/>
                      </a:pPr>
                      <a:r>
                        <a:rPr lang="en-US" sz="1000" dirty="0">
                          <a:solidFill>
                            <a:srgbClr val="CCCCCC"/>
                          </a:solidFill>
                          <a:latin typeface="Arial" pitchFamily="34" charset="0"/>
                          <a:ea typeface="Arial" pitchFamily="34" charset="-122"/>
                          <a:cs typeface="Arial" pitchFamily="34" charset="-120"/>
                        </a:rPr>
                        <a:t>Data cleaning and transformation</a:t>
                      </a:r>
                      <a:endParaRPr lang="en-US" sz="10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extLst>
                  <a:ext uri="{0D108BD9-81ED-4DB2-BD59-A6C34878D82A}">
                    <a16:rowId xmlns:a16="http://schemas.microsoft.com/office/drawing/2014/main" val="10002"/>
                  </a:ext>
                </a:extLst>
              </a:tr>
              <a:tr h="320040">
                <a:tc>
                  <a:txBody>
                    <a:bodyPr/>
                    <a:lstStyle/>
                    <a:p>
                      <a:pPr marL="0" indent="0">
                        <a:buNone/>
                      </a:pPr>
                      <a:r>
                        <a:rPr lang="en-US" sz="1000" dirty="0">
                          <a:solidFill>
                            <a:srgbClr val="FFFFFF"/>
                          </a:solidFill>
                          <a:latin typeface="Arial" pitchFamily="34" charset="0"/>
                          <a:ea typeface="Arial" pitchFamily="34" charset="-122"/>
                          <a:cs typeface="Arial" pitchFamily="34" charset="-120"/>
                        </a:rPr>
                        <a:t>DAX</a:t>
                      </a:r>
                      <a:endParaRPr lang="en-US" sz="10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tc>
                  <a:txBody>
                    <a:bodyPr/>
                    <a:lstStyle/>
                    <a:p>
                      <a:pPr marL="0" indent="0">
                        <a:buNone/>
                      </a:pPr>
                      <a:r>
                        <a:rPr lang="en-US" sz="1000" dirty="0">
                          <a:solidFill>
                            <a:srgbClr val="CCCCCC"/>
                          </a:solidFill>
                          <a:latin typeface="Arial" pitchFamily="34" charset="0"/>
                          <a:ea typeface="Arial" pitchFamily="34" charset="-122"/>
                          <a:cs typeface="Arial" pitchFamily="34" charset="-120"/>
                        </a:rPr>
                        <a:t>Calculated columns, measures, and Date table generation</a:t>
                      </a:r>
                      <a:endParaRPr lang="en-US" sz="10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extLst>
                  <a:ext uri="{0D108BD9-81ED-4DB2-BD59-A6C34878D82A}">
                    <a16:rowId xmlns:a16="http://schemas.microsoft.com/office/drawing/2014/main" val="10003"/>
                  </a:ext>
                </a:extLst>
              </a:tr>
              <a:tr h="320040">
                <a:tc>
                  <a:txBody>
                    <a:bodyPr/>
                    <a:lstStyle/>
                    <a:p>
                      <a:pPr marL="0" indent="0">
                        <a:buNone/>
                      </a:pPr>
                      <a:r>
                        <a:rPr lang="en-US" sz="1000" dirty="0">
                          <a:solidFill>
                            <a:srgbClr val="FFFFFF"/>
                          </a:solidFill>
                          <a:latin typeface="Arial" pitchFamily="34" charset="0"/>
                          <a:ea typeface="Arial" pitchFamily="34" charset="-122"/>
                          <a:cs typeface="Arial" pitchFamily="34" charset="-120"/>
                        </a:rPr>
                        <a:t>Power BI Service</a:t>
                      </a:r>
                      <a:endParaRPr lang="en-US" sz="10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tc>
                  <a:txBody>
                    <a:bodyPr/>
                    <a:lstStyle/>
                    <a:p>
                      <a:pPr marL="0" indent="0">
                        <a:buNone/>
                      </a:pPr>
                      <a:r>
                        <a:rPr lang="en-US" sz="1000" dirty="0">
                          <a:solidFill>
                            <a:srgbClr val="CCCCCC"/>
                          </a:solidFill>
                          <a:latin typeface="Arial" pitchFamily="34" charset="0"/>
                          <a:ea typeface="Arial" pitchFamily="34" charset="-122"/>
                          <a:cs typeface="Arial" pitchFamily="34" charset="-120"/>
                        </a:rPr>
                        <a:t>Publishing, sharing, and RLS management</a:t>
                      </a:r>
                      <a:endParaRPr lang="en-US" sz="10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extLst>
                  <a:ext uri="{0D108BD9-81ED-4DB2-BD59-A6C34878D82A}">
                    <a16:rowId xmlns:a16="http://schemas.microsoft.com/office/drawing/2014/main" val="10004"/>
                  </a:ext>
                </a:extLst>
              </a:tr>
              <a:tr h="320040">
                <a:tc>
                  <a:txBody>
                    <a:bodyPr/>
                    <a:lstStyle/>
                    <a:p>
                      <a:pPr marL="0" indent="0">
                        <a:buNone/>
                      </a:pPr>
                      <a:r>
                        <a:rPr lang="en-US" sz="1000" dirty="0">
                          <a:solidFill>
                            <a:srgbClr val="FFFFFF"/>
                          </a:solidFill>
                          <a:latin typeface="Arial" pitchFamily="34" charset="0"/>
                          <a:ea typeface="Arial" pitchFamily="34" charset="-122"/>
                          <a:cs typeface="Arial" pitchFamily="34" charset="-120"/>
                        </a:rPr>
                        <a:t>Cloudflare + Zoho Mail</a:t>
                      </a:r>
                      <a:endParaRPr lang="en-US" sz="10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tc>
                  <a:txBody>
                    <a:bodyPr/>
                    <a:lstStyle/>
                    <a:p>
                      <a:pPr marL="0" indent="0">
                        <a:buNone/>
                      </a:pPr>
                      <a:r>
                        <a:rPr lang="en-US" sz="1000" dirty="0">
                          <a:solidFill>
                            <a:srgbClr val="CCCCCC"/>
                          </a:solidFill>
                          <a:latin typeface="Arial" pitchFamily="34" charset="0"/>
                          <a:ea typeface="Arial" pitchFamily="34" charset="-122"/>
                          <a:cs typeface="Arial" pitchFamily="34" charset="-120"/>
                        </a:rPr>
                        <a:t>Custom domain email for Power BI publishing</a:t>
                      </a:r>
                      <a:endParaRPr lang="en-US" sz="10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extLst>
                  <a:ext uri="{0D108BD9-81ED-4DB2-BD59-A6C34878D82A}">
                    <a16:rowId xmlns:a16="http://schemas.microsoft.com/office/drawing/2014/main" val="10005"/>
                  </a:ext>
                </a:extLst>
              </a:tr>
            </a:tbl>
          </a:graphicData>
        </a:graphic>
      </p:graphicFrame>
      <p:sp>
        <p:nvSpPr>
          <p:cNvPr id="8" name="Text 5"/>
          <p:cNvSpPr/>
          <p:nvPr/>
        </p:nvSpPr>
        <p:spPr>
          <a:xfrm>
            <a:off x="640080" y="4937760"/>
            <a:ext cx="4572000" cy="365760"/>
          </a:xfrm>
          <a:prstGeom prst="rect">
            <a:avLst/>
          </a:prstGeom>
          <a:noFill/>
          <a:ln/>
        </p:spPr>
        <p:txBody>
          <a:bodyPr wrap="square" rtlCol="0" anchor="ctr"/>
          <a:lstStyle/>
          <a:p>
            <a:pPr marL="0" indent="0">
              <a:buNone/>
            </a:pPr>
            <a:r>
              <a:rPr lang="en-US" sz="1600" b="1" dirty="0">
                <a:solidFill>
                  <a:srgbClr val="00CEC9"/>
                </a:solidFill>
                <a:latin typeface="Arial" pitchFamily="34" charset="0"/>
                <a:ea typeface="Arial" pitchFamily="34" charset="-122"/>
                <a:cs typeface="Arial" pitchFamily="34" charset="-120"/>
              </a:rPr>
              <a:t>Project Workflow</a:t>
            </a:r>
            <a:endParaRPr lang="en-US" sz="1600" dirty="0"/>
          </a:p>
        </p:txBody>
      </p:sp>
      <p:sp>
        <p:nvSpPr>
          <p:cNvPr id="9" name="Shape 6"/>
          <p:cNvSpPr/>
          <p:nvPr/>
        </p:nvSpPr>
        <p:spPr>
          <a:xfrm>
            <a:off x="640080" y="5394960"/>
            <a:ext cx="1645920" cy="640080"/>
          </a:xfrm>
          <a:prstGeom prst="roundRect">
            <a:avLst>
              <a:gd name="adj" fmla="val 11429"/>
            </a:avLst>
          </a:prstGeom>
          <a:solidFill>
            <a:srgbClr val="1E2A4A"/>
          </a:solidFill>
          <a:ln/>
        </p:spPr>
      </p:sp>
      <p:sp>
        <p:nvSpPr>
          <p:cNvPr id="10" name="Text 7"/>
          <p:cNvSpPr/>
          <p:nvPr/>
        </p:nvSpPr>
        <p:spPr>
          <a:xfrm>
            <a:off x="640080" y="5394960"/>
            <a:ext cx="1645920" cy="64008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Data Cleaning</a:t>
            </a:r>
            <a:endParaRPr lang="en-US" sz="1000" dirty="0"/>
          </a:p>
        </p:txBody>
      </p:sp>
      <p:sp>
        <p:nvSpPr>
          <p:cNvPr id="11" name="Text 8"/>
          <p:cNvSpPr/>
          <p:nvPr/>
        </p:nvSpPr>
        <p:spPr>
          <a:xfrm>
            <a:off x="2286000" y="5394960"/>
            <a:ext cx="228600" cy="640080"/>
          </a:xfrm>
          <a:prstGeom prst="rect">
            <a:avLst/>
          </a:prstGeom>
          <a:noFill/>
          <a:ln/>
        </p:spPr>
        <p:txBody>
          <a:bodyPr wrap="square" lIns="0" tIns="0" rIns="0" bIns="0" rtlCol="0" anchor="ctr"/>
          <a:lstStyle/>
          <a:p>
            <a:pPr marL="0" indent="0" algn="ctr">
              <a:buNone/>
            </a:pPr>
            <a:r>
              <a:rPr lang="en-US" sz="1400" dirty="0">
                <a:solidFill>
                  <a:srgbClr val="00CEC9"/>
                </a:solidFill>
                <a:latin typeface="Arial" pitchFamily="34" charset="0"/>
                <a:ea typeface="Arial" pitchFamily="34" charset="-122"/>
                <a:cs typeface="Arial" pitchFamily="34" charset="-120"/>
              </a:rPr>
              <a:t>&gt;</a:t>
            </a:r>
            <a:endParaRPr lang="en-US" sz="1400" dirty="0"/>
          </a:p>
        </p:txBody>
      </p:sp>
      <p:sp>
        <p:nvSpPr>
          <p:cNvPr id="12" name="Shape 9"/>
          <p:cNvSpPr/>
          <p:nvPr/>
        </p:nvSpPr>
        <p:spPr>
          <a:xfrm>
            <a:off x="2514600" y="5394960"/>
            <a:ext cx="1645920" cy="640080"/>
          </a:xfrm>
          <a:prstGeom prst="roundRect">
            <a:avLst>
              <a:gd name="adj" fmla="val 11429"/>
            </a:avLst>
          </a:prstGeom>
          <a:solidFill>
            <a:srgbClr val="1E2A4A"/>
          </a:solidFill>
          <a:ln/>
        </p:spPr>
      </p:sp>
      <p:sp>
        <p:nvSpPr>
          <p:cNvPr id="13" name="Text 10"/>
          <p:cNvSpPr/>
          <p:nvPr/>
        </p:nvSpPr>
        <p:spPr>
          <a:xfrm>
            <a:off x="2514600" y="5394960"/>
            <a:ext cx="1645920" cy="64008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Data Modeling</a:t>
            </a:r>
            <a:endParaRPr lang="en-US" sz="1000" dirty="0"/>
          </a:p>
        </p:txBody>
      </p:sp>
      <p:sp>
        <p:nvSpPr>
          <p:cNvPr id="14" name="Text 11"/>
          <p:cNvSpPr/>
          <p:nvPr/>
        </p:nvSpPr>
        <p:spPr>
          <a:xfrm>
            <a:off x="4160520" y="5394960"/>
            <a:ext cx="228600" cy="640080"/>
          </a:xfrm>
          <a:prstGeom prst="rect">
            <a:avLst/>
          </a:prstGeom>
          <a:noFill/>
          <a:ln/>
        </p:spPr>
        <p:txBody>
          <a:bodyPr wrap="square" lIns="0" tIns="0" rIns="0" bIns="0" rtlCol="0" anchor="ctr"/>
          <a:lstStyle/>
          <a:p>
            <a:pPr marL="0" indent="0" algn="ctr">
              <a:buNone/>
            </a:pPr>
            <a:r>
              <a:rPr lang="en-US" sz="1400" dirty="0">
                <a:solidFill>
                  <a:srgbClr val="00CEC9"/>
                </a:solidFill>
                <a:latin typeface="Arial" pitchFamily="34" charset="0"/>
                <a:ea typeface="Arial" pitchFamily="34" charset="-122"/>
                <a:cs typeface="Arial" pitchFamily="34" charset="-120"/>
              </a:rPr>
              <a:t>&gt;</a:t>
            </a:r>
            <a:endParaRPr lang="en-US" sz="1400" dirty="0"/>
          </a:p>
        </p:txBody>
      </p:sp>
      <p:sp>
        <p:nvSpPr>
          <p:cNvPr id="15" name="Shape 12"/>
          <p:cNvSpPr/>
          <p:nvPr/>
        </p:nvSpPr>
        <p:spPr>
          <a:xfrm>
            <a:off x="4389120" y="5394960"/>
            <a:ext cx="1645920" cy="640080"/>
          </a:xfrm>
          <a:prstGeom prst="roundRect">
            <a:avLst>
              <a:gd name="adj" fmla="val 11429"/>
            </a:avLst>
          </a:prstGeom>
          <a:solidFill>
            <a:srgbClr val="1E2A4A"/>
          </a:solidFill>
          <a:ln/>
        </p:spPr>
      </p:sp>
      <p:sp>
        <p:nvSpPr>
          <p:cNvPr id="16" name="Text 13"/>
          <p:cNvSpPr/>
          <p:nvPr/>
        </p:nvSpPr>
        <p:spPr>
          <a:xfrm>
            <a:off x="4389120" y="5394960"/>
            <a:ext cx="1645920" cy="64008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DAX Measures</a:t>
            </a:r>
            <a:endParaRPr lang="en-US" sz="1000" dirty="0"/>
          </a:p>
        </p:txBody>
      </p:sp>
      <p:sp>
        <p:nvSpPr>
          <p:cNvPr id="17" name="Text 14"/>
          <p:cNvSpPr/>
          <p:nvPr/>
        </p:nvSpPr>
        <p:spPr>
          <a:xfrm>
            <a:off x="6035040" y="5394960"/>
            <a:ext cx="228600" cy="640080"/>
          </a:xfrm>
          <a:prstGeom prst="rect">
            <a:avLst/>
          </a:prstGeom>
          <a:noFill/>
          <a:ln/>
        </p:spPr>
        <p:txBody>
          <a:bodyPr wrap="square" lIns="0" tIns="0" rIns="0" bIns="0" rtlCol="0" anchor="ctr"/>
          <a:lstStyle/>
          <a:p>
            <a:pPr marL="0" indent="0" algn="ctr">
              <a:buNone/>
            </a:pPr>
            <a:r>
              <a:rPr lang="en-US" sz="1400" dirty="0">
                <a:solidFill>
                  <a:srgbClr val="00CEC9"/>
                </a:solidFill>
                <a:latin typeface="Arial" pitchFamily="34" charset="0"/>
                <a:ea typeface="Arial" pitchFamily="34" charset="-122"/>
                <a:cs typeface="Arial" pitchFamily="34" charset="-120"/>
              </a:rPr>
              <a:t>&gt;</a:t>
            </a:r>
            <a:endParaRPr lang="en-US" sz="1400" dirty="0"/>
          </a:p>
        </p:txBody>
      </p:sp>
      <p:sp>
        <p:nvSpPr>
          <p:cNvPr id="18" name="Shape 15"/>
          <p:cNvSpPr/>
          <p:nvPr/>
        </p:nvSpPr>
        <p:spPr>
          <a:xfrm>
            <a:off x="6263640" y="5394960"/>
            <a:ext cx="1645920" cy="640080"/>
          </a:xfrm>
          <a:prstGeom prst="roundRect">
            <a:avLst>
              <a:gd name="adj" fmla="val 11429"/>
            </a:avLst>
          </a:prstGeom>
          <a:solidFill>
            <a:srgbClr val="00CEC9"/>
          </a:solidFill>
          <a:ln/>
        </p:spPr>
      </p:sp>
      <p:sp>
        <p:nvSpPr>
          <p:cNvPr id="19" name="Text 16"/>
          <p:cNvSpPr/>
          <p:nvPr/>
        </p:nvSpPr>
        <p:spPr>
          <a:xfrm>
            <a:off x="6263640" y="5394960"/>
            <a:ext cx="1645920" cy="640080"/>
          </a:xfrm>
          <a:prstGeom prst="rect">
            <a:avLst/>
          </a:prstGeom>
          <a:noFill/>
          <a:ln/>
        </p:spPr>
        <p:txBody>
          <a:bodyPr wrap="square" lIns="0" tIns="0" rIns="0" bIns="0" rtlCol="0" anchor="ctr"/>
          <a:lstStyle/>
          <a:p>
            <a:pPr marL="0" indent="0" algn="ctr">
              <a:buNone/>
            </a:pPr>
            <a:r>
              <a:rPr lang="en-US" sz="1000" b="1" dirty="0">
                <a:solidFill>
                  <a:srgbClr val="16213E"/>
                </a:solidFill>
                <a:latin typeface="Arial" pitchFamily="34" charset="0"/>
                <a:ea typeface="Arial" pitchFamily="34" charset="-122"/>
                <a:cs typeface="Arial" pitchFamily="34" charset="-120"/>
              </a:rPr>
              <a:t>Dashboard</a:t>
            </a:r>
            <a:endParaRPr lang="en-US" sz="1000" dirty="0"/>
          </a:p>
        </p:txBody>
      </p:sp>
      <p:sp>
        <p:nvSpPr>
          <p:cNvPr id="20" name="Text 17"/>
          <p:cNvSpPr/>
          <p:nvPr/>
        </p:nvSpPr>
        <p:spPr>
          <a:xfrm>
            <a:off x="7909560" y="5394960"/>
            <a:ext cx="228600" cy="640080"/>
          </a:xfrm>
          <a:prstGeom prst="rect">
            <a:avLst/>
          </a:prstGeom>
          <a:noFill/>
          <a:ln/>
        </p:spPr>
        <p:txBody>
          <a:bodyPr wrap="square" lIns="0" tIns="0" rIns="0" bIns="0" rtlCol="0" anchor="ctr"/>
          <a:lstStyle/>
          <a:p>
            <a:pPr marL="0" indent="0" algn="ctr">
              <a:buNone/>
            </a:pPr>
            <a:r>
              <a:rPr lang="en-US" sz="1400" dirty="0">
                <a:solidFill>
                  <a:srgbClr val="00CEC9"/>
                </a:solidFill>
                <a:latin typeface="Arial" pitchFamily="34" charset="0"/>
                <a:ea typeface="Arial" pitchFamily="34" charset="-122"/>
                <a:cs typeface="Arial" pitchFamily="34" charset="-120"/>
              </a:rPr>
              <a:t>&gt;</a:t>
            </a:r>
            <a:endParaRPr lang="en-US" sz="1400" dirty="0"/>
          </a:p>
        </p:txBody>
      </p:sp>
      <p:sp>
        <p:nvSpPr>
          <p:cNvPr id="21" name="Shape 18"/>
          <p:cNvSpPr/>
          <p:nvPr/>
        </p:nvSpPr>
        <p:spPr>
          <a:xfrm>
            <a:off x="8138160" y="5394960"/>
            <a:ext cx="1645920" cy="640080"/>
          </a:xfrm>
          <a:prstGeom prst="roundRect">
            <a:avLst>
              <a:gd name="adj" fmla="val 11429"/>
            </a:avLst>
          </a:prstGeom>
          <a:solidFill>
            <a:srgbClr val="1E2A4A"/>
          </a:solidFill>
          <a:ln/>
        </p:spPr>
      </p:sp>
      <p:sp>
        <p:nvSpPr>
          <p:cNvPr id="22" name="Text 19"/>
          <p:cNvSpPr/>
          <p:nvPr/>
        </p:nvSpPr>
        <p:spPr>
          <a:xfrm>
            <a:off x="8138160" y="5394960"/>
            <a:ext cx="1645920" cy="64008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RLS</a:t>
            </a:r>
            <a:endParaRPr lang="en-US" sz="1000" dirty="0"/>
          </a:p>
        </p:txBody>
      </p:sp>
      <p:sp>
        <p:nvSpPr>
          <p:cNvPr id="23" name="Text 20"/>
          <p:cNvSpPr/>
          <p:nvPr/>
        </p:nvSpPr>
        <p:spPr>
          <a:xfrm>
            <a:off x="9784080" y="5394960"/>
            <a:ext cx="228600" cy="640080"/>
          </a:xfrm>
          <a:prstGeom prst="rect">
            <a:avLst/>
          </a:prstGeom>
          <a:noFill/>
          <a:ln/>
        </p:spPr>
        <p:txBody>
          <a:bodyPr wrap="square" lIns="0" tIns="0" rIns="0" bIns="0" rtlCol="0" anchor="ctr"/>
          <a:lstStyle/>
          <a:p>
            <a:pPr marL="0" indent="0" algn="ctr">
              <a:buNone/>
            </a:pPr>
            <a:r>
              <a:rPr lang="en-US" sz="1400" dirty="0">
                <a:solidFill>
                  <a:srgbClr val="00CEC9"/>
                </a:solidFill>
                <a:latin typeface="Arial" pitchFamily="34" charset="0"/>
                <a:ea typeface="Arial" pitchFamily="34" charset="-122"/>
                <a:cs typeface="Arial" pitchFamily="34" charset="-120"/>
              </a:rPr>
              <a:t>&gt;</a:t>
            </a:r>
            <a:endParaRPr lang="en-US" sz="1400" dirty="0"/>
          </a:p>
        </p:txBody>
      </p:sp>
      <p:sp>
        <p:nvSpPr>
          <p:cNvPr id="24" name="Shape 21"/>
          <p:cNvSpPr/>
          <p:nvPr/>
        </p:nvSpPr>
        <p:spPr>
          <a:xfrm>
            <a:off x="10012680" y="5394960"/>
            <a:ext cx="1645920" cy="640080"/>
          </a:xfrm>
          <a:prstGeom prst="roundRect">
            <a:avLst>
              <a:gd name="adj" fmla="val 11429"/>
            </a:avLst>
          </a:prstGeom>
          <a:solidFill>
            <a:srgbClr val="1E2A4A"/>
          </a:solidFill>
          <a:ln/>
        </p:spPr>
      </p:sp>
      <p:sp>
        <p:nvSpPr>
          <p:cNvPr id="25" name="Text 22"/>
          <p:cNvSpPr/>
          <p:nvPr/>
        </p:nvSpPr>
        <p:spPr>
          <a:xfrm>
            <a:off x="10012680" y="5394960"/>
            <a:ext cx="1645920" cy="64008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Publish</a:t>
            </a:r>
            <a:endParaRPr lang="en-US" sz="1000" dirty="0"/>
          </a:p>
        </p:txBody>
      </p:sp>
      <p:sp>
        <p:nvSpPr>
          <p:cNvPr id="26" name="Text 23"/>
          <p:cNvSpPr/>
          <p:nvPr/>
        </p:nvSpPr>
        <p:spPr>
          <a:xfrm>
            <a:off x="0" y="6446520"/>
            <a:ext cx="12161520" cy="320040"/>
          </a:xfrm>
          <a:prstGeom prst="rect">
            <a:avLst/>
          </a:prstGeom>
          <a:noFill/>
          <a:ln/>
        </p:spPr>
        <p:txBody>
          <a:bodyPr wrap="square" rtlCol="0" anchor="ctr"/>
          <a:lstStyle/>
          <a:p>
            <a:pPr marL="0" indent="0" algn="ctr">
              <a:buNone/>
            </a:pPr>
            <a:r>
              <a:rPr lang="en-US" sz="800" dirty="0">
                <a:solidFill>
                  <a:srgbClr val="CCCCCC"/>
                </a:solidFill>
                <a:latin typeface="Arial" pitchFamily="34" charset="0"/>
                <a:ea typeface="Arial" pitchFamily="34" charset="-122"/>
                <a:cs typeface="Arial" pitchFamily="34" charset="-120"/>
              </a:rPr>
              <a:t>Zuri Electronics Analysis  |  Oluwatoni Oladipo  |  4/16</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5486400" cy="640080"/>
          </a:xfrm>
          <a:prstGeom prst="rect">
            <a:avLst/>
          </a:prstGeom>
          <a:noFill/>
          <a:ln/>
        </p:spPr>
        <p:txBody>
          <a:bodyPr wrap="square" rtlCol="0" anchor="ctr"/>
          <a:lstStyle/>
          <a:p>
            <a:pPr marL="0" indent="0">
              <a:buNone/>
            </a:pPr>
            <a:r>
              <a:rPr lang="en-US" sz="2800" b="1" dirty="0">
                <a:solidFill>
                  <a:srgbClr val="16213E"/>
                </a:solidFill>
                <a:latin typeface="Arial" pitchFamily="34" charset="0"/>
                <a:ea typeface="Arial" pitchFamily="34" charset="-122"/>
                <a:cs typeface="Arial" pitchFamily="34" charset="-120"/>
              </a:rPr>
              <a:t>DATASET OVERVIEW</a:t>
            </a:r>
            <a:endParaRPr lang="en-US" sz="2800" dirty="0"/>
          </a:p>
        </p:txBody>
      </p:sp>
      <p:sp>
        <p:nvSpPr>
          <p:cNvPr id="3" name="Shape 1"/>
          <p:cNvSpPr/>
          <p:nvPr/>
        </p:nvSpPr>
        <p:spPr>
          <a:xfrm>
            <a:off x="640080" y="914400"/>
            <a:ext cx="3657600" cy="36576"/>
          </a:xfrm>
          <a:prstGeom prst="rect">
            <a:avLst/>
          </a:prstGeom>
          <a:solidFill>
            <a:srgbClr val="00CEC9"/>
          </a:solidFill>
          <a:ln/>
        </p:spPr>
      </p:sp>
      <p:sp>
        <p:nvSpPr>
          <p:cNvPr id="4" name="Text 2"/>
          <p:cNvSpPr/>
          <p:nvPr/>
        </p:nvSpPr>
        <p:spPr>
          <a:xfrm>
            <a:off x="640080" y="1097280"/>
            <a:ext cx="10881360" cy="365760"/>
          </a:xfrm>
          <a:prstGeom prst="rect">
            <a:avLst/>
          </a:prstGeom>
          <a:noFill/>
          <a:ln/>
        </p:spPr>
        <p:txBody>
          <a:bodyPr wrap="square" rtlCol="0" anchor="ctr"/>
          <a:lstStyle/>
          <a:p>
            <a:pPr marL="0" indent="0">
              <a:buNone/>
            </a:pPr>
            <a:r>
              <a:rPr lang="en-US" sz="1100" i="1" dirty="0">
                <a:solidFill>
                  <a:srgbClr val="333333"/>
                </a:solidFill>
                <a:latin typeface="Arial" pitchFamily="34" charset="0"/>
                <a:ea typeface="Arial" pitchFamily="34" charset="-122"/>
                <a:cs typeface="Arial" pitchFamily="34" charset="-120"/>
              </a:rPr>
              <a:t>Source: Zuri_Electronics.xlsx  |  3 Tables + 1 DAX-Generated Date Table</a:t>
            </a:r>
            <a:endParaRPr lang="en-US" sz="1100" dirty="0"/>
          </a:p>
        </p:txBody>
      </p:sp>
      <p:sp>
        <p:nvSpPr>
          <p:cNvPr id="5" name="Shape 3"/>
          <p:cNvSpPr/>
          <p:nvPr/>
        </p:nvSpPr>
        <p:spPr>
          <a:xfrm>
            <a:off x="640080" y="1645920"/>
            <a:ext cx="5212080" cy="1920240"/>
          </a:xfrm>
          <a:prstGeom prst="roundRect">
            <a:avLst>
              <a:gd name="adj" fmla="val 4762"/>
            </a:avLst>
          </a:prstGeom>
          <a:solidFill>
            <a:srgbClr val="F5F5F5"/>
          </a:solidFill>
          <a:ln/>
        </p:spPr>
      </p:sp>
      <p:sp>
        <p:nvSpPr>
          <p:cNvPr id="6" name="Shape 4"/>
          <p:cNvSpPr/>
          <p:nvPr/>
        </p:nvSpPr>
        <p:spPr>
          <a:xfrm>
            <a:off x="640080" y="1645920"/>
            <a:ext cx="73152" cy="1920240"/>
          </a:xfrm>
          <a:prstGeom prst="rect">
            <a:avLst/>
          </a:prstGeom>
          <a:solidFill>
            <a:srgbClr val="00CEC9"/>
          </a:solidFill>
          <a:ln/>
        </p:spPr>
      </p:sp>
      <p:sp>
        <p:nvSpPr>
          <p:cNvPr id="7" name="Text 5"/>
          <p:cNvSpPr/>
          <p:nvPr/>
        </p:nvSpPr>
        <p:spPr>
          <a:xfrm>
            <a:off x="914400" y="1737360"/>
            <a:ext cx="4754880" cy="365760"/>
          </a:xfrm>
          <a:prstGeom prst="rect">
            <a:avLst/>
          </a:prstGeom>
          <a:noFill/>
          <a:ln/>
        </p:spPr>
        <p:txBody>
          <a:bodyPr wrap="square" rtlCol="0" anchor="ctr"/>
          <a:lstStyle/>
          <a:p>
            <a:pPr marL="0" indent="0">
              <a:buNone/>
            </a:pPr>
            <a:r>
              <a:rPr lang="en-US" sz="1400" b="1" dirty="0">
                <a:solidFill>
                  <a:srgbClr val="16213E"/>
                </a:solidFill>
                <a:latin typeface="Arial" pitchFamily="34" charset="0"/>
                <a:ea typeface="Arial" pitchFamily="34" charset="-122"/>
                <a:cs typeface="Arial" pitchFamily="34" charset="-120"/>
              </a:rPr>
              <a:t>Orders (Fact Table)</a:t>
            </a:r>
            <a:endParaRPr lang="en-US" sz="1400" dirty="0"/>
          </a:p>
        </p:txBody>
      </p:sp>
      <p:sp>
        <p:nvSpPr>
          <p:cNvPr id="8" name="Text 6"/>
          <p:cNvSpPr/>
          <p:nvPr/>
        </p:nvSpPr>
        <p:spPr>
          <a:xfrm>
            <a:off x="914400" y="2103120"/>
            <a:ext cx="4754880" cy="274320"/>
          </a:xfrm>
          <a:prstGeom prst="rect">
            <a:avLst/>
          </a:prstGeom>
          <a:noFill/>
          <a:ln/>
        </p:spPr>
        <p:txBody>
          <a:bodyPr wrap="square" rtlCol="0" anchor="ctr"/>
          <a:lstStyle/>
          <a:p>
            <a:pPr marL="0" indent="0">
              <a:buNone/>
            </a:pPr>
            <a:r>
              <a:rPr lang="en-US" sz="1000" i="1" dirty="0">
                <a:solidFill>
                  <a:srgbClr val="0097A7"/>
                </a:solidFill>
                <a:latin typeface="Arial" pitchFamily="34" charset="0"/>
                <a:ea typeface="Arial" pitchFamily="34" charset="-122"/>
                <a:cs typeface="Arial" pitchFamily="34" charset="-120"/>
              </a:rPr>
              <a:t>1,250+ transactional records</a:t>
            </a:r>
            <a:endParaRPr lang="en-US" sz="1000" dirty="0"/>
          </a:p>
        </p:txBody>
      </p:sp>
      <p:sp>
        <p:nvSpPr>
          <p:cNvPr id="9" name="Text 7"/>
          <p:cNvSpPr/>
          <p:nvPr/>
        </p:nvSpPr>
        <p:spPr>
          <a:xfrm>
            <a:off x="914400" y="2423160"/>
            <a:ext cx="4754880" cy="1005840"/>
          </a:xfrm>
          <a:prstGeom prst="rect">
            <a:avLst/>
          </a:prstGeom>
          <a:noFill/>
          <a:ln/>
        </p:spPr>
        <p:txBody>
          <a:bodyPr wrap="square" rtlCol="0" anchor="ctr"/>
          <a:lstStyle/>
          <a:p>
            <a:pPr marL="0" indent="0">
              <a:lnSpc>
                <a:spcPct val="130000"/>
              </a:lnSpc>
              <a:buNone/>
            </a:pPr>
            <a:r>
              <a:rPr lang="en-US" sz="1000" dirty="0">
                <a:solidFill>
                  <a:srgbClr val="333333"/>
                </a:solidFill>
                <a:latin typeface="Arial" pitchFamily="34" charset="0"/>
                <a:ea typeface="Arial" pitchFamily="34" charset="-122"/>
                <a:cs typeface="Arial" pitchFamily="34" charset="-120"/>
              </a:rPr>
              <a:t>Order ID, Order Date, Ship Date, Customer ID, Product ID, Sales, Cost, Quantity, Discount, Segment, Ship Mode</a:t>
            </a:r>
            <a:endParaRPr lang="en-US" sz="1000" dirty="0"/>
          </a:p>
        </p:txBody>
      </p:sp>
      <p:sp>
        <p:nvSpPr>
          <p:cNvPr id="10" name="Shape 8"/>
          <p:cNvSpPr/>
          <p:nvPr/>
        </p:nvSpPr>
        <p:spPr>
          <a:xfrm>
            <a:off x="640080" y="3840480"/>
            <a:ext cx="5212080" cy="1920240"/>
          </a:xfrm>
          <a:prstGeom prst="roundRect">
            <a:avLst>
              <a:gd name="adj" fmla="val 4762"/>
            </a:avLst>
          </a:prstGeom>
          <a:solidFill>
            <a:srgbClr val="F5F5F5"/>
          </a:solidFill>
          <a:ln/>
        </p:spPr>
      </p:sp>
      <p:sp>
        <p:nvSpPr>
          <p:cNvPr id="11" name="Shape 9"/>
          <p:cNvSpPr/>
          <p:nvPr/>
        </p:nvSpPr>
        <p:spPr>
          <a:xfrm>
            <a:off x="640080" y="3840480"/>
            <a:ext cx="73152" cy="1920240"/>
          </a:xfrm>
          <a:prstGeom prst="rect">
            <a:avLst/>
          </a:prstGeom>
          <a:solidFill>
            <a:srgbClr val="0097A7"/>
          </a:solidFill>
          <a:ln/>
        </p:spPr>
      </p:sp>
      <p:sp>
        <p:nvSpPr>
          <p:cNvPr id="12" name="Text 10"/>
          <p:cNvSpPr/>
          <p:nvPr/>
        </p:nvSpPr>
        <p:spPr>
          <a:xfrm>
            <a:off x="914400" y="3931920"/>
            <a:ext cx="4754880" cy="365760"/>
          </a:xfrm>
          <a:prstGeom prst="rect">
            <a:avLst/>
          </a:prstGeom>
          <a:noFill/>
          <a:ln/>
        </p:spPr>
        <p:txBody>
          <a:bodyPr wrap="square" rtlCol="0" anchor="ctr"/>
          <a:lstStyle/>
          <a:p>
            <a:pPr marL="0" indent="0">
              <a:buNone/>
            </a:pPr>
            <a:r>
              <a:rPr lang="en-US" sz="1400" b="1" dirty="0">
                <a:solidFill>
                  <a:srgbClr val="16213E"/>
                </a:solidFill>
                <a:latin typeface="Arial" pitchFamily="34" charset="0"/>
                <a:ea typeface="Arial" pitchFamily="34" charset="-122"/>
                <a:cs typeface="Arial" pitchFamily="34" charset="-120"/>
              </a:rPr>
              <a:t>Customers (Dimension)</a:t>
            </a:r>
            <a:endParaRPr lang="en-US" sz="1400" dirty="0"/>
          </a:p>
        </p:txBody>
      </p:sp>
      <p:sp>
        <p:nvSpPr>
          <p:cNvPr id="13" name="Text 11"/>
          <p:cNvSpPr/>
          <p:nvPr/>
        </p:nvSpPr>
        <p:spPr>
          <a:xfrm>
            <a:off x="914400" y="4297680"/>
            <a:ext cx="4754880" cy="274320"/>
          </a:xfrm>
          <a:prstGeom prst="rect">
            <a:avLst/>
          </a:prstGeom>
          <a:noFill/>
          <a:ln/>
        </p:spPr>
        <p:txBody>
          <a:bodyPr wrap="square" rtlCol="0" anchor="ctr"/>
          <a:lstStyle/>
          <a:p>
            <a:pPr marL="0" indent="0">
              <a:buNone/>
            </a:pPr>
            <a:r>
              <a:rPr lang="en-US" sz="1000" i="1" dirty="0">
                <a:solidFill>
                  <a:srgbClr val="0097A7"/>
                </a:solidFill>
                <a:latin typeface="Arial" pitchFamily="34" charset="0"/>
                <a:ea typeface="Arial" pitchFamily="34" charset="-122"/>
                <a:cs typeface="Arial" pitchFamily="34" charset="-120"/>
              </a:rPr>
              <a:t>85 customer records</a:t>
            </a:r>
            <a:endParaRPr lang="en-US" sz="1000" dirty="0"/>
          </a:p>
        </p:txBody>
      </p:sp>
      <p:sp>
        <p:nvSpPr>
          <p:cNvPr id="14" name="Text 12"/>
          <p:cNvSpPr/>
          <p:nvPr/>
        </p:nvSpPr>
        <p:spPr>
          <a:xfrm>
            <a:off x="914400" y="4617720"/>
            <a:ext cx="4754880" cy="1005840"/>
          </a:xfrm>
          <a:prstGeom prst="rect">
            <a:avLst/>
          </a:prstGeom>
          <a:noFill/>
          <a:ln/>
        </p:spPr>
        <p:txBody>
          <a:bodyPr wrap="square" rtlCol="0" anchor="ctr"/>
          <a:lstStyle/>
          <a:p>
            <a:pPr marL="0" indent="0">
              <a:lnSpc>
                <a:spcPct val="130000"/>
              </a:lnSpc>
              <a:buNone/>
            </a:pPr>
            <a:r>
              <a:rPr lang="en-US" sz="1000" dirty="0">
                <a:solidFill>
                  <a:srgbClr val="333333"/>
                </a:solidFill>
                <a:latin typeface="Arial" pitchFamily="34" charset="0"/>
                <a:ea typeface="Arial" pitchFamily="34" charset="-122"/>
                <a:cs typeface="Arial" pitchFamily="34" charset="-120"/>
              </a:rPr>
              <a:t>Customer ID, Customer Name, Segment, City, State, Region, Country</a:t>
            </a:r>
            <a:endParaRPr lang="en-US" sz="1000" dirty="0"/>
          </a:p>
        </p:txBody>
      </p:sp>
      <p:sp>
        <p:nvSpPr>
          <p:cNvPr id="15" name="Shape 13"/>
          <p:cNvSpPr/>
          <p:nvPr/>
        </p:nvSpPr>
        <p:spPr>
          <a:xfrm>
            <a:off x="6309360" y="1645920"/>
            <a:ext cx="5212080" cy="1920240"/>
          </a:xfrm>
          <a:prstGeom prst="roundRect">
            <a:avLst>
              <a:gd name="adj" fmla="val 4762"/>
            </a:avLst>
          </a:prstGeom>
          <a:solidFill>
            <a:srgbClr val="F5F5F5"/>
          </a:solidFill>
          <a:ln/>
        </p:spPr>
      </p:sp>
      <p:sp>
        <p:nvSpPr>
          <p:cNvPr id="16" name="Shape 14"/>
          <p:cNvSpPr/>
          <p:nvPr/>
        </p:nvSpPr>
        <p:spPr>
          <a:xfrm>
            <a:off x="6309360" y="1645920"/>
            <a:ext cx="73152" cy="1920240"/>
          </a:xfrm>
          <a:prstGeom prst="rect">
            <a:avLst/>
          </a:prstGeom>
          <a:solidFill>
            <a:srgbClr val="16213E"/>
          </a:solidFill>
          <a:ln/>
        </p:spPr>
      </p:sp>
      <p:sp>
        <p:nvSpPr>
          <p:cNvPr id="17" name="Text 15"/>
          <p:cNvSpPr/>
          <p:nvPr/>
        </p:nvSpPr>
        <p:spPr>
          <a:xfrm>
            <a:off x="6583680" y="1737360"/>
            <a:ext cx="4754880" cy="365760"/>
          </a:xfrm>
          <a:prstGeom prst="rect">
            <a:avLst/>
          </a:prstGeom>
          <a:noFill/>
          <a:ln/>
        </p:spPr>
        <p:txBody>
          <a:bodyPr wrap="square" rtlCol="0" anchor="ctr"/>
          <a:lstStyle/>
          <a:p>
            <a:pPr marL="0" indent="0">
              <a:buNone/>
            </a:pPr>
            <a:r>
              <a:rPr lang="en-US" sz="1400" b="1" dirty="0">
                <a:solidFill>
                  <a:srgbClr val="16213E"/>
                </a:solidFill>
                <a:latin typeface="Arial" pitchFamily="34" charset="0"/>
                <a:ea typeface="Arial" pitchFamily="34" charset="-122"/>
                <a:cs typeface="Arial" pitchFamily="34" charset="-120"/>
              </a:rPr>
              <a:t>Products (Dimension)</a:t>
            </a:r>
            <a:endParaRPr lang="en-US" sz="1400" dirty="0"/>
          </a:p>
        </p:txBody>
      </p:sp>
      <p:sp>
        <p:nvSpPr>
          <p:cNvPr id="18" name="Text 16"/>
          <p:cNvSpPr/>
          <p:nvPr/>
        </p:nvSpPr>
        <p:spPr>
          <a:xfrm>
            <a:off x="6583680" y="2103120"/>
            <a:ext cx="4754880" cy="274320"/>
          </a:xfrm>
          <a:prstGeom prst="rect">
            <a:avLst/>
          </a:prstGeom>
          <a:noFill/>
          <a:ln/>
        </p:spPr>
        <p:txBody>
          <a:bodyPr wrap="square" rtlCol="0" anchor="ctr"/>
          <a:lstStyle/>
          <a:p>
            <a:pPr marL="0" indent="0">
              <a:buNone/>
            </a:pPr>
            <a:r>
              <a:rPr lang="en-US" sz="1000" i="1" dirty="0">
                <a:solidFill>
                  <a:srgbClr val="0097A7"/>
                </a:solidFill>
                <a:latin typeface="Arial" pitchFamily="34" charset="0"/>
                <a:ea typeface="Arial" pitchFamily="34" charset="-122"/>
                <a:cs typeface="Arial" pitchFamily="34" charset="-120"/>
              </a:rPr>
              <a:t>Product catalog</a:t>
            </a:r>
            <a:endParaRPr lang="en-US" sz="1000" dirty="0"/>
          </a:p>
        </p:txBody>
      </p:sp>
      <p:sp>
        <p:nvSpPr>
          <p:cNvPr id="19" name="Text 17"/>
          <p:cNvSpPr/>
          <p:nvPr/>
        </p:nvSpPr>
        <p:spPr>
          <a:xfrm>
            <a:off x="6583680" y="2423160"/>
            <a:ext cx="4754880" cy="1005840"/>
          </a:xfrm>
          <a:prstGeom prst="rect">
            <a:avLst/>
          </a:prstGeom>
          <a:noFill/>
          <a:ln/>
        </p:spPr>
        <p:txBody>
          <a:bodyPr wrap="square" rtlCol="0" anchor="ctr"/>
          <a:lstStyle/>
          <a:p>
            <a:pPr marL="0" indent="0">
              <a:lnSpc>
                <a:spcPct val="130000"/>
              </a:lnSpc>
              <a:buNone/>
            </a:pPr>
            <a:r>
              <a:rPr lang="en-US" sz="1000" dirty="0">
                <a:solidFill>
                  <a:srgbClr val="333333"/>
                </a:solidFill>
                <a:latin typeface="Arial" pitchFamily="34" charset="0"/>
                <a:ea typeface="Arial" pitchFamily="34" charset="-122"/>
                <a:cs typeface="Arial" pitchFamily="34" charset="-120"/>
              </a:rPr>
              <a:t>Product ID, Product Name, Category, Sub-Category</a:t>
            </a:r>
            <a:endParaRPr lang="en-US" sz="1000" dirty="0"/>
          </a:p>
        </p:txBody>
      </p:sp>
      <p:sp>
        <p:nvSpPr>
          <p:cNvPr id="20" name="Shape 18"/>
          <p:cNvSpPr/>
          <p:nvPr/>
        </p:nvSpPr>
        <p:spPr>
          <a:xfrm>
            <a:off x="6309360" y="3840480"/>
            <a:ext cx="5212080" cy="1920240"/>
          </a:xfrm>
          <a:prstGeom prst="roundRect">
            <a:avLst>
              <a:gd name="adj" fmla="val 4762"/>
            </a:avLst>
          </a:prstGeom>
          <a:solidFill>
            <a:srgbClr val="F5F5F5"/>
          </a:solidFill>
          <a:ln/>
        </p:spPr>
      </p:sp>
      <p:sp>
        <p:nvSpPr>
          <p:cNvPr id="21" name="Shape 19"/>
          <p:cNvSpPr/>
          <p:nvPr/>
        </p:nvSpPr>
        <p:spPr>
          <a:xfrm>
            <a:off x="6309360" y="3840480"/>
            <a:ext cx="73152" cy="1920240"/>
          </a:xfrm>
          <a:prstGeom prst="rect">
            <a:avLst/>
          </a:prstGeom>
          <a:solidFill>
            <a:srgbClr val="2C5F2D"/>
          </a:solidFill>
          <a:ln/>
        </p:spPr>
      </p:sp>
      <p:sp>
        <p:nvSpPr>
          <p:cNvPr id="22" name="Text 20"/>
          <p:cNvSpPr/>
          <p:nvPr/>
        </p:nvSpPr>
        <p:spPr>
          <a:xfrm>
            <a:off x="6583680" y="3931920"/>
            <a:ext cx="4754880" cy="365760"/>
          </a:xfrm>
          <a:prstGeom prst="rect">
            <a:avLst/>
          </a:prstGeom>
          <a:noFill/>
          <a:ln/>
        </p:spPr>
        <p:txBody>
          <a:bodyPr wrap="square" rtlCol="0" anchor="ctr"/>
          <a:lstStyle/>
          <a:p>
            <a:pPr marL="0" indent="0">
              <a:buNone/>
            </a:pPr>
            <a:r>
              <a:rPr lang="en-US" sz="1400" b="1" dirty="0">
                <a:solidFill>
                  <a:srgbClr val="16213E"/>
                </a:solidFill>
                <a:latin typeface="Arial" pitchFamily="34" charset="0"/>
                <a:ea typeface="Arial" pitchFamily="34" charset="-122"/>
                <a:cs typeface="Arial" pitchFamily="34" charset="-120"/>
              </a:rPr>
              <a:t>DateTable (DAX Generated)</a:t>
            </a:r>
            <a:endParaRPr lang="en-US" sz="1400" dirty="0"/>
          </a:p>
        </p:txBody>
      </p:sp>
      <p:sp>
        <p:nvSpPr>
          <p:cNvPr id="23" name="Text 21"/>
          <p:cNvSpPr/>
          <p:nvPr/>
        </p:nvSpPr>
        <p:spPr>
          <a:xfrm>
            <a:off x="6583680" y="4297680"/>
            <a:ext cx="4754880" cy="274320"/>
          </a:xfrm>
          <a:prstGeom prst="rect">
            <a:avLst/>
          </a:prstGeom>
          <a:noFill/>
          <a:ln/>
        </p:spPr>
        <p:txBody>
          <a:bodyPr wrap="square" rtlCol="0" anchor="ctr"/>
          <a:lstStyle/>
          <a:p>
            <a:pPr marL="0" indent="0">
              <a:buNone/>
            </a:pPr>
            <a:r>
              <a:rPr lang="en-US" sz="1000" i="1" dirty="0">
                <a:solidFill>
                  <a:srgbClr val="0097A7"/>
                </a:solidFill>
                <a:latin typeface="Arial" pitchFamily="34" charset="0"/>
                <a:ea typeface="Arial" pitchFamily="34" charset="-122"/>
                <a:cs typeface="Arial" pitchFamily="34" charset="-120"/>
              </a:rPr>
              <a:t>Continuous calendar</a:t>
            </a:r>
            <a:endParaRPr lang="en-US" sz="1000" dirty="0"/>
          </a:p>
        </p:txBody>
      </p:sp>
      <p:sp>
        <p:nvSpPr>
          <p:cNvPr id="24" name="Text 22"/>
          <p:cNvSpPr/>
          <p:nvPr/>
        </p:nvSpPr>
        <p:spPr>
          <a:xfrm>
            <a:off x="6583680" y="4617720"/>
            <a:ext cx="4754880" cy="1005840"/>
          </a:xfrm>
          <a:prstGeom prst="rect">
            <a:avLst/>
          </a:prstGeom>
          <a:noFill/>
          <a:ln/>
        </p:spPr>
        <p:txBody>
          <a:bodyPr wrap="square" rtlCol="0" anchor="ctr"/>
          <a:lstStyle/>
          <a:p>
            <a:pPr marL="0" indent="0">
              <a:lnSpc>
                <a:spcPct val="130000"/>
              </a:lnSpc>
              <a:buNone/>
            </a:pPr>
            <a:r>
              <a:rPr lang="en-US" sz="1000" dirty="0">
                <a:solidFill>
                  <a:srgbClr val="333333"/>
                </a:solidFill>
                <a:latin typeface="Arial" pitchFamily="34" charset="0"/>
                <a:ea typeface="Arial" pitchFamily="34" charset="-122"/>
                <a:cs typeface="Arial" pitchFamily="34" charset="-120"/>
              </a:rPr>
              <a:t>Date, Year, Month Name, Month Number, Quarter, Day, Day Name, Week Number, Year-Month</a:t>
            </a:r>
            <a:endParaRPr lang="en-US" sz="1000" dirty="0"/>
          </a:p>
        </p:txBody>
      </p:sp>
      <p:sp>
        <p:nvSpPr>
          <p:cNvPr id="25" name="Text 23"/>
          <p:cNvSpPr/>
          <p:nvPr/>
        </p:nvSpPr>
        <p:spPr>
          <a:xfrm>
            <a:off x="640080" y="5943600"/>
            <a:ext cx="10881360" cy="365760"/>
          </a:xfrm>
          <a:prstGeom prst="rect">
            <a:avLst/>
          </a:prstGeom>
          <a:noFill/>
          <a:ln/>
        </p:spPr>
        <p:txBody>
          <a:bodyPr wrap="square" rtlCol="0" anchor="ctr"/>
          <a:lstStyle/>
          <a:p>
            <a:pPr marL="0" indent="0" algn="ctr">
              <a:buNone/>
            </a:pPr>
            <a:r>
              <a:rPr lang="en-US" sz="1100" b="1" dirty="0">
                <a:solidFill>
                  <a:srgbClr val="16213E"/>
                </a:solidFill>
                <a:latin typeface="Arial" pitchFamily="34" charset="0"/>
                <a:ea typeface="Arial" pitchFamily="34" charset="-122"/>
                <a:cs typeface="Arial" pitchFamily="34" charset="-120"/>
              </a:rPr>
              <a:t>Data Model: Clean Star Schema — Orders as central fact table connected to Customers, Products, and DateTable via one-to-many relationships</a:t>
            </a:r>
            <a:endParaRPr lang="en-US" sz="1100" dirty="0"/>
          </a:p>
        </p:txBody>
      </p:sp>
      <p:sp>
        <p:nvSpPr>
          <p:cNvPr id="26" name="Text 24"/>
          <p:cNvSpPr/>
          <p:nvPr/>
        </p:nvSpPr>
        <p:spPr>
          <a:xfrm>
            <a:off x="0" y="6446520"/>
            <a:ext cx="12161520" cy="320040"/>
          </a:xfrm>
          <a:prstGeom prst="rect">
            <a:avLst/>
          </a:prstGeom>
          <a:noFill/>
          <a:ln/>
        </p:spPr>
        <p:txBody>
          <a:bodyPr wrap="square" rtlCol="0" anchor="ctr"/>
          <a:lstStyle/>
          <a:p>
            <a:pPr marL="0" indent="0" algn="ctr">
              <a:buNone/>
            </a:pPr>
            <a:r>
              <a:rPr lang="en-US" sz="800" dirty="0">
                <a:solidFill>
                  <a:srgbClr val="CCCCCC"/>
                </a:solidFill>
                <a:latin typeface="Arial" pitchFamily="34" charset="0"/>
                <a:ea typeface="Arial" pitchFamily="34" charset="-122"/>
                <a:cs typeface="Arial" pitchFamily="34" charset="-120"/>
              </a:rPr>
              <a:t>Zuri Electronics Analysis  |  Oluwatoni Oladipo  |  5/16</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A2E"/>
        </a:solidFill>
        <a:effectLst/>
      </p:bgPr>
    </p:bg>
    <p:spTree>
      <p:nvGrpSpPr>
        <p:cNvPr id="1" name=""/>
        <p:cNvGrpSpPr/>
        <p:nvPr/>
      </p:nvGrpSpPr>
      <p:grpSpPr>
        <a:xfrm>
          <a:off x="0" y="0"/>
          <a:ext cx="0" cy="0"/>
          <a:chOff x="0" y="0"/>
          <a:chExt cx="0" cy="0"/>
        </a:xfrm>
      </p:grpSpPr>
      <p:sp>
        <p:nvSpPr>
          <p:cNvPr id="2" name="Text 0"/>
          <p:cNvSpPr/>
          <p:nvPr/>
        </p:nvSpPr>
        <p:spPr>
          <a:xfrm>
            <a:off x="640080" y="365760"/>
            <a:ext cx="7315200" cy="640080"/>
          </a:xfrm>
          <a:prstGeom prst="rect">
            <a:avLst/>
          </a:prstGeom>
          <a:noFill/>
          <a:ln/>
        </p:spPr>
        <p:txBody>
          <a:bodyPr wrap="square" rtlCol="0" anchor="ctr"/>
          <a:lstStyle/>
          <a:p>
            <a:pPr marL="0" indent="0">
              <a:buNone/>
            </a:pPr>
            <a:r>
              <a:rPr lang="en-US" sz="2800" b="1" dirty="0">
                <a:solidFill>
                  <a:srgbClr val="FFFFFF"/>
                </a:solidFill>
                <a:latin typeface="Arial" pitchFamily="34" charset="0"/>
                <a:ea typeface="Arial" pitchFamily="34" charset="-122"/>
                <a:cs typeface="Arial" pitchFamily="34" charset="-120"/>
              </a:rPr>
              <a:t>DATA CLEANING (POWER QUERY)</a:t>
            </a:r>
            <a:endParaRPr lang="en-US" sz="2800" dirty="0"/>
          </a:p>
        </p:txBody>
      </p:sp>
      <p:sp>
        <p:nvSpPr>
          <p:cNvPr id="3" name="Shape 1"/>
          <p:cNvSpPr/>
          <p:nvPr/>
        </p:nvSpPr>
        <p:spPr>
          <a:xfrm>
            <a:off x="640080" y="960120"/>
            <a:ext cx="3657600" cy="36576"/>
          </a:xfrm>
          <a:prstGeom prst="rect">
            <a:avLst/>
          </a:prstGeom>
          <a:solidFill>
            <a:srgbClr val="00CEC9"/>
          </a:solidFill>
          <a:ln/>
        </p:spPr>
      </p:sp>
      <p:sp>
        <p:nvSpPr>
          <p:cNvPr id="4" name="Text 2"/>
          <p:cNvSpPr/>
          <p:nvPr/>
        </p:nvSpPr>
        <p:spPr>
          <a:xfrm>
            <a:off x="640080" y="1097280"/>
            <a:ext cx="10881360" cy="365760"/>
          </a:xfrm>
          <a:prstGeom prst="rect">
            <a:avLst/>
          </a:prstGeom>
          <a:noFill/>
          <a:ln/>
        </p:spPr>
        <p:txBody>
          <a:bodyPr wrap="square" rtlCol="0" anchor="ctr"/>
          <a:lstStyle/>
          <a:p>
            <a:pPr marL="0" indent="0">
              <a:buNone/>
            </a:pPr>
            <a:r>
              <a:rPr lang="en-US" sz="1200" dirty="0">
                <a:solidFill>
                  <a:srgbClr val="CCCCCC"/>
                </a:solidFill>
                <a:latin typeface="Arial" pitchFamily="34" charset="0"/>
                <a:ea typeface="Arial" pitchFamily="34" charset="-122"/>
                <a:cs typeface="Arial" pitchFamily="34" charset="-120"/>
              </a:rPr>
              <a:t>Issues identified and resolved during the data cleaning process:</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645920"/>
          <a:ext cx="10881360" cy="2560320"/>
        </p:xfrm>
        <a:graphic>
          <a:graphicData uri="http://schemas.openxmlformats.org/drawingml/2006/table">
            <a:tbl>
              <a:tblPr/>
              <a:tblGrid>
                <a:gridCol w="27432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365760">
                <a:tc>
                  <a:txBody>
                    <a:bodyPr/>
                    <a:lstStyle/>
                    <a:p>
                      <a:pPr marL="0" indent="0">
                        <a:buNone/>
                      </a:pPr>
                      <a:r>
                        <a:rPr lang="en-US" sz="1000" b="1" dirty="0">
                          <a:solidFill>
                            <a:srgbClr val="FFFFFF"/>
                          </a:solidFill>
                          <a:latin typeface="Arial" pitchFamily="34" charset="0"/>
                          <a:ea typeface="Arial" pitchFamily="34" charset="-122"/>
                          <a:cs typeface="Arial" pitchFamily="34" charset="-120"/>
                        </a:rPr>
                        <a:t>Issue</a:t>
                      </a:r>
                      <a:endParaRPr lang="en-US" sz="10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0097A7"/>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Action Taken</a:t>
                      </a:r>
                      <a:endParaRPr lang="en-US" sz="10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0097A7"/>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Impact</a:t>
                      </a:r>
                      <a:endParaRPr lang="en-US" sz="10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0097A7"/>
                    </a:solidFill>
                  </a:tcPr>
                </a:tc>
                <a:extLst>
                  <a:ext uri="{0D108BD9-81ED-4DB2-BD59-A6C34878D82A}">
                    <a16:rowId xmlns:a16="http://schemas.microsoft.com/office/drawing/2014/main" val="10000"/>
                  </a:ext>
                </a:extLst>
              </a:tr>
              <a:tr h="365760">
                <a:tc>
                  <a:txBody>
                    <a:bodyPr/>
                    <a:lstStyle/>
                    <a:p>
                      <a:pPr marL="0" indent="0">
                        <a:buNone/>
                      </a:pPr>
                      <a:r>
                        <a:rPr lang="en-US" sz="1000" dirty="0">
                          <a:solidFill>
                            <a:srgbClr val="FFFFFF"/>
                          </a:solidFill>
                          <a:latin typeface="Arial" pitchFamily="34" charset="0"/>
                          <a:ea typeface="Arial" pitchFamily="34" charset="-122"/>
                          <a:cs typeface="Arial" pitchFamily="34" charset="-120"/>
                        </a:rPr>
                        <a:t>Duplicate Rows</a:t>
                      </a:r>
                      <a:endParaRPr lang="en-US" sz="10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tc>
                  <a:txBody>
                    <a:bodyPr/>
                    <a:lstStyle/>
                    <a:p>
                      <a:pPr marL="0" indent="0">
                        <a:buNone/>
                      </a:pPr>
                      <a:r>
                        <a:rPr lang="en-US" sz="1000" dirty="0">
                          <a:solidFill>
                            <a:srgbClr val="CCCCCC"/>
                          </a:solidFill>
                          <a:latin typeface="Arial" pitchFamily="34" charset="0"/>
                          <a:ea typeface="Arial" pitchFamily="34" charset="-122"/>
                          <a:cs typeface="Arial" pitchFamily="34" charset="-120"/>
                        </a:rPr>
                        <a:t>Removed from Orders table</a:t>
                      </a:r>
                      <a:endParaRPr lang="en-US" sz="10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tc>
                  <a:txBody>
                    <a:bodyPr/>
                    <a:lstStyle/>
                    <a:p>
                      <a:pPr marL="0" indent="0">
                        <a:buNone/>
                      </a:pPr>
                      <a:r>
                        <a:rPr lang="en-US" sz="1000" dirty="0">
                          <a:solidFill>
                            <a:srgbClr val="CCCCCC"/>
                          </a:solidFill>
                          <a:latin typeface="Arial" pitchFamily="34" charset="0"/>
                          <a:ea typeface="Arial" pitchFamily="34" charset="-122"/>
                          <a:cs typeface="Arial" pitchFamily="34" charset="-120"/>
                        </a:rPr>
                        <a:t>Prevented double-counting</a:t>
                      </a:r>
                      <a:endParaRPr lang="en-US" sz="10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extLst>
                  <a:ext uri="{0D108BD9-81ED-4DB2-BD59-A6C34878D82A}">
                    <a16:rowId xmlns:a16="http://schemas.microsoft.com/office/drawing/2014/main" val="10001"/>
                  </a:ext>
                </a:extLst>
              </a:tr>
              <a:tr h="365760">
                <a:tc>
                  <a:txBody>
                    <a:bodyPr/>
                    <a:lstStyle/>
                    <a:p>
                      <a:pPr marL="0" indent="0">
                        <a:buNone/>
                      </a:pPr>
                      <a:r>
                        <a:rPr lang="en-US" sz="1000" dirty="0">
                          <a:solidFill>
                            <a:srgbClr val="FFFFFF"/>
                          </a:solidFill>
                          <a:latin typeface="Arial" pitchFamily="34" charset="0"/>
                          <a:ea typeface="Arial" pitchFamily="34" charset="-122"/>
                          <a:cs typeface="Arial" pitchFamily="34" charset="-120"/>
                        </a:rPr>
                        <a:t>Null Region (2 rows)</a:t>
                      </a:r>
                      <a:endParaRPr lang="en-US" sz="10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tc>
                  <a:txBody>
                    <a:bodyPr/>
                    <a:lstStyle/>
                    <a:p>
                      <a:pPr marL="0" indent="0">
                        <a:buNone/>
                      </a:pPr>
                      <a:r>
                        <a:rPr lang="en-US" sz="1000" dirty="0">
                          <a:solidFill>
                            <a:srgbClr val="CCCCCC"/>
                          </a:solidFill>
                          <a:latin typeface="Arial" pitchFamily="34" charset="0"/>
                          <a:ea typeface="Arial" pitchFamily="34" charset="-122"/>
                          <a:cs typeface="Arial" pitchFamily="34" charset="-120"/>
                        </a:rPr>
                        <a:t>Filled using geographic patterns</a:t>
                      </a:r>
                      <a:endParaRPr lang="en-US" sz="10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tc>
                  <a:txBody>
                    <a:bodyPr/>
                    <a:lstStyle/>
                    <a:p>
                      <a:pPr marL="0" indent="0">
                        <a:buNone/>
                      </a:pPr>
                      <a:r>
                        <a:rPr lang="en-US" sz="1000" dirty="0">
                          <a:solidFill>
                            <a:srgbClr val="CCCCCC"/>
                          </a:solidFill>
                          <a:latin typeface="Arial" pitchFamily="34" charset="0"/>
                          <a:ea typeface="Arial" pitchFamily="34" charset="-122"/>
                          <a:cs typeface="Arial" pitchFamily="34" charset="-120"/>
                        </a:rPr>
                        <a:t>Complete regional analysis</a:t>
                      </a:r>
                      <a:endParaRPr lang="en-US" sz="10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extLst>
                  <a:ext uri="{0D108BD9-81ED-4DB2-BD59-A6C34878D82A}">
                    <a16:rowId xmlns:a16="http://schemas.microsoft.com/office/drawing/2014/main" val="10002"/>
                  </a:ext>
                </a:extLst>
              </a:tr>
              <a:tr h="365760">
                <a:tc>
                  <a:txBody>
                    <a:bodyPr/>
                    <a:lstStyle/>
                    <a:p>
                      <a:pPr marL="0" indent="0">
                        <a:buNone/>
                      </a:pPr>
                      <a:r>
                        <a:rPr lang="en-US" sz="1000" dirty="0">
                          <a:solidFill>
                            <a:srgbClr val="FFFFFF"/>
                          </a:solidFill>
                          <a:latin typeface="Arial" pitchFamily="34" charset="0"/>
                          <a:ea typeface="Arial" pitchFamily="34" charset="-122"/>
                          <a:cs typeface="Arial" pitchFamily="34" charset="-120"/>
                        </a:rPr>
                        <a:t>Null City (4 rows)</a:t>
                      </a:r>
                      <a:endParaRPr lang="en-US" sz="10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tc>
                  <a:txBody>
                    <a:bodyPr/>
                    <a:lstStyle/>
                    <a:p>
                      <a:pPr marL="0" indent="0">
                        <a:buNone/>
                      </a:pPr>
                      <a:r>
                        <a:rPr lang="en-US" sz="1000" dirty="0">
                          <a:solidFill>
                            <a:srgbClr val="CCCCCC"/>
                          </a:solidFill>
                          <a:latin typeface="Arial" pitchFamily="34" charset="0"/>
                          <a:ea typeface="Arial" pitchFamily="34" charset="-122"/>
                          <a:cs typeface="Arial" pitchFamily="34" charset="-120"/>
                        </a:rPr>
                        <a:t>Filled using State + Region mapping</a:t>
                      </a:r>
                      <a:endParaRPr lang="en-US" sz="10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tc>
                  <a:txBody>
                    <a:bodyPr/>
                    <a:lstStyle/>
                    <a:p>
                      <a:pPr marL="0" indent="0">
                        <a:buNone/>
                      </a:pPr>
                      <a:r>
                        <a:rPr lang="en-US" sz="1000" dirty="0">
                          <a:solidFill>
                            <a:srgbClr val="CCCCCC"/>
                          </a:solidFill>
                          <a:latin typeface="Arial" pitchFamily="34" charset="0"/>
                          <a:ea typeface="Arial" pitchFamily="34" charset="-122"/>
                          <a:cs typeface="Arial" pitchFamily="34" charset="-120"/>
                        </a:rPr>
                        <a:t>Complete geographic data</a:t>
                      </a:r>
                      <a:endParaRPr lang="en-US" sz="10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extLst>
                  <a:ext uri="{0D108BD9-81ED-4DB2-BD59-A6C34878D82A}">
                    <a16:rowId xmlns:a16="http://schemas.microsoft.com/office/drawing/2014/main" val="10003"/>
                  </a:ext>
                </a:extLst>
              </a:tr>
              <a:tr h="365760">
                <a:tc>
                  <a:txBody>
                    <a:bodyPr/>
                    <a:lstStyle/>
                    <a:p>
                      <a:pPr marL="0" indent="0">
                        <a:buNone/>
                      </a:pPr>
                      <a:r>
                        <a:rPr lang="en-US" sz="1000" dirty="0">
                          <a:solidFill>
                            <a:srgbClr val="FFFFFF"/>
                          </a:solidFill>
                          <a:latin typeface="Arial" pitchFamily="34" charset="0"/>
                          <a:ea typeface="Arial" pitchFamily="34" charset="-122"/>
                          <a:cs typeface="Arial" pitchFamily="34" charset="-120"/>
                        </a:rPr>
                        <a:t>Null Discount</a:t>
                      </a:r>
                      <a:endParaRPr lang="en-US" sz="10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tc>
                  <a:txBody>
                    <a:bodyPr/>
                    <a:lstStyle/>
                    <a:p>
                      <a:pPr marL="0" indent="0">
                        <a:buNone/>
                      </a:pPr>
                      <a:r>
                        <a:rPr lang="en-US" sz="1000" dirty="0">
                          <a:solidFill>
                            <a:srgbClr val="CCCCCC"/>
                          </a:solidFill>
                          <a:latin typeface="Arial" pitchFamily="34" charset="0"/>
                          <a:ea typeface="Arial" pitchFamily="34" charset="-122"/>
                          <a:cs typeface="Arial" pitchFamily="34" charset="-120"/>
                        </a:rPr>
                        <a:t>Replaced with 0 (no discount)</a:t>
                      </a:r>
                      <a:endParaRPr lang="en-US" sz="10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tc>
                  <a:txBody>
                    <a:bodyPr/>
                    <a:lstStyle/>
                    <a:p>
                      <a:pPr marL="0" indent="0">
                        <a:buNone/>
                      </a:pPr>
                      <a:r>
                        <a:rPr lang="en-US" sz="1000" dirty="0">
                          <a:solidFill>
                            <a:srgbClr val="CCCCCC"/>
                          </a:solidFill>
                          <a:latin typeface="Arial" pitchFamily="34" charset="0"/>
                          <a:ea typeface="Arial" pitchFamily="34" charset="-122"/>
                          <a:cs typeface="Arial" pitchFamily="34" charset="-120"/>
                        </a:rPr>
                        <a:t>Discount Band column works</a:t>
                      </a:r>
                      <a:endParaRPr lang="en-US" sz="10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extLst>
                  <a:ext uri="{0D108BD9-81ED-4DB2-BD59-A6C34878D82A}">
                    <a16:rowId xmlns:a16="http://schemas.microsoft.com/office/drawing/2014/main" val="10004"/>
                  </a:ext>
                </a:extLst>
              </a:tr>
              <a:tr h="365760">
                <a:tc>
                  <a:txBody>
                    <a:bodyPr/>
                    <a:lstStyle/>
                    <a:p>
                      <a:pPr marL="0" indent="0">
                        <a:buNone/>
                      </a:pPr>
                      <a:r>
                        <a:rPr lang="en-US" sz="1000" dirty="0">
                          <a:solidFill>
                            <a:srgbClr val="FFFFFF"/>
                          </a:solidFill>
                          <a:latin typeface="Arial" pitchFamily="34" charset="0"/>
                          <a:ea typeface="Arial" pitchFamily="34" charset="-122"/>
                          <a:cs typeface="Arial" pitchFamily="34" charset="-120"/>
                        </a:rPr>
                        <a:t>Null Cost (46 rows / 3.6%)</a:t>
                      </a:r>
                      <a:endParaRPr lang="en-US" sz="10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tc>
                  <a:txBody>
                    <a:bodyPr/>
                    <a:lstStyle/>
                    <a:p>
                      <a:pPr marL="0" indent="0">
                        <a:buNone/>
                      </a:pPr>
                      <a:r>
                        <a:rPr lang="en-US" sz="1000" dirty="0">
                          <a:solidFill>
                            <a:srgbClr val="CCCCCC"/>
                          </a:solidFill>
                          <a:latin typeface="Arial" pitchFamily="34" charset="0"/>
                          <a:ea typeface="Arial" pitchFamily="34" charset="-122"/>
                          <a:cs typeface="Arial" pitchFamily="34" charset="-120"/>
                        </a:rPr>
                        <a:t>Retained as null (documented)</a:t>
                      </a:r>
                      <a:endParaRPr lang="en-US" sz="10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tc>
                  <a:txBody>
                    <a:bodyPr/>
                    <a:lstStyle/>
                    <a:p>
                      <a:pPr marL="0" indent="0">
                        <a:buNone/>
                      </a:pPr>
                      <a:r>
                        <a:rPr lang="en-US" sz="1000" dirty="0">
                          <a:solidFill>
                            <a:srgbClr val="CCCCCC"/>
                          </a:solidFill>
                          <a:latin typeface="Arial" pitchFamily="34" charset="0"/>
                          <a:ea typeface="Arial" pitchFamily="34" charset="-122"/>
                          <a:cs typeface="Arial" pitchFamily="34" charset="-120"/>
                        </a:rPr>
                        <a:t>Data integrity preserved</a:t>
                      </a:r>
                      <a:endParaRPr lang="en-US" sz="10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extLst>
                  <a:ext uri="{0D108BD9-81ED-4DB2-BD59-A6C34878D82A}">
                    <a16:rowId xmlns:a16="http://schemas.microsoft.com/office/drawing/2014/main" val="10005"/>
                  </a:ext>
                </a:extLst>
              </a:tr>
              <a:tr h="365760">
                <a:tc>
                  <a:txBody>
                    <a:bodyPr/>
                    <a:lstStyle/>
                    <a:p>
                      <a:pPr marL="0" indent="0">
                        <a:buNone/>
                      </a:pPr>
                      <a:r>
                        <a:rPr lang="en-US" sz="1000" dirty="0">
                          <a:solidFill>
                            <a:srgbClr val="FFFFFF"/>
                          </a:solidFill>
                          <a:latin typeface="Arial" pitchFamily="34" charset="0"/>
                          <a:ea typeface="Arial" pitchFamily="34" charset="-122"/>
                          <a:cs typeface="Arial" pitchFamily="34" charset="-120"/>
                        </a:rPr>
                        <a:t>Null Ship Date</a:t>
                      </a:r>
                      <a:endParaRPr lang="en-US" sz="10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tc>
                  <a:txBody>
                    <a:bodyPr/>
                    <a:lstStyle/>
                    <a:p>
                      <a:pPr marL="0" indent="0">
                        <a:buNone/>
                      </a:pPr>
                      <a:r>
                        <a:rPr lang="en-US" sz="1000" dirty="0">
                          <a:solidFill>
                            <a:srgbClr val="CCCCCC"/>
                          </a:solidFill>
                          <a:latin typeface="Arial" pitchFamily="34" charset="0"/>
                          <a:ea typeface="Arial" pitchFamily="34" charset="-122"/>
                          <a:cs typeface="Arial" pitchFamily="34" charset="-120"/>
                        </a:rPr>
                        <a:t>Treated as pending shipment</a:t>
                      </a:r>
                      <a:endParaRPr lang="en-US" sz="10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tc>
                  <a:txBody>
                    <a:bodyPr/>
                    <a:lstStyle/>
                    <a:p>
                      <a:pPr marL="0" indent="0">
                        <a:buNone/>
                      </a:pPr>
                      <a:r>
                        <a:rPr lang="en-US" sz="1000" dirty="0">
                          <a:solidFill>
                            <a:srgbClr val="CCCCCC"/>
                          </a:solidFill>
                          <a:latin typeface="Arial" pitchFamily="34" charset="0"/>
                          <a:ea typeface="Arial" pitchFamily="34" charset="-122"/>
                          <a:cs typeface="Arial" pitchFamily="34" charset="-120"/>
                        </a:rPr>
                        <a:t>Shipped Status column created</a:t>
                      </a:r>
                      <a:endParaRPr lang="en-US" sz="10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extLst>
                  <a:ext uri="{0D108BD9-81ED-4DB2-BD59-A6C34878D82A}">
                    <a16:rowId xmlns:a16="http://schemas.microsoft.com/office/drawing/2014/main" val="10006"/>
                  </a:ext>
                </a:extLst>
              </a:tr>
            </a:tbl>
          </a:graphicData>
        </a:graphic>
      </p:graphicFrame>
      <p:sp>
        <p:nvSpPr>
          <p:cNvPr id="6" name="Text 3"/>
          <p:cNvSpPr/>
          <p:nvPr/>
        </p:nvSpPr>
        <p:spPr>
          <a:xfrm>
            <a:off x="0" y="6446520"/>
            <a:ext cx="12161520" cy="320040"/>
          </a:xfrm>
          <a:prstGeom prst="rect">
            <a:avLst/>
          </a:prstGeom>
          <a:noFill/>
          <a:ln/>
        </p:spPr>
        <p:txBody>
          <a:bodyPr wrap="square" rtlCol="0" anchor="ctr"/>
          <a:lstStyle/>
          <a:p>
            <a:pPr marL="0" indent="0" algn="ctr">
              <a:buNone/>
            </a:pPr>
            <a:r>
              <a:rPr lang="en-US" sz="800" dirty="0">
                <a:solidFill>
                  <a:srgbClr val="CCCCCC"/>
                </a:solidFill>
                <a:latin typeface="Arial" pitchFamily="34" charset="0"/>
                <a:ea typeface="Arial" pitchFamily="34" charset="-122"/>
                <a:cs typeface="Arial" pitchFamily="34" charset="-120"/>
              </a:rPr>
              <a:t>Zuri Electronics Analysis  |  Oluwatoni Oladipo  |  6/16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7315200" cy="640080"/>
          </a:xfrm>
          <a:prstGeom prst="rect">
            <a:avLst/>
          </a:prstGeom>
          <a:noFill/>
          <a:ln/>
        </p:spPr>
        <p:txBody>
          <a:bodyPr wrap="square" rtlCol="0" anchor="ctr"/>
          <a:lstStyle/>
          <a:p>
            <a:pPr marL="0" indent="0">
              <a:buNone/>
            </a:pPr>
            <a:r>
              <a:rPr lang="en-US" sz="2800" b="1" dirty="0">
                <a:solidFill>
                  <a:srgbClr val="16213E"/>
                </a:solidFill>
                <a:latin typeface="Arial" pitchFamily="34" charset="0"/>
                <a:ea typeface="Arial" pitchFamily="34" charset="-122"/>
                <a:cs typeface="Arial" pitchFamily="34" charset="-120"/>
              </a:rPr>
              <a:t>NULL VALUE RESOLUTION</a:t>
            </a:r>
            <a:endParaRPr lang="en-US" sz="2800" dirty="0"/>
          </a:p>
        </p:txBody>
      </p:sp>
      <p:sp>
        <p:nvSpPr>
          <p:cNvPr id="3" name="Shape 1"/>
          <p:cNvSpPr/>
          <p:nvPr/>
        </p:nvSpPr>
        <p:spPr>
          <a:xfrm>
            <a:off x="640080" y="914400"/>
            <a:ext cx="3657600" cy="36576"/>
          </a:xfrm>
          <a:prstGeom prst="rect">
            <a:avLst/>
          </a:prstGeom>
          <a:solidFill>
            <a:srgbClr val="00CEC9"/>
          </a:solidFill>
          <a:ln/>
        </p:spPr>
      </p:sp>
      <p:sp>
        <p:nvSpPr>
          <p:cNvPr id="4" name="Text 2"/>
          <p:cNvSpPr/>
          <p:nvPr/>
        </p:nvSpPr>
        <p:spPr>
          <a:xfrm>
            <a:off x="640080" y="1188720"/>
            <a:ext cx="5486400" cy="365760"/>
          </a:xfrm>
          <a:prstGeom prst="rect">
            <a:avLst/>
          </a:prstGeom>
          <a:noFill/>
          <a:ln/>
        </p:spPr>
        <p:txBody>
          <a:bodyPr wrap="square" rtlCol="0" anchor="ctr"/>
          <a:lstStyle/>
          <a:p>
            <a:pPr marL="0" indent="0">
              <a:buNone/>
            </a:pPr>
            <a:r>
              <a:rPr lang="en-US" sz="1600" b="1" dirty="0">
                <a:solidFill>
                  <a:srgbClr val="0097A7"/>
                </a:solidFill>
                <a:latin typeface="Arial" pitchFamily="34" charset="0"/>
                <a:ea typeface="Arial" pitchFamily="34" charset="-122"/>
                <a:cs typeface="Arial" pitchFamily="34" charset="-120"/>
              </a:rPr>
              <a:t>Region Null Values (2 rows)</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645920"/>
          <a:ext cx="10881360" cy="731520"/>
        </p:xfrm>
        <a:graphic>
          <a:graphicData uri="http://schemas.openxmlformats.org/drawingml/2006/table">
            <a:tbl>
              <a:tblPr/>
              <a:tblGrid>
                <a:gridCol w="13716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4572000">
                  <a:extLst>
                    <a:ext uri="{9D8B030D-6E8A-4147-A177-3AD203B41FA5}">
                      <a16:colId xmlns:a16="http://schemas.microsoft.com/office/drawing/2014/main" val="20004"/>
                    </a:ext>
                  </a:extLst>
                </a:gridCol>
              </a:tblGrid>
              <a:tr h="0">
                <a:tc>
                  <a:txBody>
                    <a:bodyPr/>
                    <a:lstStyle/>
                    <a:p>
                      <a:pPr marL="0" indent="0">
                        <a:buNone/>
                      </a:pPr>
                      <a:r>
                        <a:rPr lang="en-US" sz="1000" b="1" dirty="0">
                          <a:solidFill>
                            <a:srgbClr val="FFFFFF"/>
                          </a:solidFill>
                          <a:latin typeface="Arial" pitchFamily="34" charset="0"/>
                          <a:ea typeface="Arial" pitchFamily="34" charset="-122"/>
                          <a:cs typeface="Arial" pitchFamily="34" charset="-120"/>
                        </a:rPr>
                        <a:t>CustomerID</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6213E"/>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City</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6213E"/>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State</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6213E"/>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Region (Fixed)</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6213E"/>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Logic</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6213E"/>
                    </a:solidFill>
                  </a:tcPr>
                </a:tc>
                <a:extLst>
                  <a:ext uri="{0D108BD9-81ED-4DB2-BD59-A6C34878D82A}">
                    <a16:rowId xmlns:a16="http://schemas.microsoft.com/office/drawing/2014/main" val="10000"/>
                  </a:ext>
                </a:extLst>
              </a:tr>
              <a:tr h="0">
                <a:tc>
                  <a:txBody>
                    <a:bodyPr/>
                    <a:lstStyle/>
                    <a:p>
                      <a:pPr marL="0" indent="0">
                        <a:buNone/>
                      </a:pPr>
                      <a:r>
                        <a:rPr lang="en-US" sz="1000" dirty="0">
                          <a:solidFill>
                            <a:srgbClr val="000000"/>
                          </a:solidFill>
                          <a:latin typeface="Arial" pitchFamily="34" charset="0"/>
                          <a:ea typeface="Arial" pitchFamily="34" charset="-122"/>
                          <a:cs typeface="Arial" pitchFamily="34" charset="-120"/>
                        </a:rPr>
                        <a:t>C008</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New York</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New York</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b="1" dirty="0">
                          <a:solidFill>
                            <a:srgbClr val="27AE60"/>
                          </a:solidFill>
                          <a:latin typeface="Arial" pitchFamily="34" charset="0"/>
                          <a:ea typeface="Arial" pitchFamily="34" charset="-122"/>
                          <a:cs typeface="Arial" pitchFamily="34" charset="-120"/>
                        </a:rPr>
                        <a:t>East</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East coast state (like MA, PA, GA)</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000" dirty="0">
                          <a:solidFill>
                            <a:srgbClr val="000000"/>
                          </a:solidFill>
                          <a:latin typeface="Arial" pitchFamily="34" charset="0"/>
                          <a:ea typeface="Arial" pitchFamily="34" charset="-122"/>
                          <a:cs typeface="Arial" pitchFamily="34" charset="-120"/>
                        </a:rPr>
                        <a:t>C014</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Columbus</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Ohio</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b="1" dirty="0">
                          <a:solidFill>
                            <a:srgbClr val="27AE60"/>
                          </a:solidFill>
                          <a:latin typeface="Arial" pitchFamily="34" charset="0"/>
                          <a:ea typeface="Arial" pitchFamily="34" charset="-122"/>
                          <a:cs typeface="Arial" pitchFamily="34" charset="-120"/>
                        </a:rPr>
                        <a:t>Central</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Existing OH/Columbus = Central</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6" name="Text 3"/>
          <p:cNvSpPr/>
          <p:nvPr/>
        </p:nvSpPr>
        <p:spPr>
          <a:xfrm>
            <a:off x="640080" y="3108960"/>
            <a:ext cx="5486400" cy="365760"/>
          </a:xfrm>
          <a:prstGeom prst="rect">
            <a:avLst/>
          </a:prstGeom>
          <a:noFill/>
          <a:ln/>
        </p:spPr>
        <p:txBody>
          <a:bodyPr wrap="square" rtlCol="0" anchor="ctr"/>
          <a:lstStyle/>
          <a:p>
            <a:pPr marL="0" indent="0">
              <a:buNone/>
            </a:pPr>
            <a:r>
              <a:rPr lang="en-US" sz="1600" b="1" dirty="0">
                <a:solidFill>
                  <a:srgbClr val="0097A7"/>
                </a:solidFill>
                <a:latin typeface="Arial" pitchFamily="34" charset="0"/>
                <a:ea typeface="Arial" pitchFamily="34" charset="-122"/>
                <a:cs typeface="Arial" pitchFamily="34" charset="-120"/>
              </a:rPr>
              <a:t>City Null Values (4 rows)</a:t>
            </a:r>
            <a:endParaRPr lang="en-US" sz="160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640080" y="3566160"/>
          <a:ext cx="10881360" cy="1219200"/>
        </p:xfrm>
        <a:graphic>
          <a:graphicData uri="http://schemas.openxmlformats.org/drawingml/2006/table">
            <a:tbl>
              <a:tblPr/>
              <a:tblGrid>
                <a:gridCol w="13716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4023360">
                  <a:extLst>
                    <a:ext uri="{9D8B030D-6E8A-4147-A177-3AD203B41FA5}">
                      <a16:colId xmlns:a16="http://schemas.microsoft.com/office/drawing/2014/main" val="20003"/>
                    </a:ext>
                  </a:extLst>
                </a:gridCol>
              </a:tblGrid>
              <a:tr h="0">
                <a:tc>
                  <a:txBody>
                    <a:bodyPr/>
                    <a:lstStyle/>
                    <a:p>
                      <a:pPr marL="0" indent="0">
                        <a:buNone/>
                      </a:pPr>
                      <a:r>
                        <a:rPr lang="en-US" sz="1000" b="1" dirty="0">
                          <a:solidFill>
                            <a:srgbClr val="FFFFFF"/>
                          </a:solidFill>
                          <a:latin typeface="Arial" pitchFamily="34" charset="0"/>
                          <a:ea typeface="Arial" pitchFamily="34" charset="-122"/>
                          <a:cs typeface="Arial" pitchFamily="34" charset="-120"/>
                        </a:rPr>
                        <a:t>CustomerID</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6213E"/>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State</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6213E"/>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Region</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6213E"/>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City (Fixed)</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6213E"/>
                    </a:solidFill>
                  </a:tcPr>
                </a:tc>
                <a:extLst>
                  <a:ext uri="{0D108BD9-81ED-4DB2-BD59-A6C34878D82A}">
                    <a16:rowId xmlns:a16="http://schemas.microsoft.com/office/drawing/2014/main" val="10000"/>
                  </a:ext>
                </a:extLst>
              </a:tr>
              <a:tr h="0">
                <a:tc>
                  <a:txBody>
                    <a:bodyPr/>
                    <a:lstStyle/>
                    <a:p>
                      <a:pPr marL="0" indent="0">
                        <a:buNone/>
                      </a:pPr>
                      <a:r>
                        <a:rPr lang="en-US" sz="1000" dirty="0">
                          <a:solidFill>
                            <a:srgbClr val="333333"/>
                          </a:solidFill>
                          <a:latin typeface="Arial" pitchFamily="34" charset="0"/>
                          <a:ea typeface="Arial" pitchFamily="34" charset="-122"/>
                          <a:cs typeface="Arial" pitchFamily="34" charset="-120"/>
                        </a:rPr>
                        <a:t>C005</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333333"/>
                          </a:solidFill>
                          <a:latin typeface="Arial" pitchFamily="34" charset="0"/>
                          <a:ea typeface="Arial" pitchFamily="34" charset="-122"/>
                          <a:cs typeface="Arial" pitchFamily="34" charset="-120"/>
                        </a:rPr>
                        <a:t>Florida</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333333"/>
                          </a:solidFill>
                          <a:latin typeface="Arial" pitchFamily="34" charset="0"/>
                          <a:ea typeface="Arial" pitchFamily="34" charset="-122"/>
                          <a:cs typeface="Arial" pitchFamily="34" charset="-120"/>
                        </a:rPr>
                        <a:t>East</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b="1" dirty="0">
                          <a:solidFill>
                            <a:srgbClr val="27AE60"/>
                          </a:solidFill>
                          <a:latin typeface="Arial" pitchFamily="34" charset="0"/>
                          <a:ea typeface="Arial" pitchFamily="34" charset="-122"/>
                          <a:cs typeface="Arial" pitchFamily="34" charset="-120"/>
                        </a:rPr>
                        <a:t>Miami</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000" dirty="0">
                          <a:solidFill>
                            <a:srgbClr val="333333"/>
                          </a:solidFill>
                          <a:latin typeface="Arial" pitchFamily="34" charset="0"/>
                          <a:ea typeface="Arial" pitchFamily="34" charset="-122"/>
                          <a:cs typeface="Arial" pitchFamily="34" charset="-120"/>
                        </a:rPr>
                        <a:t>C021</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333333"/>
                          </a:solidFill>
                          <a:latin typeface="Arial" pitchFamily="34" charset="0"/>
                          <a:ea typeface="Arial" pitchFamily="34" charset="-122"/>
                          <a:cs typeface="Arial" pitchFamily="34" charset="-120"/>
                        </a:rPr>
                        <a:t>Texas</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333333"/>
                          </a:solidFill>
                          <a:latin typeface="Arial" pitchFamily="34" charset="0"/>
                          <a:ea typeface="Arial" pitchFamily="34" charset="-122"/>
                          <a:cs typeface="Arial" pitchFamily="34" charset="-120"/>
                        </a:rPr>
                        <a:t>South</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b="1" dirty="0">
                          <a:solidFill>
                            <a:srgbClr val="27AE60"/>
                          </a:solidFill>
                          <a:latin typeface="Arial" pitchFamily="34" charset="0"/>
                          <a:ea typeface="Arial" pitchFamily="34" charset="-122"/>
                          <a:cs typeface="Arial" pitchFamily="34" charset="-120"/>
                        </a:rPr>
                        <a:t>Austin</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000" dirty="0">
                          <a:solidFill>
                            <a:srgbClr val="333333"/>
                          </a:solidFill>
                          <a:latin typeface="Arial" pitchFamily="34" charset="0"/>
                          <a:ea typeface="Arial" pitchFamily="34" charset="-122"/>
                          <a:cs typeface="Arial" pitchFamily="34" charset="-120"/>
                        </a:rPr>
                        <a:t>C062</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333333"/>
                          </a:solidFill>
                          <a:latin typeface="Arial" pitchFamily="34" charset="0"/>
                          <a:ea typeface="Arial" pitchFamily="34" charset="-122"/>
                          <a:cs typeface="Arial" pitchFamily="34" charset="-120"/>
                        </a:rPr>
                        <a:t>Florida</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333333"/>
                          </a:solidFill>
                          <a:latin typeface="Arial" pitchFamily="34" charset="0"/>
                          <a:ea typeface="Arial" pitchFamily="34" charset="-122"/>
                          <a:cs typeface="Arial" pitchFamily="34" charset="-120"/>
                        </a:rPr>
                        <a:t>South</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b="1" dirty="0">
                          <a:solidFill>
                            <a:srgbClr val="27AE60"/>
                          </a:solidFill>
                          <a:latin typeface="Arial" pitchFamily="34" charset="0"/>
                          <a:ea typeface="Arial" pitchFamily="34" charset="-122"/>
                          <a:cs typeface="Arial" pitchFamily="34" charset="-120"/>
                        </a:rPr>
                        <a:t>Orlando</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000" dirty="0">
                          <a:solidFill>
                            <a:srgbClr val="333333"/>
                          </a:solidFill>
                          <a:latin typeface="Arial" pitchFamily="34" charset="0"/>
                          <a:ea typeface="Arial" pitchFamily="34" charset="-122"/>
                          <a:cs typeface="Arial" pitchFamily="34" charset="-120"/>
                        </a:rPr>
                        <a:t>C067</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333333"/>
                          </a:solidFill>
                          <a:latin typeface="Arial" pitchFamily="34" charset="0"/>
                          <a:ea typeface="Arial" pitchFamily="34" charset="-122"/>
                          <a:cs typeface="Arial" pitchFamily="34" charset="-120"/>
                        </a:rPr>
                        <a:t>Pennsylvania</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333333"/>
                          </a:solidFill>
                          <a:latin typeface="Arial" pitchFamily="34" charset="0"/>
                          <a:ea typeface="Arial" pitchFamily="34" charset="-122"/>
                          <a:cs typeface="Arial" pitchFamily="34" charset="-120"/>
                        </a:rPr>
                        <a:t>East</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b="1" dirty="0">
                          <a:solidFill>
                            <a:srgbClr val="27AE60"/>
                          </a:solidFill>
                          <a:latin typeface="Arial" pitchFamily="34" charset="0"/>
                          <a:ea typeface="Arial" pitchFamily="34" charset="-122"/>
                          <a:cs typeface="Arial" pitchFamily="34" charset="-120"/>
                        </a:rPr>
                        <a:t>Philadelphia</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4"/>
          <p:cNvSpPr/>
          <p:nvPr/>
        </p:nvSpPr>
        <p:spPr>
          <a:xfrm>
            <a:off x="640080" y="5303520"/>
            <a:ext cx="10881360" cy="640080"/>
          </a:xfrm>
          <a:prstGeom prst="rect">
            <a:avLst/>
          </a:prstGeom>
          <a:noFill/>
          <a:ln/>
        </p:spPr>
        <p:txBody>
          <a:bodyPr wrap="square" rtlCol="0" anchor="ctr"/>
          <a:lstStyle/>
          <a:p>
            <a:pPr marL="0" indent="0">
              <a:lnSpc>
                <a:spcPct val="130000"/>
              </a:lnSpc>
              <a:buNone/>
            </a:pPr>
            <a:r>
              <a:rPr lang="en-US" sz="1100" dirty="0">
                <a:solidFill>
                  <a:srgbClr val="333333"/>
                </a:solidFill>
                <a:latin typeface="Arial" pitchFamily="34" charset="0"/>
                <a:ea typeface="Arial" pitchFamily="34" charset="-122"/>
                <a:cs typeface="Arial" pitchFamily="34" charset="-120"/>
              </a:rPr>
              <a:t>Method: Conditional custom columns in Power Query using if...then...else logic based on State + Region patterns discovered in the existing data. Region cleanup was performed before City cleanup since City values depend on Region.</a:t>
            </a:r>
            <a:endParaRPr lang="en-US" sz="1100" dirty="0"/>
          </a:p>
        </p:txBody>
      </p:sp>
      <p:sp>
        <p:nvSpPr>
          <p:cNvPr id="9" name="Text 5"/>
          <p:cNvSpPr/>
          <p:nvPr/>
        </p:nvSpPr>
        <p:spPr>
          <a:xfrm>
            <a:off x="0" y="6446520"/>
            <a:ext cx="12161520" cy="320040"/>
          </a:xfrm>
          <a:prstGeom prst="rect">
            <a:avLst/>
          </a:prstGeom>
          <a:noFill/>
          <a:ln/>
        </p:spPr>
        <p:txBody>
          <a:bodyPr wrap="square" rtlCol="0" anchor="ctr"/>
          <a:lstStyle/>
          <a:p>
            <a:pPr marL="0" indent="0" algn="ctr">
              <a:buNone/>
            </a:pPr>
            <a:r>
              <a:rPr lang="en-US" sz="800" dirty="0">
                <a:solidFill>
                  <a:srgbClr val="CCCCCC"/>
                </a:solidFill>
                <a:latin typeface="Arial" pitchFamily="34" charset="0"/>
                <a:ea typeface="Arial" pitchFamily="34" charset="-122"/>
                <a:cs typeface="Arial" pitchFamily="34" charset="-120"/>
              </a:rPr>
              <a:t>Zuri Electronics Analysis  |  Oluwatoni Oladipo  |  7/16</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A2E"/>
        </a:solidFill>
        <a:effectLst/>
      </p:bgPr>
    </p:bg>
    <p:spTree>
      <p:nvGrpSpPr>
        <p:cNvPr id="1" name=""/>
        <p:cNvGrpSpPr/>
        <p:nvPr/>
      </p:nvGrpSpPr>
      <p:grpSpPr>
        <a:xfrm>
          <a:off x="0" y="0"/>
          <a:ext cx="0" cy="0"/>
          <a:chOff x="0" y="0"/>
          <a:chExt cx="0" cy="0"/>
        </a:xfrm>
      </p:grpSpPr>
      <p:sp>
        <p:nvSpPr>
          <p:cNvPr id="2" name="Text 0"/>
          <p:cNvSpPr/>
          <p:nvPr/>
        </p:nvSpPr>
        <p:spPr>
          <a:xfrm>
            <a:off x="640080" y="365760"/>
            <a:ext cx="7315200" cy="640080"/>
          </a:xfrm>
          <a:prstGeom prst="rect">
            <a:avLst/>
          </a:prstGeom>
          <a:noFill/>
          <a:ln/>
        </p:spPr>
        <p:txBody>
          <a:bodyPr wrap="square" rtlCol="0" anchor="ctr"/>
          <a:lstStyle/>
          <a:p>
            <a:pPr marL="0" indent="0">
              <a:buNone/>
            </a:pPr>
            <a:r>
              <a:rPr lang="en-US" sz="2800" b="1" dirty="0">
                <a:solidFill>
                  <a:srgbClr val="FFFFFF"/>
                </a:solidFill>
                <a:latin typeface="Arial" pitchFamily="34" charset="0"/>
                <a:ea typeface="Arial" pitchFamily="34" charset="-122"/>
                <a:cs typeface="Arial" pitchFamily="34" charset="-120"/>
              </a:rPr>
              <a:t>COST &amp; DISCOUNT HANDLING</a:t>
            </a:r>
            <a:endParaRPr lang="en-US" sz="2800" dirty="0"/>
          </a:p>
        </p:txBody>
      </p:sp>
      <p:sp>
        <p:nvSpPr>
          <p:cNvPr id="3" name="Shape 1"/>
          <p:cNvSpPr/>
          <p:nvPr/>
        </p:nvSpPr>
        <p:spPr>
          <a:xfrm>
            <a:off x="640080" y="960120"/>
            <a:ext cx="3657600" cy="36576"/>
          </a:xfrm>
          <a:prstGeom prst="rect">
            <a:avLst/>
          </a:prstGeom>
          <a:solidFill>
            <a:srgbClr val="00CEC9"/>
          </a:solidFill>
          <a:ln/>
        </p:spPr>
      </p:sp>
      <p:sp>
        <p:nvSpPr>
          <p:cNvPr id="4" name="Shape 2"/>
          <p:cNvSpPr/>
          <p:nvPr/>
        </p:nvSpPr>
        <p:spPr>
          <a:xfrm>
            <a:off x="640080" y="1280160"/>
            <a:ext cx="5212080" cy="2560320"/>
          </a:xfrm>
          <a:prstGeom prst="roundRect">
            <a:avLst>
              <a:gd name="adj" fmla="val 3571"/>
            </a:avLst>
          </a:prstGeom>
          <a:solidFill>
            <a:srgbClr val="1E2A4A"/>
          </a:solidFill>
          <a:ln/>
        </p:spPr>
      </p:sp>
      <p:sp>
        <p:nvSpPr>
          <p:cNvPr id="5" name="Text 3"/>
          <p:cNvSpPr/>
          <p:nvPr/>
        </p:nvSpPr>
        <p:spPr>
          <a:xfrm>
            <a:off x="914400" y="1417320"/>
            <a:ext cx="4754880" cy="365760"/>
          </a:xfrm>
          <a:prstGeom prst="rect">
            <a:avLst/>
          </a:prstGeom>
          <a:noFill/>
          <a:ln/>
        </p:spPr>
        <p:txBody>
          <a:bodyPr wrap="square" rtlCol="0" anchor="ctr"/>
          <a:lstStyle/>
          <a:p>
            <a:pPr marL="0" indent="0">
              <a:buNone/>
            </a:pPr>
            <a:r>
              <a:rPr lang="en-US" sz="1600" b="1" dirty="0">
                <a:solidFill>
                  <a:srgbClr val="27AE60"/>
                </a:solidFill>
                <a:latin typeface="Arial" pitchFamily="34" charset="0"/>
                <a:ea typeface="Arial" pitchFamily="34" charset="-122"/>
                <a:cs typeface="Arial" pitchFamily="34" charset="-120"/>
              </a:rPr>
              <a:t>Null Discount Values</a:t>
            </a:r>
            <a:endParaRPr lang="en-US" sz="1600" dirty="0"/>
          </a:p>
        </p:txBody>
      </p:sp>
      <p:sp>
        <p:nvSpPr>
          <p:cNvPr id="6" name="Text 4"/>
          <p:cNvSpPr/>
          <p:nvPr/>
        </p:nvSpPr>
        <p:spPr>
          <a:xfrm>
            <a:off x="914400" y="1783080"/>
            <a:ext cx="4754880" cy="274320"/>
          </a:xfrm>
          <a:prstGeom prst="rect">
            <a:avLst/>
          </a:prstGeom>
          <a:noFill/>
          <a:ln/>
        </p:spPr>
        <p:txBody>
          <a:bodyPr wrap="square" rtlCol="0" anchor="ctr"/>
          <a:lstStyle/>
          <a:p>
            <a:pPr marL="0" indent="0">
              <a:buNone/>
            </a:pPr>
            <a:r>
              <a:rPr lang="en-US" sz="1100" b="1" dirty="0">
                <a:solidFill>
                  <a:srgbClr val="00CEC9"/>
                </a:solidFill>
                <a:latin typeface="Arial" pitchFamily="34" charset="0"/>
                <a:ea typeface="Arial" pitchFamily="34" charset="-122"/>
                <a:cs typeface="Arial" pitchFamily="34" charset="-120"/>
              </a:rPr>
              <a:t>REPLACED WITH 0</a:t>
            </a:r>
            <a:endParaRPr lang="en-US" sz="1100" dirty="0"/>
          </a:p>
        </p:txBody>
      </p:sp>
      <p:sp>
        <p:nvSpPr>
          <p:cNvPr id="7" name="Text 5"/>
          <p:cNvSpPr/>
          <p:nvPr/>
        </p:nvSpPr>
        <p:spPr>
          <a:xfrm>
            <a:off x="914400" y="2194560"/>
            <a:ext cx="4754880" cy="1188720"/>
          </a:xfrm>
          <a:prstGeom prst="rect">
            <a:avLst/>
          </a:prstGeom>
          <a:noFill/>
          <a:ln/>
        </p:spPr>
        <p:txBody>
          <a:bodyPr wrap="square" rtlCol="0" anchor="ctr"/>
          <a:lstStyle/>
          <a:p>
            <a:pPr marL="0" indent="0">
              <a:lnSpc>
                <a:spcPct val="140000"/>
              </a:lnSpc>
              <a:buNone/>
            </a:pPr>
            <a:r>
              <a:rPr lang="en-US" sz="1100" dirty="0">
                <a:solidFill>
                  <a:srgbClr val="CCCCCC"/>
                </a:solidFill>
                <a:latin typeface="Arial" pitchFamily="34" charset="0"/>
                <a:ea typeface="Arial" pitchFamily="34" charset="-122"/>
                <a:cs typeface="Arial" pitchFamily="34" charset="-120"/>
              </a:rPr>
              <a:t>A null discount most likely means no discount was applied. Replacing with 0 ensures the Discount Band calculated column functions correctly and no orders are excluded from discount-related analysis.</a:t>
            </a:r>
            <a:endParaRPr lang="en-US" sz="1100" dirty="0"/>
          </a:p>
        </p:txBody>
      </p:sp>
      <p:sp>
        <p:nvSpPr>
          <p:cNvPr id="8" name="Shape 6"/>
          <p:cNvSpPr/>
          <p:nvPr/>
        </p:nvSpPr>
        <p:spPr>
          <a:xfrm>
            <a:off x="6309360" y="1280160"/>
            <a:ext cx="5212080" cy="2560320"/>
          </a:xfrm>
          <a:prstGeom prst="roundRect">
            <a:avLst>
              <a:gd name="adj" fmla="val 3571"/>
            </a:avLst>
          </a:prstGeom>
          <a:solidFill>
            <a:srgbClr val="1E2A4A"/>
          </a:solidFill>
          <a:ln/>
        </p:spPr>
      </p:sp>
      <p:sp>
        <p:nvSpPr>
          <p:cNvPr id="9" name="Text 7"/>
          <p:cNvSpPr/>
          <p:nvPr/>
        </p:nvSpPr>
        <p:spPr>
          <a:xfrm>
            <a:off x="6583680" y="1417320"/>
            <a:ext cx="4754880" cy="365760"/>
          </a:xfrm>
          <a:prstGeom prst="rect">
            <a:avLst/>
          </a:prstGeom>
          <a:noFill/>
          <a:ln/>
        </p:spPr>
        <p:txBody>
          <a:bodyPr wrap="square" rtlCol="0" anchor="ctr"/>
          <a:lstStyle/>
          <a:p>
            <a:pPr marL="0" indent="0">
              <a:buNone/>
            </a:pPr>
            <a:r>
              <a:rPr lang="en-US" sz="1600" b="1" dirty="0">
                <a:solidFill>
                  <a:srgbClr val="E74C3C"/>
                </a:solidFill>
                <a:latin typeface="Arial" pitchFamily="34" charset="0"/>
                <a:ea typeface="Arial" pitchFamily="34" charset="-122"/>
                <a:cs typeface="Arial" pitchFamily="34" charset="-120"/>
              </a:rPr>
              <a:t>Null Cost Values (46 rows / 3.6%)</a:t>
            </a:r>
            <a:endParaRPr lang="en-US" sz="1600" dirty="0"/>
          </a:p>
        </p:txBody>
      </p:sp>
      <p:sp>
        <p:nvSpPr>
          <p:cNvPr id="10" name="Text 8"/>
          <p:cNvSpPr/>
          <p:nvPr/>
        </p:nvSpPr>
        <p:spPr>
          <a:xfrm>
            <a:off x="6583680" y="1783080"/>
            <a:ext cx="4754880" cy="274320"/>
          </a:xfrm>
          <a:prstGeom prst="rect">
            <a:avLst/>
          </a:prstGeom>
          <a:noFill/>
          <a:ln/>
        </p:spPr>
        <p:txBody>
          <a:bodyPr wrap="square" rtlCol="0" anchor="ctr"/>
          <a:lstStyle/>
          <a:p>
            <a:pPr marL="0" indent="0">
              <a:buNone/>
            </a:pPr>
            <a:r>
              <a:rPr lang="en-US" sz="1100" b="1" dirty="0">
                <a:solidFill>
                  <a:srgbClr val="F39C12"/>
                </a:solidFill>
                <a:latin typeface="Arial" pitchFamily="34" charset="0"/>
                <a:ea typeface="Arial" pitchFamily="34" charset="-122"/>
                <a:cs typeface="Arial" pitchFamily="34" charset="-120"/>
              </a:rPr>
              <a:t>RETAINED AS NULL</a:t>
            </a:r>
            <a:endParaRPr lang="en-US" sz="1100" dirty="0"/>
          </a:p>
        </p:txBody>
      </p:sp>
      <p:sp>
        <p:nvSpPr>
          <p:cNvPr id="11" name="Text 9"/>
          <p:cNvSpPr/>
          <p:nvPr/>
        </p:nvSpPr>
        <p:spPr>
          <a:xfrm>
            <a:off x="6583680" y="2194560"/>
            <a:ext cx="4754880" cy="1371600"/>
          </a:xfrm>
          <a:prstGeom prst="rect">
            <a:avLst/>
          </a:prstGeom>
          <a:noFill/>
          <a:ln/>
        </p:spPr>
        <p:txBody>
          <a:bodyPr wrap="square" rtlCol="0" anchor="ctr"/>
          <a:lstStyle/>
          <a:p>
            <a:pPr marL="0" indent="0">
              <a:lnSpc>
                <a:spcPct val="140000"/>
              </a:lnSpc>
              <a:buNone/>
            </a:pPr>
            <a:r>
              <a:rPr lang="en-US" sz="1100" dirty="0">
                <a:solidFill>
                  <a:srgbClr val="CCCCCC"/>
                </a:solidFill>
                <a:latin typeface="Arial" pitchFamily="34" charset="0"/>
                <a:ea typeface="Arial" pitchFamily="34" charset="-122"/>
                <a:cs typeface="Arial" pitchFamily="34" charset="-120"/>
              </a:rPr>
              <a:t>Setting Cost to 0 would inflate Profit to equal the full Sales amount for those rows, producing misleading results. No reliable imputation method was found — cost per unit varied from $67 to $710 for the same product. These rows are excluded from profit calculations; DAX functions automatically skip nulls.</a:t>
            </a:r>
            <a:endParaRPr lang="en-US" sz="1100" dirty="0"/>
          </a:p>
        </p:txBody>
      </p:sp>
      <p:sp>
        <p:nvSpPr>
          <p:cNvPr id="12" name="Shape 10"/>
          <p:cNvSpPr/>
          <p:nvPr/>
        </p:nvSpPr>
        <p:spPr>
          <a:xfrm>
            <a:off x="640080" y="4206240"/>
            <a:ext cx="10881360" cy="1828800"/>
          </a:xfrm>
          <a:prstGeom prst="roundRect">
            <a:avLst>
              <a:gd name="adj" fmla="val 5000"/>
            </a:avLst>
          </a:prstGeom>
          <a:solidFill>
            <a:srgbClr val="0D1B2A"/>
          </a:solidFill>
          <a:ln/>
        </p:spPr>
      </p:sp>
      <p:sp>
        <p:nvSpPr>
          <p:cNvPr id="13" name="Text 11"/>
          <p:cNvSpPr/>
          <p:nvPr/>
        </p:nvSpPr>
        <p:spPr>
          <a:xfrm>
            <a:off x="914400" y="4343400"/>
            <a:ext cx="4572000" cy="365760"/>
          </a:xfrm>
          <a:prstGeom prst="rect">
            <a:avLst/>
          </a:prstGeom>
          <a:noFill/>
          <a:ln/>
        </p:spPr>
        <p:txBody>
          <a:bodyPr wrap="square" rtlCol="0" anchor="ctr"/>
          <a:lstStyle/>
          <a:p>
            <a:pPr marL="0" indent="0">
              <a:buNone/>
            </a:pPr>
            <a:r>
              <a:rPr lang="en-US" sz="1400" b="1" dirty="0">
                <a:solidFill>
                  <a:srgbClr val="00CEC9"/>
                </a:solidFill>
                <a:latin typeface="Arial" pitchFamily="34" charset="0"/>
                <a:ea typeface="Arial" pitchFamily="34" charset="-122"/>
                <a:cs typeface="Arial" pitchFamily="34" charset="-120"/>
              </a:rPr>
              <a:t>Investigation Summary</a:t>
            </a:r>
            <a:endParaRPr lang="en-US" sz="1400" dirty="0"/>
          </a:p>
        </p:txBody>
      </p:sp>
      <p:sp>
        <p:nvSpPr>
          <p:cNvPr id="14" name="Text 12"/>
          <p:cNvSpPr/>
          <p:nvPr/>
        </p:nvSpPr>
        <p:spPr>
          <a:xfrm>
            <a:off x="914400" y="4709160"/>
            <a:ext cx="10332720" cy="1097280"/>
          </a:xfrm>
          <a:prstGeom prst="rect">
            <a:avLst/>
          </a:prstGeom>
          <a:noFill/>
          <a:ln/>
        </p:spPr>
        <p:txBody>
          <a:bodyPr wrap="square" rtlCol="0" anchor="ctr"/>
          <a:lstStyle/>
          <a:p>
            <a:pPr marL="0" indent="0">
              <a:lnSpc>
                <a:spcPct val="140000"/>
              </a:lnSpc>
              <a:buNone/>
            </a:pPr>
            <a:r>
              <a:rPr lang="en-US" sz="1100" dirty="0">
                <a:solidFill>
                  <a:srgbClr val="CCCCCC"/>
                </a:solidFill>
                <a:latin typeface="Arial" pitchFamily="34" charset="0"/>
                <a:ea typeface="Arial" pitchFamily="34" charset="-122"/>
                <a:cs typeface="Arial" pitchFamily="34" charset="-120"/>
              </a:rPr>
              <a:t>Since only Quantity, Sales, and Discount are available, Cost could not be reliably inferred due to lack of supporting variables. Cost per unit varied significantly across orders for the same product. The cost-to-sales ratio also varied widely with high standard deviations. The Products table contained no cost or price information. Retaining null values and flagging them as data quality issues while continuing analysis on available data was the most principled approach.</a:t>
            </a:r>
            <a:endParaRPr lang="en-US" sz="1100" dirty="0"/>
          </a:p>
        </p:txBody>
      </p:sp>
      <p:sp>
        <p:nvSpPr>
          <p:cNvPr id="15" name="Text 13"/>
          <p:cNvSpPr/>
          <p:nvPr/>
        </p:nvSpPr>
        <p:spPr>
          <a:xfrm>
            <a:off x="0" y="6446520"/>
            <a:ext cx="12161520" cy="320040"/>
          </a:xfrm>
          <a:prstGeom prst="rect">
            <a:avLst/>
          </a:prstGeom>
          <a:noFill/>
          <a:ln/>
        </p:spPr>
        <p:txBody>
          <a:bodyPr wrap="square" rtlCol="0" anchor="ctr"/>
          <a:lstStyle/>
          <a:p>
            <a:pPr marL="0" indent="0" algn="ctr">
              <a:buNone/>
            </a:pPr>
            <a:r>
              <a:rPr lang="en-US" sz="800" dirty="0">
                <a:solidFill>
                  <a:srgbClr val="CCCCCC"/>
                </a:solidFill>
                <a:latin typeface="Arial" pitchFamily="34" charset="0"/>
                <a:ea typeface="Arial" pitchFamily="34" charset="-122"/>
                <a:cs typeface="Arial" pitchFamily="34" charset="-120"/>
              </a:rPr>
              <a:t>Zuri Electronics Analysis  |  Oluwatoni Oladipo  |  8/16</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7315200" cy="640080"/>
          </a:xfrm>
          <a:prstGeom prst="rect">
            <a:avLst/>
          </a:prstGeom>
          <a:noFill/>
          <a:ln/>
        </p:spPr>
        <p:txBody>
          <a:bodyPr wrap="square" rtlCol="0" anchor="ctr"/>
          <a:lstStyle/>
          <a:p>
            <a:pPr marL="0" indent="0">
              <a:buNone/>
            </a:pPr>
            <a:r>
              <a:rPr lang="en-US" sz="2800" b="1" dirty="0">
                <a:solidFill>
                  <a:srgbClr val="16213E"/>
                </a:solidFill>
                <a:latin typeface="Arial" pitchFamily="34" charset="0"/>
                <a:ea typeface="Arial" pitchFamily="34" charset="-122"/>
                <a:cs typeface="Arial" pitchFamily="34" charset="-120"/>
              </a:rPr>
              <a:t>DATA MODELING (DAX)</a:t>
            </a:r>
            <a:endParaRPr lang="en-US" sz="2800" dirty="0"/>
          </a:p>
        </p:txBody>
      </p:sp>
      <p:sp>
        <p:nvSpPr>
          <p:cNvPr id="3" name="Shape 1"/>
          <p:cNvSpPr/>
          <p:nvPr/>
        </p:nvSpPr>
        <p:spPr>
          <a:xfrm>
            <a:off x="640080" y="914400"/>
            <a:ext cx="3657600" cy="36576"/>
          </a:xfrm>
          <a:prstGeom prst="rect">
            <a:avLst/>
          </a:prstGeom>
          <a:solidFill>
            <a:srgbClr val="00CEC9"/>
          </a:solidFill>
          <a:ln/>
        </p:spPr>
      </p:sp>
      <p:sp>
        <p:nvSpPr>
          <p:cNvPr id="4" name="Text 2"/>
          <p:cNvSpPr/>
          <p:nvPr/>
        </p:nvSpPr>
        <p:spPr>
          <a:xfrm>
            <a:off x="640080" y="1097280"/>
            <a:ext cx="7315200" cy="365760"/>
          </a:xfrm>
          <a:prstGeom prst="rect">
            <a:avLst/>
          </a:prstGeom>
          <a:noFill/>
          <a:ln/>
        </p:spPr>
        <p:txBody>
          <a:bodyPr wrap="square" rtlCol="0" anchor="ctr"/>
          <a:lstStyle/>
          <a:p>
            <a:pPr marL="0" indent="0">
              <a:buNone/>
            </a:pPr>
            <a:r>
              <a:rPr lang="en-US" sz="1600" b="1" dirty="0">
                <a:solidFill>
                  <a:srgbClr val="0097A7"/>
                </a:solidFill>
                <a:latin typeface="Arial" pitchFamily="34" charset="0"/>
                <a:ea typeface="Arial" pitchFamily="34" charset="-122"/>
                <a:cs typeface="Arial" pitchFamily="34" charset="-120"/>
              </a:rPr>
              <a:t>Calculated Columns (Added to Orders Table)</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1554480"/>
          <a:ext cx="10881360" cy="1219200"/>
        </p:xfrm>
        <a:graphic>
          <a:graphicData uri="http://schemas.openxmlformats.org/drawingml/2006/table">
            <a:tbl>
              <a:tblPr/>
              <a:tblGrid>
                <a:gridCol w="201168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tblGrid>
              <a:tr h="0">
                <a:tc>
                  <a:txBody>
                    <a:bodyPr/>
                    <a:lstStyle/>
                    <a:p>
                      <a:pPr marL="0" indent="0">
                        <a:buNone/>
                      </a:pPr>
                      <a:r>
                        <a:rPr lang="en-US" sz="1000" b="1" dirty="0">
                          <a:solidFill>
                            <a:srgbClr val="FFFFFF"/>
                          </a:solidFill>
                          <a:latin typeface="Arial" pitchFamily="34" charset="0"/>
                          <a:ea typeface="Arial" pitchFamily="34" charset="-122"/>
                          <a:cs typeface="Arial" pitchFamily="34" charset="-120"/>
                        </a:rPr>
                        <a:t>Column</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6213E"/>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DAX Formula</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6213E"/>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Purpose</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6213E"/>
                    </a:solidFill>
                  </a:tcPr>
                </a:tc>
                <a:extLst>
                  <a:ext uri="{0D108BD9-81ED-4DB2-BD59-A6C34878D82A}">
                    <a16:rowId xmlns:a16="http://schemas.microsoft.com/office/drawing/2014/main" val="10000"/>
                  </a:ext>
                </a:extLst>
              </a:tr>
              <a:tr h="0">
                <a:tc>
                  <a:txBody>
                    <a:bodyPr/>
                    <a:lstStyle/>
                    <a:p>
                      <a:pPr marL="0" indent="0">
                        <a:buNone/>
                      </a:pPr>
                      <a:r>
                        <a:rPr lang="en-US" sz="1000" dirty="0">
                          <a:solidFill>
                            <a:srgbClr val="333333"/>
                          </a:solidFill>
                          <a:latin typeface="Arial" pitchFamily="34" charset="0"/>
                          <a:ea typeface="Arial" pitchFamily="34" charset="-122"/>
                          <a:cs typeface="Arial" pitchFamily="34" charset="-120"/>
                        </a:rPr>
                        <a:t>Profit</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333333"/>
                          </a:solidFill>
                          <a:latin typeface="Arial" pitchFamily="34" charset="0"/>
                          <a:ea typeface="Arial" pitchFamily="34" charset="-122"/>
                          <a:cs typeface="Arial" pitchFamily="34" charset="-120"/>
                        </a:rPr>
                        <a:t>Orders[Sales] - Orders[Cost]</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333333"/>
                          </a:solidFill>
                          <a:latin typeface="Arial" pitchFamily="34" charset="0"/>
                          <a:ea typeface="Arial" pitchFamily="34" charset="-122"/>
                          <a:cs typeface="Arial" pitchFamily="34" charset="-120"/>
                        </a:rPr>
                        <a:t>Calculate profit per transaction</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000" dirty="0">
                          <a:solidFill>
                            <a:srgbClr val="333333"/>
                          </a:solidFill>
                          <a:latin typeface="Arial" pitchFamily="34" charset="0"/>
                          <a:ea typeface="Arial" pitchFamily="34" charset="-122"/>
                          <a:cs typeface="Arial" pitchFamily="34" charset="-120"/>
                        </a:rPr>
                        <a:t>Price Per Unit</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333333"/>
                          </a:solidFill>
                          <a:latin typeface="Arial" pitchFamily="34" charset="0"/>
                          <a:ea typeface="Arial" pitchFamily="34" charset="-122"/>
                          <a:cs typeface="Arial" pitchFamily="34" charset="-120"/>
                        </a:rPr>
                        <a:t>Orders[Sales] / Orders[Quantity]</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333333"/>
                          </a:solidFill>
                          <a:latin typeface="Arial" pitchFamily="34" charset="0"/>
                          <a:ea typeface="Arial" pitchFamily="34" charset="-122"/>
                          <a:cs typeface="Arial" pitchFamily="34" charset="-120"/>
                        </a:rPr>
                        <a:t>Revenue generated per unit sold</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000" dirty="0">
                          <a:solidFill>
                            <a:srgbClr val="333333"/>
                          </a:solidFill>
                          <a:latin typeface="Arial" pitchFamily="34" charset="0"/>
                          <a:ea typeface="Arial" pitchFamily="34" charset="-122"/>
                          <a:cs typeface="Arial" pitchFamily="34" charset="-120"/>
                        </a:rPr>
                        <a:t>Days to Ship</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333333"/>
                          </a:solidFill>
                          <a:latin typeface="Arial" pitchFamily="34" charset="0"/>
                          <a:ea typeface="Arial" pitchFamily="34" charset="-122"/>
                          <a:cs typeface="Arial" pitchFamily="34" charset="-120"/>
                        </a:rPr>
                        <a:t>DATEDIFF(Order Date, Ship Date, DAY)</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333333"/>
                          </a:solidFill>
                          <a:latin typeface="Arial" pitchFamily="34" charset="0"/>
                          <a:ea typeface="Arial" pitchFamily="34" charset="-122"/>
                          <a:cs typeface="Arial" pitchFamily="34" charset="-120"/>
                        </a:rPr>
                        <a:t>Measure shipping performance</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000" dirty="0">
                          <a:solidFill>
                            <a:srgbClr val="333333"/>
                          </a:solidFill>
                          <a:latin typeface="Arial" pitchFamily="34" charset="0"/>
                          <a:ea typeface="Arial" pitchFamily="34" charset="-122"/>
                          <a:cs typeface="Arial" pitchFamily="34" charset="-120"/>
                        </a:rPr>
                        <a:t>Discount Band</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333333"/>
                          </a:solidFill>
                          <a:latin typeface="Arial" pitchFamily="34" charset="0"/>
                          <a:ea typeface="Arial" pitchFamily="34" charset="-122"/>
                          <a:cs typeface="Arial" pitchFamily="34" charset="-120"/>
                        </a:rPr>
                        <a:t>SWITCH(TRUE(), ... ) =&gt; No Discount / Low / Medium / High</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333333"/>
                          </a:solidFill>
                          <a:latin typeface="Arial" pitchFamily="34" charset="0"/>
                          <a:ea typeface="Arial" pitchFamily="34" charset="-122"/>
                          <a:cs typeface="Arial" pitchFamily="34" charset="-120"/>
                        </a:rPr>
                        <a:t>Categorize discount levels for analysis</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Text 3"/>
          <p:cNvSpPr/>
          <p:nvPr/>
        </p:nvSpPr>
        <p:spPr>
          <a:xfrm>
            <a:off x="640080" y="3383280"/>
            <a:ext cx="7315200" cy="365760"/>
          </a:xfrm>
          <a:prstGeom prst="rect">
            <a:avLst/>
          </a:prstGeom>
          <a:noFill/>
          <a:ln/>
        </p:spPr>
        <p:txBody>
          <a:bodyPr wrap="square" rtlCol="0" anchor="ctr"/>
          <a:lstStyle/>
          <a:p>
            <a:pPr marL="0" indent="0">
              <a:buNone/>
            </a:pPr>
            <a:r>
              <a:rPr lang="en-US" sz="1600" b="1" dirty="0">
                <a:solidFill>
                  <a:srgbClr val="0097A7"/>
                </a:solidFill>
                <a:latin typeface="Arial" pitchFamily="34" charset="0"/>
                <a:ea typeface="Arial" pitchFamily="34" charset="-122"/>
                <a:cs typeface="Arial" pitchFamily="34" charset="-120"/>
              </a:rPr>
              <a:t>Date Table (DAX New Table)</a:t>
            </a:r>
            <a:endParaRPr lang="en-US" sz="1600" dirty="0"/>
          </a:p>
        </p:txBody>
      </p:sp>
      <p:sp>
        <p:nvSpPr>
          <p:cNvPr id="7" name="Shape 4"/>
          <p:cNvSpPr/>
          <p:nvPr/>
        </p:nvSpPr>
        <p:spPr>
          <a:xfrm>
            <a:off x="640080" y="3840480"/>
            <a:ext cx="10881360" cy="1097280"/>
          </a:xfrm>
          <a:prstGeom prst="roundRect">
            <a:avLst>
              <a:gd name="adj" fmla="val 6667"/>
            </a:avLst>
          </a:prstGeom>
          <a:solidFill>
            <a:srgbClr val="F8F9FA"/>
          </a:solidFill>
          <a:ln/>
        </p:spPr>
      </p:sp>
      <p:sp>
        <p:nvSpPr>
          <p:cNvPr id="8" name="Text 5"/>
          <p:cNvSpPr/>
          <p:nvPr/>
        </p:nvSpPr>
        <p:spPr>
          <a:xfrm>
            <a:off x="914400" y="3931920"/>
            <a:ext cx="10424160" cy="914400"/>
          </a:xfrm>
          <a:prstGeom prst="rect">
            <a:avLst/>
          </a:prstGeom>
          <a:noFill/>
          <a:ln/>
        </p:spPr>
        <p:txBody>
          <a:bodyPr wrap="square" rtlCol="0" anchor="ctr"/>
          <a:lstStyle/>
          <a:p>
            <a:pPr marL="0" indent="0">
              <a:lnSpc>
                <a:spcPct val="130000"/>
              </a:lnSpc>
              <a:buNone/>
            </a:pPr>
            <a:r>
              <a:rPr lang="en-US" sz="1000" dirty="0">
                <a:solidFill>
                  <a:srgbClr val="333333"/>
                </a:solidFill>
                <a:latin typeface="Courier New" pitchFamily="34" charset="0"/>
                <a:ea typeface="Courier New" pitchFamily="34" charset="-122"/>
                <a:cs typeface="Courier New" pitchFamily="34" charset="-120"/>
              </a:rPr>
              <a:t>DateTable = ADDCOLUMNS(CALENDAR(MIN(Orders[Order Date]), MAX(Orders[Order Date])), "Year", YEAR([Date]), "Month Number", MONTH([Date]), "Month Name", FORMAT([Date], "MMMM"), "Quarter", "Q" &amp; QUARTER([Date]))</a:t>
            </a:r>
            <a:endParaRPr lang="en-US" sz="1000" dirty="0"/>
          </a:p>
        </p:txBody>
      </p:sp>
      <p:sp>
        <p:nvSpPr>
          <p:cNvPr id="9" name="Text 6"/>
          <p:cNvSpPr/>
          <p:nvPr/>
        </p:nvSpPr>
        <p:spPr>
          <a:xfrm>
            <a:off x="640080" y="5120640"/>
            <a:ext cx="10881360" cy="457200"/>
          </a:xfrm>
          <a:prstGeom prst="rect">
            <a:avLst/>
          </a:prstGeom>
          <a:noFill/>
          <a:ln/>
        </p:spPr>
        <p:txBody>
          <a:bodyPr wrap="square" rtlCol="0" anchor="ctr"/>
          <a:lstStyle/>
          <a:p>
            <a:pPr marL="0" indent="0">
              <a:buNone/>
            </a:pPr>
            <a:r>
              <a:rPr lang="en-US" sz="1100" dirty="0">
                <a:solidFill>
                  <a:srgbClr val="333333"/>
                </a:solidFill>
                <a:latin typeface="Arial" pitchFamily="34" charset="0"/>
                <a:ea typeface="Arial" pitchFamily="34" charset="-122"/>
                <a:cs typeface="Arial" pitchFamily="34" charset="-120"/>
              </a:rPr>
              <a:t>Marked as official Date table and related to Orders[Order Date] in a one-to-many relationship. Month Name sorted by Month Number for correct calendar ordering in visuals.</a:t>
            </a:r>
            <a:endParaRPr lang="en-US" sz="1100" dirty="0"/>
          </a:p>
        </p:txBody>
      </p:sp>
      <p:sp>
        <p:nvSpPr>
          <p:cNvPr id="5" name="Text 7"/>
          <p:cNvSpPr/>
          <p:nvPr/>
        </p:nvSpPr>
        <p:spPr>
          <a:xfrm>
            <a:off x="0" y="6446520"/>
            <a:ext cx="12161520" cy="320040"/>
          </a:xfrm>
          <a:prstGeom prst="rect">
            <a:avLst/>
          </a:prstGeom>
          <a:noFill/>
          <a:ln/>
        </p:spPr>
        <p:txBody>
          <a:bodyPr wrap="square" rtlCol="0" anchor="ctr"/>
          <a:lstStyle/>
          <a:p>
            <a:pPr marL="0" indent="0" algn="ctr">
              <a:buNone/>
            </a:pPr>
            <a:r>
              <a:rPr lang="en-US" sz="800" dirty="0">
                <a:solidFill>
                  <a:srgbClr val="CCCCCC"/>
                </a:solidFill>
                <a:latin typeface="Arial" pitchFamily="34" charset="0"/>
                <a:ea typeface="Arial" pitchFamily="34" charset="-122"/>
                <a:cs typeface="Arial" pitchFamily="34" charset="-120"/>
              </a:rPr>
              <a:t>Zuri Electronics Analysis  |  Oluwatoni Oladipo  |  9/16</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A2E"/>
        </a:solidFill>
        <a:effectLst/>
      </p:bgPr>
    </p:bg>
    <p:spTree>
      <p:nvGrpSpPr>
        <p:cNvPr id="1" name=""/>
        <p:cNvGrpSpPr/>
        <p:nvPr/>
      </p:nvGrpSpPr>
      <p:grpSpPr>
        <a:xfrm>
          <a:off x="0" y="0"/>
          <a:ext cx="0" cy="0"/>
          <a:chOff x="0" y="0"/>
          <a:chExt cx="0" cy="0"/>
        </a:xfrm>
      </p:grpSpPr>
      <p:sp>
        <p:nvSpPr>
          <p:cNvPr id="2" name="Text 0"/>
          <p:cNvSpPr/>
          <p:nvPr/>
        </p:nvSpPr>
        <p:spPr>
          <a:xfrm>
            <a:off x="640080" y="365760"/>
            <a:ext cx="5486400" cy="640080"/>
          </a:xfrm>
          <a:prstGeom prst="rect">
            <a:avLst/>
          </a:prstGeom>
          <a:noFill/>
          <a:ln/>
        </p:spPr>
        <p:txBody>
          <a:bodyPr wrap="square" rtlCol="0" anchor="ctr"/>
          <a:lstStyle/>
          <a:p>
            <a:pPr marL="0" indent="0">
              <a:buNone/>
            </a:pPr>
            <a:r>
              <a:rPr lang="en-US" sz="2800" b="1" dirty="0">
                <a:solidFill>
                  <a:srgbClr val="FFFFFF"/>
                </a:solidFill>
                <a:latin typeface="Arial" pitchFamily="34" charset="0"/>
                <a:ea typeface="Arial" pitchFamily="34" charset="-122"/>
                <a:cs typeface="Arial" pitchFamily="34" charset="-120"/>
              </a:rPr>
              <a:t>DAX MEASURES</a:t>
            </a:r>
            <a:endParaRPr lang="en-US" sz="2800" dirty="0"/>
          </a:p>
        </p:txBody>
      </p:sp>
      <p:sp>
        <p:nvSpPr>
          <p:cNvPr id="3" name="Shape 1"/>
          <p:cNvSpPr/>
          <p:nvPr/>
        </p:nvSpPr>
        <p:spPr>
          <a:xfrm>
            <a:off x="640080" y="960120"/>
            <a:ext cx="3657600" cy="36576"/>
          </a:xfrm>
          <a:prstGeom prst="rect">
            <a:avLst/>
          </a:prstGeom>
          <a:solidFill>
            <a:srgbClr val="00CEC9"/>
          </a:solidFill>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280160"/>
          <a:ext cx="10881360" cy="3200400"/>
        </p:xfrm>
        <a:graphic>
          <a:graphicData uri="http://schemas.openxmlformats.org/drawingml/2006/table">
            <a:tbl>
              <a:tblPr/>
              <a:tblGrid>
                <a:gridCol w="2286000">
                  <a:extLst>
                    <a:ext uri="{9D8B030D-6E8A-4147-A177-3AD203B41FA5}">
                      <a16:colId xmlns:a16="http://schemas.microsoft.com/office/drawing/2014/main" val="20000"/>
                    </a:ext>
                  </a:extLst>
                </a:gridCol>
                <a:gridCol w="640080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0">
                <a:tc>
                  <a:txBody>
                    <a:bodyPr/>
                    <a:lstStyle/>
                    <a:p>
                      <a:pPr marL="0" indent="0">
                        <a:buNone/>
                      </a:pPr>
                      <a:r>
                        <a:rPr lang="en-US" sz="900" b="1" dirty="0">
                          <a:solidFill>
                            <a:srgbClr val="FFFFFF"/>
                          </a:solidFill>
                          <a:latin typeface="Arial" pitchFamily="34" charset="0"/>
                          <a:ea typeface="Arial" pitchFamily="34" charset="-122"/>
                          <a:cs typeface="Arial" pitchFamily="34" charset="-120"/>
                        </a:rPr>
                        <a:t>Measure</a:t>
                      </a:r>
                      <a:endParaRPr lang="en-US" sz="9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0097A7"/>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DAX Formula</a:t>
                      </a:r>
                      <a:endParaRPr lang="en-US" sz="9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0097A7"/>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Category</a:t>
                      </a:r>
                      <a:endParaRPr lang="en-US" sz="9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0097A7"/>
                    </a:solidFill>
                  </a:tcPr>
                </a:tc>
                <a:extLst>
                  <a:ext uri="{0D108BD9-81ED-4DB2-BD59-A6C34878D82A}">
                    <a16:rowId xmlns:a16="http://schemas.microsoft.com/office/drawing/2014/main" val="10000"/>
                  </a:ext>
                </a:extLst>
              </a:tr>
              <a:tr h="0">
                <a:tc>
                  <a:txBody>
                    <a:bodyPr/>
                    <a:lstStyle/>
                    <a:p>
                      <a:pPr marL="0" indent="0">
                        <a:buNone/>
                      </a:pPr>
                      <a:r>
                        <a:rPr lang="en-US" sz="900" dirty="0">
                          <a:solidFill>
                            <a:srgbClr val="FFFFFF"/>
                          </a:solidFill>
                          <a:latin typeface="Arial" pitchFamily="34" charset="0"/>
                          <a:ea typeface="Arial" pitchFamily="34" charset="-122"/>
                          <a:cs typeface="Arial" pitchFamily="34" charset="-120"/>
                        </a:rPr>
                        <a:t>Total Sales</a:t>
                      </a:r>
                      <a:endParaRPr lang="en-US" sz="9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tc>
                  <a:txBody>
                    <a:bodyPr/>
                    <a:lstStyle/>
                    <a:p>
                      <a:pPr marL="0" indent="0">
                        <a:buNone/>
                      </a:pPr>
                      <a:r>
                        <a:rPr lang="en-US" sz="900" dirty="0">
                          <a:solidFill>
                            <a:srgbClr val="CCCCCC"/>
                          </a:solidFill>
                          <a:latin typeface="Courier New" pitchFamily="34" charset="0"/>
                          <a:ea typeface="Courier New" pitchFamily="34" charset="-122"/>
                          <a:cs typeface="Courier New" pitchFamily="34" charset="-120"/>
                        </a:rPr>
                        <a:t>SUM(Orders[Sales])</a:t>
                      </a:r>
                      <a:endParaRPr lang="en-US" sz="900" dirty="0">
                        <a:latin typeface="Courier New" charset="0"/>
                        <a:ea typeface="Courier New" charset="0"/>
                        <a:cs typeface="Courier New"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tc>
                  <a:txBody>
                    <a:bodyPr/>
                    <a:lstStyle/>
                    <a:p>
                      <a:pPr marL="0" indent="0">
                        <a:buNone/>
                      </a:pPr>
                      <a:r>
                        <a:rPr lang="en-US" sz="900" dirty="0">
                          <a:solidFill>
                            <a:srgbClr val="00CEC9"/>
                          </a:solidFill>
                          <a:latin typeface="Arial" pitchFamily="34" charset="0"/>
                          <a:ea typeface="Arial" pitchFamily="34" charset="-122"/>
                          <a:cs typeface="Arial" pitchFamily="34" charset="-120"/>
                        </a:rPr>
                        <a:t>Core</a:t>
                      </a:r>
                      <a:endParaRPr lang="en-US" sz="9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extLst>
                  <a:ext uri="{0D108BD9-81ED-4DB2-BD59-A6C34878D82A}">
                    <a16:rowId xmlns:a16="http://schemas.microsoft.com/office/drawing/2014/main" val="10001"/>
                  </a:ext>
                </a:extLst>
              </a:tr>
              <a:tr h="0">
                <a:tc>
                  <a:txBody>
                    <a:bodyPr/>
                    <a:lstStyle/>
                    <a:p>
                      <a:pPr marL="0" indent="0">
                        <a:buNone/>
                      </a:pPr>
                      <a:r>
                        <a:rPr lang="en-US" sz="900" dirty="0">
                          <a:solidFill>
                            <a:srgbClr val="FFFFFF"/>
                          </a:solidFill>
                          <a:latin typeface="Arial" pitchFamily="34" charset="0"/>
                          <a:ea typeface="Arial" pitchFamily="34" charset="-122"/>
                          <a:cs typeface="Arial" pitchFamily="34" charset="-120"/>
                        </a:rPr>
                        <a:t>Total Cost</a:t>
                      </a:r>
                      <a:endParaRPr lang="en-US" sz="9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tc>
                  <a:txBody>
                    <a:bodyPr/>
                    <a:lstStyle/>
                    <a:p>
                      <a:pPr marL="0" indent="0">
                        <a:buNone/>
                      </a:pPr>
                      <a:r>
                        <a:rPr lang="en-US" sz="900" dirty="0">
                          <a:solidFill>
                            <a:srgbClr val="CCCCCC"/>
                          </a:solidFill>
                          <a:latin typeface="Courier New" pitchFamily="34" charset="0"/>
                          <a:ea typeface="Courier New" pitchFamily="34" charset="-122"/>
                          <a:cs typeface="Courier New" pitchFamily="34" charset="-120"/>
                        </a:rPr>
                        <a:t>SUM(Orders[Cost])</a:t>
                      </a:r>
                      <a:endParaRPr lang="en-US" sz="900" dirty="0">
                        <a:latin typeface="Courier New" charset="0"/>
                        <a:ea typeface="Courier New" charset="0"/>
                        <a:cs typeface="Courier New"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tc>
                  <a:txBody>
                    <a:bodyPr/>
                    <a:lstStyle/>
                    <a:p>
                      <a:pPr marL="0" indent="0">
                        <a:buNone/>
                      </a:pPr>
                      <a:r>
                        <a:rPr lang="en-US" sz="900" dirty="0">
                          <a:solidFill>
                            <a:srgbClr val="00CEC9"/>
                          </a:solidFill>
                          <a:latin typeface="Arial" pitchFamily="34" charset="0"/>
                          <a:ea typeface="Arial" pitchFamily="34" charset="-122"/>
                          <a:cs typeface="Arial" pitchFamily="34" charset="-120"/>
                        </a:rPr>
                        <a:t>Core</a:t>
                      </a:r>
                      <a:endParaRPr lang="en-US" sz="9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extLst>
                  <a:ext uri="{0D108BD9-81ED-4DB2-BD59-A6C34878D82A}">
                    <a16:rowId xmlns:a16="http://schemas.microsoft.com/office/drawing/2014/main" val="10002"/>
                  </a:ext>
                </a:extLst>
              </a:tr>
              <a:tr h="0">
                <a:tc>
                  <a:txBody>
                    <a:bodyPr/>
                    <a:lstStyle/>
                    <a:p>
                      <a:pPr marL="0" indent="0">
                        <a:buNone/>
                      </a:pPr>
                      <a:r>
                        <a:rPr lang="en-US" sz="900" dirty="0">
                          <a:solidFill>
                            <a:srgbClr val="FFFFFF"/>
                          </a:solidFill>
                          <a:latin typeface="Arial" pitchFamily="34" charset="0"/>
                          <a:ea typeface="Arial" pitchFamily="34" charset="-122"/>
                          <a:cs typeface="Arial" pitchFamily="34" charset="-120"/>
                        </a:rPr>
                        <a:t>Total Profit</a:t>
                      </a:r>
                      <a:endParaRPr lang="en-US" sz="9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tc>
                  <a:txBody>
                    <a:bodyPr/>
                    <a:lstStyle/>
                    <a:p>
                      <a:pPr marL="0" indent="0">
                        <a:buNone/>
                      </a:pPr>
                      <a:r>
                        <a:rPr lang="en-US" sz="900" dirty="0">
                          <a:solidFill>
                            <a:srgbClr val="CCCCCC"/>
                          </a:solidFill>
                          <a:latin typeface="Courier New" pitchFamily="34" charset="0"/>
                          <a:ea typeface="Courier New" pitchFamily="34" charset="-122"/>
                          <a:cs typeface="Courier New" pitchFamily="34" charset="-120"/>
                        </a:rPr>
                        <a:t>[Total Sales] - [Total Cost]</a:t>
                      </a:r>
                      <a:endParaRPr lang="en-US" sz="900" dirty="0">
                        <a:latin typeface="Courier New" charset="0"/>
                        <a:ea typeface="Courier New" charset="0"/>
                        <a:cs typeface="Courier New"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tc>
                  <a:txBody>
                    <a:bodyPr/>
                    <a:lstStyle/>
                    <a:p>
                      <a:pPr marL="0" indent="0">
                        <a:buNone/>
                      </a:pPr>
                      <a:r>
                        <a:rPr lang="en-US" sz="900" dirty="0">
                          <a:solidFill>
                            <a:srgbClr val="00CEC9"/>
                          </a:solidFill>
                          <a:latin typeface="Arial" pitchFamily="34" charset="0"/>
                          <a:ea typeface="Arial" pitchFamily="34" charset="-122"/>
                          <a:cs typeface="Arial" pitchFamily="34" charset="-120"/>
                        </a:rPr>
                        <a:t>Core</a:t>
                      </a:r>
                      <a:endParaRPr lang="en-US" sz="9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extLst>
                  <a:ext uri="{0D108BD9-81ED-4DB2-BD59-A6C34878D82A}">
                    <a16:rowId xmlns:a16="http://schemas.microsoft.com/office/drawing/2014/main" val="10003"/>
                  </a:ext>
                </a:extLst>
              </a:tr>
              <a:tr h="0">
                <a:tc>
                  <a:txBody>
                    <a:bodyPr/>
                    <a:lstStyle/>
                    <a:p>
                      <a:pPr marL="0" indent="0">
                        <a:buNone/>
                      </a:pPr>
                      <a:r>
                        <a:rPr lang="en-US" sz="900" dirty="0">
                          <a:solidFill>
                            <a:srgbClr val="FFFFFF"/>
                          </a:solidFill>
                          <a:latin typeface="Arial" pitchFamily="34" charset="0"/>
                          <a:ea typeface="Arial" pitchFamily="34" charset="-122"/>
                          <a:cs typeface="Arial" pitchFamily="34" charset="-120"/>
                        </a:rPr>
                        <a:t>Profit Margin %</a:t>
                      </a:r>
                      <a:endParaRPr lang="en-US" sz="9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tc>
                  <a:txBody>
                    <a:bodyPr/>
                    <a:lstStyle/>
                    <a:p>
                      <a:pPr marL="0" indent="0">
                        <a:buNone/>
                      </a:pPr>
                      <a:r>
                        <a:rPr lang="en-US" sz="900" dirty="0">
                          <a:solidFill>
                            <a:srgbClr val="CCCCCC"/>
                          </a:solidFill>
                          <a:latin typeface="Courier New" pitchFamily="34" charset="0"/>
                          <a:ea typeface="Courier New" pitchFamily="34" charset="-122"/>
                          <a:cs typeface="Courier New" pitchFamily="34" charset="-120"/>
                        </a:rPr>
                        <a:t>DIVIDE([Total Profit], [Total Sales], 0)</a:t>
                      </a:r>
                      <a:endParaRPr lang="en-US" sz="900" dirty="0">
                        <a:latin typeface="Courier New" charset="0"/>
                        <a:ea typeface="Courier New" charset="0"/>
                        <a:cs typeface="Courier New"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tc>
                  <a:txBody>
                    <a:bodyPr/>
                    <a:lstStyle/>
                    <a:p>
                      <a:pPr marL="0" indent="0">
                        <a:buNone/>
                      </a:pPr>
                      <a:r>
                        <a:rPr lang="en-US" sz="900" dirty="0">
                          <a:solidFill>
                            <a:srgbClr val="00CEC9"/>
                          </a:solidFill>
                          <a:latin typeface="Arial" pitchFamily="34" charset="0"/>
                          <a:ea typeface="Arial" pitchFamily="34" charset="-122"/>
                          <a:cs typeface="Arial" pitchFamily="34" charset="-120"/>
                        </a:rPr>
                        <a:t>Core</a:t>
                      </a:r>
                      <a:endParaRPr lang="en-US" sz="9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extLst>
                  <a:ext uri="{0D108BD9-81ED-4DB2-BD59-A6C34878D82A}">
                    <a16:rowId xmlns:a16="http://schemas.microsoft.com/office/drawing/2014/main" val="10004"/>
                  </a:ext>
                </a:extLst>
              </a:tr>
              <a:tr h="0">
                <a:tc>
                  <a:txBody>
                    <a:bodyPr/>
                    <a:lstStyle/>
                    <a:p>
                      <a:pPr marL="0" indent="0">
                        <a:buNone/>
                      </a:pPr>
                      <a:r>
                        <a:rPr lang="en-US" sz="900" dirty="0">
                          <a:solidFill>
                            <a:srgbClr val="FFFFFF"/>
                          </a:solidFill>
                          <a:latin typeface="Arial" pitchFamily="34" charset="0"/>
                          <a:ea typeface="Arial" pitchFamily="34" charset="-122"/>
                          <a:cs typeface="Arial" pitchFamily="34" charset="-120"/>
                        </a:rPr>
                        <a:t>Total Orders</a:t>
                      </a:r>
                      <a:endParaRPr lang="en-US" sz="9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tc>
                  <a:txBody>
                    <a:bodyPr/>
                    <a:lstStyle/>
                    <a:p>
                      <a:pPr marL="0" indent="0">
                        <a:buNone/>
                      </a:pPr>
                      <a:r>
                        <a:rPr lang="en-US" sz="900" dirty="0">
                          <a:solidFill>
                            <a:srgbClr val="CCCCCC"/>
                          </a:solidFill>
                          <a:latin typeface="Courier New" pitchFamily="34" charset="0"/>
                          <a:ea typeface="Courier New" pitchFamily="34" charset="-122"/>
                          <a:cs typeface="Courier New" pitchFamily="34" charset="-120"/>
                        </a:rPr>
                        <a:t>DISTINCTCOUNT(Orders[Order ID])</a:t>
                      </a:r>
                      <a:endParaRPr lang="en-US" sz="900" dirty="0">
                        <a:latin typeface="Courier New" charset="0"/>
                        <a:ea typeface="Courier New" charset="0"/>
                        <a:cs typeface="Courier New"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tc>
                  <a:txBody>
                    <a:bodyPr/>
                    <a:lstStyle/>
                    <a:p>
                      <a:pPr marL="0" indent="0">
                        <a:buNone/>
                      </a:pPr>
                      <a:r>
                        <a:rPr lang="en-US" sz="900" dirty="0">
                          <a:solidFill>
                            <a:srgbClr val="00CEC9"/>
                          </a:solidFill>
                          <a:latin typeface="Arial" pitchFamily="34" charset="0"/>
                          <a:ea typeface="Arial" pitchFamily="34" charset="-122"/>
                          <a:cs typeface="Arial" pitchFamily="34" charset="-120"/>
                        </a:rPr>
                        <a:t>Core</a:t>
                      </a:r>
                      <a:endParaRPr lang="en-US" sz="9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extLst>
                  <a:ext uri="{0D108BD9-81ED-4DB2-BD59-A6C34878D82A}">
                    <a16:rowId xmlns:a16="http://schemas.microsoft.com/office/drawing/2014/main" val="10005"/>
                  </a:ext>
                </a:extLst>
              </a:tr>
              <a:tr h="0">
                <a:tc>
                  <a:txBody>
                    <a:bodyPr/>
                    <a:lstStyle/>
                    <a:p>
                      <a:pPr marL="0" indent="0">
                        <a:buNone/>
                      </a:pPr>
                      <a:r>
                        <a:rPr lang="en-US" sz="900" dirty="0">
                          <a:solidFill>
                            <a:srgbClr val="FFFFFF"/>
                          </a:solidFill>
                          <a:latin typeface="Arial" pitchFamily="34" charset="0"/>
                          <a:ea typeface="Arial" pitchFamily="34" charset="-122"/>
                          <a:cs typeface="Arial" pitchFamily="34" charset="-120"/>
                        </a:rPr>
                        <a:t>Total Quantity</a:t>
                      </a:r>
                      <a:endParaRPr lang="en-US" sz="9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tc>
                  <a:txBody>
                    <a:bodyPr/>
                    <a:lstStyle/>
                    <a:p>
                      <a:pPr marL="0" indent="0">
                        <a:buNone/>
                      </a:pPr>
                      <a:r>
                        <a:rPr lang="en-US" sz="900" dirty="0">
                          <a:solidFill>
                            <a:srgbClr val="CCCCCC"/>
                          </a:solidFill>
                          <a:latin typeface="Courier New" pitchFamily="34" charset="0"/>
                          <a:ea typeface="Courier New" pitchFamily="34" charset="-122"/>
                          <a:cs typeface="Courier New" pitchFamily="34" charset="-120"/>
                        </a:rPr>
                        <a:t>SUM(Orders[Quantity])</a:t>
                      </a:r>
                      <a:endParaRPr lang="en-US" sz="900" dirty="0">
                        <a:latin typeface="Courier New" charset="0"/>
                        <a:ea typeface="Courier New" charset="0"/>
                        <a:cs typeface="Courier New"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tc>
                  <a:txBody>
                    <a:bodyPr/>
                    <a:lstStyle/>
                    <a:p>
                      <a:pPr marL="0" indent="0">
                        <a:buNone/>
                      </a:pPr>
                      <a:r>
                        <a:rPr lang="en-US" sz="900" dirty="0">
                          <a:solidFill>
                            <a:srgbClr val="00CEC9"/>
                          </a:solidFill>
                          <a:latin typeface="Arial" pitchFamily="34" charset="0"/>
                          <a:ea typeface="Arial" pitchFamily="34" charset="-122"/>
                          <a:cs typeface="Arial" pitchFamily="34" charset="-120"/>
                        </a:rPr>
                        <a:t>Core</a:t>
                      </a:r>
                      <a:endParaRPr lang="en-US" sz="9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extLst>
                  <a:ext uri="{0D108BD9-81ED-4DB2-BD59-A6C34878D82A}">
                    <a16:rowId xmlns:a16="http://schemas.microsoft.com/office/drawing/2014/main" val="10006"/>
                  </a:ext>
                </a:extLst>
              </a:tr>
              <a:tr h="0">
                <a:tc>
                  <a:txBody>
                    <a:bodyPr/>
                    <a:lstStyle/>
                    <a:p>
                      <a:pPr marL="0" indent="0">
                        <a:buNone/>
                      </a:pPr>
                      <a:r>
                        <a:rPr lang="en-US" sz="900" dirty="0">
                          <a:solidFill>
                            <a:srgbClr val="FFFFFF"/>
                          </a:solidFill>
                          <a:latin typeface="Arial" pitchFamily="34" charset="0"/>
                          <a:ea typeface="Arial" pitchFamily="34" charset="-122"/>
                          <a:cs typeface="Arial" pitchFamily="34" charset="-120"/>
                        </a:rPr>
                        <a:t>Avg Order Value</a:t>
                      </a:r>
                      <a:endParaRPr lang="en-US" sz="9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tc>
                  <a:txBody>
                    <a:bodyPr/>
                    <a:lstStyle/>
                    <a:p>
                      <a:pPr marL="0" indent="0">
                        <a:buNone/>
                      </a:pPr>
                      <a:r>
                        <a:rPr lang="en-US" sz="900" dirty="0">
                          <a:solidFill>
                            <a:srgbClr val="CCCCCC"/>
                          </a:solidFill>
                          <a:latin typeface="Courier New" pitchFamily="34" charset="0"/>
                          <a:ea typeface="Courier New" pitchFamily="34" charset="-122"/>
                          <a:cs typeface="Courier New" pitchFamily="34" charset="-120"/>
                        </a:rPr>
                        <a:t>DIVIDE([Total Sales], [Total Orders], 0)</a:t>
                      </a:r>
                      <a:endParaRPr lang="en-US" sz="900" dirty="0">
                        <a:latin typeface="Courier New" charset="0"/>
                        <a:ea typeface="Courier New" charset="0"/>
                        <a:cs typeface="Courier New"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tc>
                  <a:txBody>
                    <a:bodyPr/>
                    <a:lstStyle/>
                    <a:p>
                      <a:pPr marL="0" indent="0">
                        <a:buNone/>
                      </a:pPr>
                      <a:r>
                        <a:rPr lang="en-US" sz="900" dirty="0">
                          <a:solidFill>
                            <a:srgbClr val="00CEC9"/>
                          </a:solidFill>
                          <a:latin typeface="Arial" pitchFamily="34" charset="0"/>
                          <a:ea typeface="Arial" pitchFamily="34" charset="-122"/>
                          <a:cs typeface="Arial" pitchFamily="34" charset="-120"/>
                        </a:rPr>
                        <a:t>Core</a:t>
                      </a:r>
                      <a:endParaRPr lang="en-US" sz="9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extLst>
                  <a:ext uri="{0D108BD9-81ED-4DB2-BD59-A6C34878D82A}">
                    <a16:rowId xmlns:a16="http://schemas.microsoft.com/office/drawing/2014/main" val="10007"/>
                  </a:ext>
                </a:extLst>
              </a:tr>
              <a:tr h="0">
                <a:tc>
                  <a:txBody>
                    <a:bodyPr/>
                    <a:lstStyle/>
                    <a:p>
                      <a:pPr marL="0" indent="0">
                        <a:buNone/>
                      </a:pPr>
                      <a:r>
                        <a:rPr lang="en-US" sz="900" dirty="0">
                          <a:solidFill>
                            <a:srgbClr val="FFFFFF"/>
                          </a:solidFill>
                          <a:latin typeface="Arial" pitchFamily="34" charset="0"/>
                          <a:ea typeface="Arial" pitchFamily="34" charset="-122"/>
                          <a:cs typeface="Arial" pitchFamily="34" charset="-120"/>
                        </a:rPr>
                        <a:t>Sales YTD</a:t>
                      </a:r>
                      <a:endParaRPr lang="en-US" sz="9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tc>
                  <a:txBody>
                    <a:bodyPr/>
                    <a:lstStyle/>
                    <a:p>
                      <a:pPr marL="0" indent="0">
                        <a:buNone/>
                      </a:pPr>
                      <a:r>
                        <a:rPr lang="en-US" sz="900" dirty="0">
                          <a:solidFill>
                            <a:srgbClr val="CCCCCC"/>
                          </a:solidFill>
                          <a:latin typeface="Courier New" pitchFamily="34" charset="0"/>
                          <a:ea typeface="Courier New" pitchFamily="34" charset="-122"/>
                          <a:cs typeface="Courier New" pitchFamily="34" charset="-120"/>
                        </a:rPr>
                        <a:t>TOTALYTD([Total Sales], DateTable[Date])</a:t>
                      </a:r>
                      <a:endParaRPr lang="en-US" sz="900" dirty="0">
                        <a:latin typeface="Courier New" charset="0"/>
                        <a:ea typeface="Courier New" charset="0"/>
                        <a:cs typeface="Courier New"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tc>
                  <a:txBody>
                    <a:bodyPr/>
                    <a:lstStyle/>
                    <a:p>
                      <a:pPr marL="0" indent="0">
                        <a:buNone/>
                      </a:pPr>
                      <a:r>
                        <a:rPr lang="en-US" sz="900" dirty="0">
                          <a:solidFill>
                            <a:srgbClr val="00CEC9"/>
                          </a:solidFill>
                          <a:latin typeface="Arial" pitchFamily="34" charset="0"/>
                          <a:ea typeface="Arial" pitchFamily="34" charset="-122"/>
                          <a:cs typeface="Arial" pitchFamily="34" charset="-120"/>
                        </a:rPr>
                        <a:t>Time Intel</a:t>
                      </a:r>
                      <a:endParaRPr lang="en-US" sz="9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extLst>
                  <a:ext uri="{0D108BD9-81ED-4DB2-BD59-A6C34878D82A}">
                    <a16:rowId xmlns:a16="http://schemas.microsoft.com/office/drawing/2014/main" val="10008"/>
                  </a:ext>
                </a:extLst>
              </a:tr>
              <a:tr h="0">
                <a:tc>
                  <a:txBody>
                    <a:bodyPr/>
                    <a:lstStyle/>
                    <a:p>
                      <a:pPr marL="0" indent="0">
                        <a:buNone/>
                      </a:pPr>
                      <a:r>
                        <a:rPr lang="en-US" sz="900" dirty="0">
                          <a:solidFill>
                            <a:srgbClr val="FFFFFF"/>
                          </a:solidFill>
                          <a:latin typeface="Arial" pitchFamily="34" charset="0"/>
                          <a:ea typeface="Arial" pitchFamily="34" charset="-122"/>
                          <a:cs typeface="Arial" pitchFamily="34" charset="-120"/>
                        </a:rPr>
                        <a:t>Sales Last Year</a:t>
                      </a:r>
                      <a:endParaRPr lang="en-US" sz="9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tc>
                  <a:txBody>
                    <a:bodyPr/>
                    <a:lstStyle/>
                    <a:p>
                      <a:pPr marL="0" indent="0">
                        <a:buNone/>
                      </a:pPr>
                      <a:r>
                        <a:rPr lang="en-US" sz="900" dirty="0">
                          <a:solidFill>
                            <a:srgbClr val="CCCCCC"/>
                          </a:solidFill>
                          <a:latin typeface="Courier New" pitchFamily="34" charset="0"/>
                          <a:ea typeface="Courier New" pitchFamily="34" charset="-122"/>
                          <a:cs typeface="Courier New" pitchFamily="34" charset="-120"/>
                        </a:rPr>
                        <a:t>CALCULATE(... SAMEPERIODLASTYEAR(...))</a:t>
                      </a:r>
                      <a:endParaRPr lang="en-US" sz="900" dirty="0">
                        <a:latin typeface="Courier New" charset="0"/>
                        <a:ea typeface="Courier New" charset="0"/>
                        <a:cs typeface="Courier New"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tc>
                  <a:txBody>
                    <a:bodyPr/>
                    <a:lstStyle/>
                    <a:p>
                      <a:pPr marL="0" indent="0">
                        <a:buNone/>
                      </a:pPr>
                      <a:r>
                        <a:rPr lang="en-US" sz="900" dirty="0">
                          <a:solidFill>
                            <a:srgbClr val="00CEC9"/>
                          </a:solidFill>
                          <a:latin typeface="Arial" pitchFamily="34" charset="0"/>
                          <a:ea typeface="Arial" pitchFamily="34" charset="-122"/>
                          <a:cs typeface="Arial" pitchFamily="34" charset="-120"/>
                        </a:rPr>
                        <a:t>Time Intel</a:t>
                      </a:r>
                      <a:endParaRPr lang="en-US" sz="9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extLst>
                  <a:ext uri="{0D108BD9-81ED-4DB2-BD59-A6C34878D82A}">
                    <a16:rowId xmlns:a16="http://schemas.microsoft.com/office/drawing/2014/main" val="10009"/>
                  </a:ext>
                </a:extLst>
              </a:tr>
              <a:tr h="0">
                <a:tc>
                  <a:txBody>
                    <a:bodyPr/>
                    <a:lstStyle/>
                    <a:p>
                      <a:pPr marL="0" indent="0">
                        <a:buNone/>
                      </a:pPr>
                      <a:r>
                        <a:rPr lang="en-US" sz="900" dirty="0">
                          <a:solidFill>
                            <a:srgbClr val="FFFFFF"/>
                          </a:solidFill>
                          <a:latin typeface="Arial" pitchFamily="34" charset="0"/>
                          <a:ea typeface="Arial" pitchFamily="34" charset="-122"/>
                          <a:cs typeface="Arial" pitchFamily="34" charset="-120"/>
                        </a:rPr>
                        <a:t>YoY Growth %</a:t>
                      </a:r>
                      <a:endParaRPr lang="en-US" sz="9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tc>
                  <a:txBody>
                    <a:bodyPr/>
                    <a:lstStyle/>
                    <a:p>
                      <a:pPr marL="0" indent="0">
                        <a:buNone/>
                      </a:pPr>
                      <a:r>
                        <a:rPr lang="en-US" sz="900" dirty="0">
                          <a:solidFill>
                            <a:srgbClr val="CCCCCC"/>
                          </a:solidFill>
                          <a:latin typeface="Courier New" pitchFamily="34" charset="0"/>
                          <a:ea typeface="Courier New" pitchFamily="34" charset="-122"/>
                          <a:cs typeface="Courier New" pitchFamily="34" charset="-120"/>
                        </a:rPr>
                        <a:t>DIVIDE([Sales] - [Last Year], [Last Year])</a:t>
                      </a:r>
                      <a:endParaRPr lang="en-US" sz="900" dirty="0">
                        <a:latin typeface="Courier New" charset="0"/>
                        <a:ea typeface="Courier New" charset="0"/>
                        <a:cs typeface="Courier New"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tc>
                  <a:txBody>
                    <a:bodyPr/>
                    <a:lstStyle/>
                    <a:p>
                      <a:pPr marL="0" indent="0">
                        <a:buNone/>
                      </a:pPr>
                      <a:r>
                        <a:rPr lang="en-US" sz="900" dirty="0">
                          <a:solidFill>
                            <a:srgbClr val="00CEC9"/>
                          </a:solidFill>
                          <a:latin typeface="Arial" pitchFamily="34" charset="0"/>
                          <a:ea typeface="Arial" pitchFamily="34" charset="-122"/>
                          <a:cs typeface="Arial" pitchFamily="34" charset="-120"/>
                        </a:rPr>
                        <a:t>Time Intel</a:t>
                      </a:r>
                      <a:endParaRPr lang="en-US" sz="9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extLst>
                  <a:ext uri="{0D108BD9-81ED-4DB2-BD59-A6C34878D82A}">
                    <a16:rowId xmlns:a16="http://schemas.microsoft.com/office/drawing/2014/main" val="10010"/>
                  </a:ext>
                </a:extLst>
              </a:tr>
              <a:tr h="0">
                <a:tc>
                  <a:txBody>
                    <a:bodyPr/>
                    <a:lstStyle/>
                    <a:p>
                      <a:pPr marL="0" indent="0">
                        <a:buNone/>
                      </a:pPr>
                      <a:r>
                        <a:rPr lang="en-US" sz="900" dirty="0">
                          <a:solidFill>
                            <a:srgbClr val="FFFFFF"/>
                          </a:solidFill>
                          <a:latin typeface="Arial" pitchFamily="34" charset="0"/>
                          <a:ea typeface="Arial" pitchFamily="34" charset="-122"/>
                          <a:cs typeface="Arial" pitchFamily="34" charset="-120"/>
                        </a:rPr>
                        <a:t>% of Total Sales</a:t>
                      </a:r>
                      <a:endParaRPr lang="en-US" sz="9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tc>
                  <a:txBody>
                    <a:bodyPr/>
                    <a:lstStyle/>
                    <a:p>
                      <a:pPr marL="0" indent="0">
                        <a:buNone/>
                      </a:pPr>
                      <a:r>
                        <a:rPr lang="en-US" sz="900" dirty="0">
                          <a:solidFill>
                            <a:srgbClr val="CCCCCC"/>
                          </a:solidFill>
                          <a:latin typeface="Courier New" pitchFamily="34" charset="0"/>
                          <a:ea typeface="Courier New" pitchFamily="34" charset="-122"/>
                          <a:cs typeface="Courier New" pitchFamily="34" charset="-120"/>
                        </a:rPr>
                        <a:t>DIVIDE([Sales], CALCULATE(... ALL(...)))</a:t>
                      </a:r>
                      <a:endParaRPr lang="en-US" sz="900" dirty="0">
                        <a:latin typeface="Courier New" charset="0"/>
                        <a:ea typeface="Courier New" charset="0"/>
                        <a:cs typeface="Courier New"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tc>
                  <a:txBody>
                    <a:bodyPr/>
                    <a:lstStyle/>
                    <a:p>
                      <a:pPr marL="0" indent="0">
                        <a:buNone/>
                      </a:pPr>
                      <a:r>
                        <a:rPr lang="en-US" sz="900" dirty="0">
                          <a:solidFill>
                            <a:srgbClr val="00CEC9"/>
                          </a:solidFill>
                          <a:latin typeface="Arial" pitchFamily="34" charset="0"/>
                          <a:ea typeface="Arial" pitchFamily="34" charset="-122"/>
                          <a:cs typeface="Arial" pitchFamily="34" charset="-120"/>
                        </a:rPr>
                        <a:t>Comparative</a:t>
                      </a:r>
                      <a:endParaRPr lang="en-US" sz="9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extLst>
                  <a:ext uri="{0D108BD9-81ED-4DB2-BD59-A6C34878D82A}">
                    <a16:rowId xmlns:a16="http://schemas.microsoft.com/office/drawing/2014/main" val="10011"/>
                  </a:ext>
                </a:extLst>
              </a:tr>
              <a:tr h="0">
                <a:tc>
                  <a:txBody>
                    <a:bodyPr/>
                    <a:lstStyle/>
                    <a:p>
                      <a:pPr marL="0" indent="0">
                        <a:buNone/>
                      </a:pPr>
                      <a:r>
                        <a:rPr lang="en-US" sz="900" dirty="0">
                          <a:solidFill>
                            <a:srgbClr val="FFFFFF"/>
                          </a:solidFill>
                          <a:latin typeface="Arial" pitchFamily="34" charset="0"/>
                          <a:ea typeface="Arial" pitchFamily="34" charset="-122"/>
                          <a:cs typeface="Arial" pitchFamily="34" charset="-120"/>
                        </a:rPr>
                        <a:t>Avg Days to Ship</a:t>
                      </a:r>
                      <a:endParaRPr lang="en-US" sz="9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tc>
                  <a:txBody>
                    <a:bodyPr/>
                    <a:lstStyle/>
                    <a:p>
                      <a:pPr marL="0" indent="0">
                        <a:buNone/>
                      </a:pPr>
                      <a:r>
                        <a:rPr lang="en-US" sz="900" dirty="0">
                          <a:solidFill>
                            <a:srgbClr val="CCCCCC"/>
                          </a:solidFill>
                          <a:latin typeface="Courier New" pitchFamily="34" charset="0"/>
                          <a:ea typeface="Courier New" pitchFamily="34" charset="-122"/>
                          <a:cs typeface="Courier New" pitchFamily="34" charset="-120"/>
                        </a:rPr>
                        <a:t>AVERAGE(Orders[Days to Ship])</a:t>
                      </a:r>
                      <a:endParaRPr lang="en-US" sz="900" dirty="0">
                        <a:latin typeface="Courier New" charset="0"/>
                        <a:ea typeface="Courier New" charset="0"/>
                        <a:cs typeface="Courier New"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tc>
                  <a:txBody>
                    <a:bodyPr/>
                    <a:lstStyle/>
                    <a:p>
                      <a:pPr marL="0" indent="0">
                        <a:buNone/>
                      </a:pPr>
                      <a:r>
                        <a:rPr lang="en-US" sz="900" dirty="0">
                          <a:solidFill>
                            <a:srgbClr val="00CEC9"/>
                          </a:solidFill>
                          <a:latin typeface="Arial" pitchFamily="34" charset="0"/>
                          <a:ea typeface="Arial" pitchFamily="34" charset="-122"/>
                          <a:cs typeface="Arial" pitchFamily="34" charset="-120"/>
                        </a:rPr>
                        <a:t>Operational</a:t>
                      </a:r>
                      <a:endParaRPr lang="en-US" sz="9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extLst>
                  <a:ext uri="{0D108BD9-81ED-4DB2-BD59-A6C34878D82A}">
                    <a16:rowId xmlns:a16="http://schemas.microsoft.com/office/drawing/2014/main" val="10012"/>
                  </a:ext>
                </a:extLst>
              </a:tr>
              <a:tr h="0">
                <a:tc>
                  <a:txBody>
                    <a:bodyPr/>
                    <a:lstStyle/>
                    <a:p>
                      <a:pPr marL="0" indent="0">
                        <a:buNone/>
                      </a:pPr>
                      <a:r>
                        <a:rPr lang="en-US" sz="900" dirty="0">
                          <a:solidFill>
                            <a:srgbClr val="FFFFFF"/>
                          </a:solidFill>
                          <a:latin typeface="Arial" pitchFamily="34" charset="0"/>
                          <a:ea typeface="Arial" pitchFamily="34" charset="-122"/>
                          <a:cs typeface="Arial" pitchFamily="34" charset="-120"/>
                        </a:rPr>
                        <a:t>Sales 12M Moving Avg</a:t>
                      </a:r>
                      <a:endParaRPr lang="en-US" sz="9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tc>
                  <a:txBody>
                    <a:bodyPr/>
                    <a:lstStyle/>
                    <a:p>
                      <a:pPr marL="0" indent="0">
                        <a:buNone/>
                      </a:pPr>
                      <a:r>
                        <a:rPr lang="en-US" sz="900" dirty="0">
                          <a:solidFill>
                            <a:srgbClr val="CCCCCC"/>
                          </a:solidFill>
                          <a:latin typeface="Courier New" pitchFamily="34" charset="0"/>
                          <a:ea typeface="Courier New" pitchFamily="34" charset="-122"/>
                          <a:cs typeface="Courier New" pitchFamily="34" charset="-120"/>
                        </a:rPr>
                        <a:t>AVERAGEX(DATESINPERIOD(-12, MONTH)...)</a:t>
                      </a:r>
                      <a:endParaRPr lang="en-US" sz="900" dirty="0">
                        <a:latin typeface="Courier New" charset="0"/>
                        <a:ea typeface="Courier New" charset="0"/>
                        <a:cs typeface="Courier New"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tc>
                  <a:txBody>
                    <a:bodyPr/>
                    <a:lstStyle/>
                    <a:p>
                      <a:pPr marL="0" indent="0">
                        <a:buNone/>
                      </a:pPr>
                      <a:r>
                        <a:rPr lang="en-US" sz="900" dirty="0">
                          <a:solidFill>
                            <a:srgbClr val="00CEC9"/>
                          </a:solidFill>
                          <a:latin typeface="Arial" pitchFamily="34" charset="0"/>
                          <a:ea typeface="Arial" pitchFamily="34" charset="-122"/>
                          <a:cs typeface="Arial" pitchFamily="34" charset="-120"/>
                        </a:rPr>
                        <a:t>Trend</a:t>
                      </a:r>
                      <a:endParaRPr lang="en-US" sz="900" dirty="0">
                        <a:latin typeface="Arial" charset="0"/>
                        <a:ea typeface="Arial" charset="0"/>
                        <a:cs typeface="Arial" charset="0"/>
                      </a:endParaRPr>
                    </a:p>
                  </a:txBody>
                  <a:tcPr>
                    <a:lnL w="6350" cap="flat" cmpd="sng" algn="ctr">
                      <a:solidFill>
                        <a:srgbClr val="2A3A5E"/>
                      </a:solidFill>
                      <a:prstDash val="solid"/>
                      <a:round/>
                      <a:headEnd type="none" w="med" len="med"/>
                      <a:tailEnd type="none" w="med" len="med"/>
                    </a:lnL>
                    <a:lnR w="6350" cap="flat" cmpd="sng" algn="ctr">
                      <a:solidFill>
                        <a:srgbClr val="2A3A5E"/>
                      </a:solidFill>
                      <a:prstDash val="solid"/>
                      <a:round/>
                      <a:headEnd type="none" w="med" len="med"/>
                      <a:tailEnd type="none" w="med" len="med"/>
                    </a:lnR>
                    <a:lnT w="6350" cap="flat" cmpd="sng" algn="ctr">
                      <a:solidFill>
                        <a:srgbClr val="2A3A5E"/>
                      </a:solidFill>
                      <a:prstDash val="solid"/>
                      <a:round/>
                      <a:headEnd type="none" w="med" len="med"/>
                      <a:tailEnd type="none" w="med" len="med"/>
                    </a:lnT>
                    <a:lnB w="6350" cap="flat" cmpd="sng" algn="ctr">
                      <a:solidFill>
                        <a:srgbClr val="2A3A5E"/>
                      </a:solidFill>
                      <a:prstDash val="solid"/>
                      <a:round/>
                      <a:headEnd type="none" w="med" len="med"/>
                      <a:tailEnd type="none" w="med" len="med"/>
                    </a:lnB>
                    <a:solidFill>
                      <a:srgbClr val="1E2A4A"/>
                    </a:solidFill>
                  </a:tcPr>
                </a:tc>
                <a:extLst>
                  <a:ext uri="{0D108BD9-81ED-4DB2-BD59-A6C34878D82A}">
                    <a16:rowId xmlns:a16="http://schemas.microsoft.com/office/drawing/2014/main" val="10013"/>
                  </a:ext>
                </a:extLst>
              </a:tr>
            </a:tbl>
          </a:graphicData>
        </a:graphic>
      </p:graphicFrame>
      <p:sp>
        <p:nvSpPr>
          <p:cNvPr id="5" name="Text 2"/>
          <p:cNvSpPr/>
          <p:nvPr/>
        </p:nvSpPr>
        <p:spPr>
          <a:xfrm>
            <a:off x="0" y="6446520"/>
            <a:ext cx="12161520" cy="320040"/>
          </a:xfrm>
          <a:prstGeom prst="rect">
            <a:avLst/>
          </a:prstGeom>
          <a:noFill/>
          <a:ln/>
        </p:spPr>
        <p:txBody>
          <a:bodyPr wrap="square" rtlCol="0" anchor="ctr"/>
          <a:lstStyle/>
          <a:p>
            <a:pPr marL="0" indent="0" algn="ctr">
              <a:buNone/>
            </a:pPr>
            <a:r>
              <a:rPr lang="en-US" sz="800" dirty="0">
                <a:solidFill>
                  <a:srgbClr val="CCCCCC"/>
                </a:solidFill>
                <a:latin typeface="Arial" pitchFamily="34" charset="0"/>
                <a:ea typeface="Arial" pitchFamily="34" charset="-122"/>
                <a:cs typeface="Arial" pitchFamily="34" charset="-120"/>
              </a:rPr>
              <a:t>Zuri Electronics Analysis  |  Oluwatoni Oladipo  |  10/16</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7315200" cy="640080"/>
          </a:xfrm>
          <a:prstGeom prst="rect">
            <a:avLst/>
          </a:prstGeom>
          <a:noFill/>
          <a:ln/>
        </p:spPr>
        <p:txBody>
          <a:bodyPr wrap="square" rtlCol="0" anchor="ctr"/>
          <a:lstStyle/>
          <a:p>
            <a:pPr marL="0" indent="0">
              <a:buNone/>
            </a:pPr>
            <a:r>
              <a:rPr lang="en-US" sz="2800" b="1" dirty="0">
                <a:solidFill>
                  <a:srgbClr val="16213E"/>
                </a:solidFill>
                <a:latin typeface="Arial" pitchFamily="34" charset="0"/>
                <a:ea typeface="Arial" pitchFamily="34" charset="-122"/>
                <a:cs typeface="Arial" pitchFamily="34" charset="-120"/>
              </a:rPr>
              <a:t>DASHBOARD DESIGN</a:t>
            </a:r>
            <a:endParaRPr lang="en-US" sz="2800" dirty="0"/>
          </a:p>
        </p:txBody>
      </p:sp>
      <p:sp>
        <p:nvSpPr>
          <p:cNvPr id="3" name="Shape 1"/>
          <p:cNvSpPr/>
          <p:nvPr/>
        </p:nvSpPr>
        <p:spPr>
          <a:xfrm>
            <a:off x="640080" y="914400"/>
            <a:ext cx="3657600" cy="36576"/>
          </a:xfrm>
          <a:prstGeom prst="rect">
            <a:avLst/>
          </a:prstGeom>
          <a:solidFill>
            <a:srgbClr val="00CEC9"/>
          </a:solidFill>
          <a:ln/>
        </p:spPr>
      </p:sp>
      <p:pic>
        <p:nvPicPr>
          <p:cNvPr id="4" name="Image 0" descr="/home/claude/dashboard_full.png"/>
          <p:cNvPicPr>
            <a:picLocks noChangeAspect="1"/>
          </p:cNvPicPr>
          <p:nvPr/>
        </p:nvPicPr>
        <p:blipFill>
          <a:blip r:embed="rId3"/>
          <a:stretch>
            <a:fillRect/>
          </a:stretch>
        </p:blipFill>
        <p:spPr>
          <a:xfrm>
            <a:off x="274320" y="1097280"/>
            <a:ext cx="11612880" cy="5303520"/>
          </a:xfrm>
          <a:prstGeom prst="rect">
            <a:avLst/>
          </a:prstGeom>
        </p:spPr>
      </p:pic>
      <p:sp>
        <p:nvSpPr>
          <p:cNvPr id="5" name="Text 2"/>
          <p:cNvSpPr/>
          <p:nvPr/>
        </p:nvSpPr>
        <p:spPr>
          <a:xfrm>
            <a:off x="640080" y="6446520"/>
            <a:ext cx="10881360" cy="274320"/>
          </a:xfrm>
          <a:prstGeom prst="rect">
            <a:avLst/>
          </a:prstGeom>
          <a:noFill/>
          <a:ln/>
        </p:spPr>
        <p:txBody>
          <a:bodyPr wrap="square" rtlCol="0" anchor="ctr"/>
          <a:lstStyle/>
          <a:p>
            <a:pPr marL="0" indent="0" algn="ctr">
              <a:buNone/>
            </a:pPr>
            <a:r>
              <a:rPr lang="en-US" sz="900" i="1" dirty="0">
                <a:solidFill>
                  <a:srgbClr val="333333"/>
                </a:solidFill>
                <a:latin typeface="Arial" pitchFamily="34" charset="0"/>
                <a:ea typeface="Arial" pitchFamily="34" charset="-122"/>
                <a:cs typeface="Arial" pitchFamily="34" charset="-120"/>
              </a:rPr>
              <a:t>Interactive executive dashboard with KPI cards, donut charts, bar charts, line trend, and slicers for Region, Year, Category, and Segment</a:t>
            </a:r>
            <a:endParaRPr lang="en-US" sz="900" dirty="0"/>
          </a:p>
        </p:txBody>
      </p:sp>
      <p:sp>
        <p:nvSpPr>
          <p:cNvPr id="6" name="Text 3"/>
          <p:cNvSpPr/>
          <p:nvPr/>
        </p:nvSpPr>
        <p:spPr>
          <a:xfrm>
            <a:off x="0" y="6446520"/>
            <a:ext cx="12161520" cy="320040"/>
          </a:xfrm>
          <a:prstGeom prst="rect">
            <a:avLst/>
          </a:prstGeom>
          <a:noFill/>
          <a:ln/>
        </p:spPr>
        <p:txBody>
          <a:bodyPr wrap="square" rtlCol="0" anchor="ctr"/>
          <a:lstStyle/>
          <a:p>
            <a:pPr marL="0" indent="0" algn="ctr">
              <a:buNone/>
            </a:pPr>
            <a:r>
              <a:rPr lang="en-US" sz="800" dirty="0">
                <a:solidFill>
                  <a:srgbClr val="CCCCCC"/>
                </a:solidFill>
                <a:latin typeface="Arial" pitchFamily="34" charset="0"/>
                <a:ea typeface="Arial" pitchFamily="34" charset="-122"/>
                <a:cs typeface="Arial" pitchFamily="34" charset="-120"/>
              </a:rPr>
              <a:t>Zuri Electronics Analysis  |  Oluwatoni Oladipo  |  11/16</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A2E"/>
        </a:solidFill>
        <a:effectLst/>
      </p:bgPr>
    </p:bg>
    <p:spTree>
      <p:nvGrpSpPr>
        <p:cNvPr id="1" name=""/>
        <p:cNvGrpSpPr/>
        <p:nvPr/>
      </p:nvGrpSpPr>
      <p:grpSpPr>
        <a:xfrm>
          <a:off x="0" y="0"/>
          <a:ext cx="0" cy="0"/>
          <a:chOff x="0" y="0"/>
          <a:chExt cx="0" cy="0"/>
        </a:xfrm>
      </p:grpSpPr>
      <p:sp>
        <p:nvSpPr>
          <p:cNvPr id="2" name="Text 0"/>
          <p:cNvSpPr/>
          <p:nvPr/>
        </p:nvSpPr>
        <p:spPr>
          <a:xfrm>
            <a:off x="640080" y="365760"/>
            <a:ext cx="7315200" cy="640080"/>
          </a:xfrm>
          <a:prstGeom prst="rect">
            <a:avLst/>
          </a:prstGeom>
          <a:noFill/>
          <a:ln/>
        </p:spPr>
        <p:txBody>
          <a:bodyPr wrap="square" rtlCol="0" anchor="ctr"/>
          <a:lstStyle/>
          <a:p>
            <a:pPr marL="0" indent="0">
              <a:buNone/>
            </a:pPr>
            <a:r>
              <a:rPr lang="en-US" sz="2800" b="1" dirty="0">
                <a:solidFill>
                  <a:srgbClr val="FFFFFF"/>
                </a:solidFill>
                <a:latin typeface="Arial" pitchFamily="34" charset="0"/>
                <a:ea typeface="Arial" pitchFamily="34" charset="-122"/>
                <a:cs typeface="Arial" pitchFamily="34" charset="-120"/>
              </a:rPr>
              <a:t>KEY PERFORMANCE INDICATORS</a:t>
            </a:r>
            <a:endParaRPr lang="en-US" sz="2800" dirty="0"/>
          </a:p>
        </p:txBody>
      </p:sp>
      <p:sp>
        <p:nvSpPr>
          <p:cNvPr id="3" name="Shape 1"/>
          <p:cNvSpPr/>
          <p:nvPr/>
        </p:nvSpPr>
        <p:spPr>
          <a:xfrm>
            <a:off x="640080" y="960120"/>
            <a:ext cx="3657600" cy="36576"/>
          </a:xfrm>
          <a:prstGeom prst="rect">
            <a:avLst/>
          </a:prstGeom>
          <a:solidFill>
            <a:srgbClr val="00CEC9"/>
          </a:solidFill>
          <a:ln/>
        </p:spPr>
      </p:sp>
      <p:sp>
        <p:nvSpPr>
          <p:cNvPr id="4" name="Text 2"/>
          <p:cNvSpPr/>
          <p:nvPr/>
        </p:nvSpPr>
        <p:spPr>
          <a:xfrm>
            <a:off x="640080" y="1188720"/>
            <a:ext cx="4572000" cy="320040"/>
          </a:xfrm>
          <a:prstGeom prst="rect">
            <a:avLst/>
          </a:prstGeom>
          <a:noFill/>
          <a:ln/>
        </p:spPr>
        <p:txBody>
          <a:bodyPr wrap="square" rtlCol="0" anchor="ctr"/>
          <a:lstStyle/>
          <a:p>
            <a:pPr marL="0" indent="0">
              <a:buNone/>
            </a:pPr>
            <a:r>
              <a:rPr lang="en-US" sz="1400" b="1" dirty="0">
                <a:solidFill>
                  <a:srgbClr val="00CEC9"/>
                </a:solidFill>
                <a:latin typeface="Arial" pitchFamily="34" charset="0"/>
                <a:ea typeface="Arial" pitchFamily="34" charset="-122"/>
                <a:cs typeface="Arial" pitchFamily="34" charset="-120"/>
              </a:rPr>
              <a:t>Regional Performance</a:t>
            </a:r>
            <a:endParaRPr lang="en-US" sz="1400" dirty="0"/>
          </a:p>
        </p:txBody>
      </p:sp>
      <p:sp>
        <p:nvSpPr>
          <p:cNvPr id="5" name="Shape 3"/>
          <p:cNvSpPr/>
          <p:nvPr/>
        </p:nvSpPr>
        <p:spPr>
          <a:xfrm>
            <a:off x="640080" y="1645920"/>
            <a:ext cx="2560320" cy="1280160"/>
          </a:xfrm>
          <a:prstGeom prst="roundRect">
            <a:avLst>
              <a:gd name="adj" fmla="val 5714"/>
            </a:avLst>
          </a:prstGeom>
          <a:solidFill>
            <a:srgbClr val="1E2A4A"/>
          </a:solidFill>
          <a:ln/>
        </p:spPr>
      </p:sp>
      <p:sp>
        <p:nvSpPr>
          <p:cNvPr id="6" name="Text 4"/>
          <p:cNvSpPr/>
          <p:nvPr/>
        </p:nvSpPr>
        <p:spPr>
          <a:xfrm>
            <a:off x="640080" y="1691640"/>
            <a:ext cx="2560320" cy="320040"/>
          </a:xfrm>
          <a:prstGeom prst="rect">
            <a:avLst/>
          </a:prstGeom>
          <a:noFill/>
          <a:ln/>
        </p:spPr>
        <p:txBody>
          <a:bodyPr wrap="square" lIns="0" tIns="0" rIns="0" bIns="0" rtlCol="0" anchor="ctr"/>
          <a:lstStyle/>
          <a:p>
            <a:pPr marL="0" indent="0" algn="ctr">
              <a:buNone/>
            </a:pPr>
            <a:r>
              <a:rPr lang="en-US" sz="1100" dirty="0">
                <a:solidFill>
                  <a:srgbClr val="CCCCCC"/>
                </a:solidFill>
                <a:latin typeface="Arial" pitchFamily="34" charset="0"/>
                <a:ea typeface="Arial" pitchFamily="34" charset="-122"/>
                <a:cs typeface="Arial" pitchFamily="34" charset="-120"/>
              </a:rPr>
              <a:t>East</a:t>
            </a:r>
            <a:endParaRPr lang="en-US" sz="1100" dirty="0"/>
          </a:p>
        </p:txBody>
      </p:sp>
      <p:sp>
        <p:nvSpPr>
          <p:cNvPr id="7" name="Text 5"/>
          <p:cNvSpPr/>
          <p:nvPr/>
        </p:nvSpPr>
        <p:spPr>
          <a:xfrm>
            <a:off x="640080" y="1965960"/>
            <a:ext cx="2560320" cy="457200"/>
          </a:xfrm>
          <a:prstGeom prst="rect">
            <a:avLst/>
          </a:prstGeom>
          <a:noFill/>
          <a:ln/>
        </p:spPr>
        <p:txBody>
          <a:bodyPr wrap="square" lIns="0" tIns="0" rIns="0" bIns="0" rtlCol="0" anchor="ctr"/>
          <a:lstStyle/>
          <a:p>
            <a:pPr marL="0" indent="0" algn="ctr">
              <a:buNone/>
            </a:pPr>
            <a:r>
              <a:rPr lang="en-US" sz="2200" b="1" dirty="0">
                <a:solidFill>
                  <a:srgbClr val="00CEC9"/>
                </a:solidFill>
                <a:latin typeface="Arial" pitchFamily="34" charset="0"/>
                <a:ea typeface="Arial" pitchFamily="34" charset="-122"/>
                <a:cs typeface="Arial" pitchFamily="34" charset="-120"/>
              </a:rPr>
              <a:t>$1.19M</a:t>
            </a:r>
            <a:endParaRPr lang="en-US" sz="2200" dirty="0"/>
          </a:p>
        </p:txBody>
      </p:sp>
      <p:sp>
        <p:nvSpPr>
          <p:cNvPr id="8" name="Text 6"/>
          <p:cNvSpPr/>
          <p:nvPr/>
        </p:nvSpPr>
        <p:spPr>
          <a:xfrm>
            <a:off x="640080" y="2423160"/>
            <a:ext cx="2560320" cy="320040"/>
          </a:xfrm>
          <a:prstGeom prst="rect">
            <a:avLst/>
          </a:prstGeom>
          <a:noFill/>
          <a:ln/>
        </p:spPr>
        <p:txBody>
          <a:bodyPr wrap="square" lIns="0" tIns="0" rIns="0" bIns="0" rtlCol="0" anchor="ctr"/>
          <a:lstStyle/>
          <a:p>
            <a:pPr marL="0" indent="0" algn="ctr">
              <a:buNone/>
            </a:pPr>
            <a:r>
              <a:rPr lang="en-US" sz="1000" dirty="0">
                <a:solidFill>
                  <a:srgbClr val="CCCCCC"/>
                </a:solidFill>
                <a:latin typeface="Arial" pitchFamily="34" charset="0"/>
                <a:ea typeface="Arial" pitchFamily="34" charset="-122"/>
                <a:cs typeface="Arial" pitchFamily="34" charset="-120"/>
              </a:rPr>
              <a:t>27.57%  |  1st</a:t>
            </a:r>
            <a:endParaRPr lang="en-US" sz="1000" dirty="0"/>
          </a:p>
        </p:txBody>
      </p:sp>
      <p:sp>
        <p:nvSpPr>
          <p:cNvPr id="9" name="Shape 7"/>
          <p:cNvSpPr/>
          <p:nvPr/>
        </p:nvSpPr>
        <p:spPr>
          <a:xfrm>
            <a:off x="3474720" y="1645920"/>
            <a:ext cx="2560320" cy="1280160"/>
          </a:xfrm>
          <a:prstGeom prst="roundRect">
            <a:avLst>
              <a:gd name="adj" fmla="val 5714"/>
            </a:avLst>
          </a:prstGeom>
          <a:solidFill>
            <a:srgbClr val="1E2A4A"/>
          </a:solidFill>
          <a:ln/>
        </p:spPr>
      </p:sp>
      <p:sp>
        <p:nvSpPr>
          <p:cNvPr id="10" name="Text 8"/>
          <p:cNvSpPr/>
          <p:nvPr/>
        </p:nvSpPr>
        <p:spPr>
          <a:xfrm>
            <a:off x="3474720" y="1691640"/>
            <a:ext cx="2560320" cy="320040"/>
          </a:xfrm>
          <a:prstGeom prst="rect">
            <a:avLst/>
          </a:prstGeom>
          <a:noFill/>
          <a:ln/>
        </p:spPr>
        <p:txBody>
          <a:bodyPr wrap="square" lIns="0" tIns="0" rIns="0" bIns="0" rtlCol="0" anchor="ctr"/>
          <a:lstStyle/>
          <a:p>
            <a:pPr marL="0" indent="0" algn="ctr">
              <a:buNone/>
            </a:pPr>
            <a:r>
              <a:rPr lang="en-US" sz="1100" dirty="0">
                <a:solidFill>
                  <a:srgbClr val="CCCCCC"/>
                </a:solidFill>
                <a:latin typeface="Arial" pitchFamily="34" charset="0"/>
                <a:ea typeface="Arial" pitchFamily="34" charset="-122"/>
                <a:cs typeface="Arial" pitchFamily="34" charset="-120"/>
              </a:rPr>
              <a:t>South</a:t>
            </a:r>
            <a:endParaRPr lang="en-US" sz="1100" dirty="0"/>
          </a:p>
        </p:txBody>
      </p:sp>
      <p:sp>
        <p:nvSpPr>
          <p:cNvPr id="11" name="Text 9"/>
          <p:cNvSpPr/>
          <p:nvPr/>
        </p:nvSpPr>
        <p:spPr>
          <a:xfrm>
            <a:off x="3474720" y="1965960"/>
            <a:ext cx="2560320" cy="457200"/>
          </a:xfrm>
          <a:prstGeom prst="rect">
            <a:avLst/>
          </a:prstGeom>
          <a:noFill/>
          <a:ln/>
        </p:spPr>
        <p:txBody>
          <a:bodyPr wrap="square" lIns="0" tIns="0" rIns="0" bIns="0" rtlCol="0" anchor="ctr"/>
          <a:lstStyle/>
          <a:p>
            <a:pPr marL="0" indent="0" algn="ctr">
              <a:buNone/>
            </a:pPr>
            <a:r>
              <a:rPr lang="en-US" sz="2200" b="1" dirty="0">
                <a:solidFill>
                  <a:srgbClr val="00CEC9"/>
                </a:solidFill>
                <a:latin typeface="Arial" pitchFamily="34" charset="0"/>
                <a:ea typeface="Arial" pitchFamily="34" charset="-122"/>
                <a:cs typeface="Arial" pitchFamily="34" charset="-120"/>
              </a:rPr>
              <a:t>$1.09M</a:t>
            </a:r>
            <a:endParaRPr lang="en-US" sz="2200" dirty="0"/>
          </a:p>
        </p:txBody>
      </p:sp>
      <p:sp>
        <p:nvSpPr>
          <p:cNvPr id="12" name="Text 10"/>
          <p:cNvSpPr/>
          <p:nvPr/>
        </p:nvSpPr>
        <p:spPr>
          <a:xfrm>
            <a:off x="3474720" y="2423160"/>
            <a:ext cx="2560320" cy="320040"/>
          </a:xfrm>
          <a:prstGeom prst="rect">
            <a:avLst/>
          </a:prstGeom>
          <a:noFill/>
          <a:ln/>
        </p:spPr>
        <p:txBody>
          <a:bodyPr wrap="square" lIns="0" tIns="0" rIns="0" bIns="0" rtlCol="0" anchor="ctr"/>
          <a:lstStyle/>
          <a:p>
            <a:pPr marL="0" indent="0" algn="ctr">
              <a:buNone/>
            </a:pPr>
            <a:r>
              <a:rPr lang="en-US" sz="1000" dirty="0">
                <a:solidFill>
                  <a:srgbClr val="CCCCCC"/>
                </a:solidFill>
                <a:latin typeface="Arial" pitchFamily="34" charset="0"/>
                <a:ea typeface="Arial" pitchFamily="34" charset="-122"/>
                <a:cs typeface="Arial" pitchFamily="34" charset="-120"/>
              </a:rPr>
              <a:t>25.21%  |  2nd</a:t>
            </a:r>
            <a:endParaRPr lang="en-US" sz="1000" dirty="0"/>
          </a:p>
        </p:txBody>
      </p:sp>
      <p:sp>
        <p:nvSpPr>
          <p:cNvPr id="13" name="Shape 11"/>
          <p:cNvSpPr/>
          <p:nvPr/>
        </p:nvSpPr>
        <p:spPr>
          <a:xfrm>
            <a:off x="6309360" y="1645920"/>
            <a:ext cx="2560320" cy="1280160"/>
          </a:xfrm>
          <a:prstGeom prst="roundRect">
            <a:avLst>
              <a:gd name="adj" fmla="val 5714"/>
            </a:avLst>
          </a:prstGeom>
          <a:solidFill>
            <a:srgbClr val="1E2A4A"/>
          </a:solidFill>
          <a:ln/>
        </p:spPr>
      </p:sp>
      <p:sp>
        <p:nvSpPr>
          <p:cNvPr id="14" name="Text 12"/>
          <p:cNvSpPr/>
          <p:nvPr/>
        </p:nvSpPr>
        <p:spPr>
          <a:xfrm>
            <a:off x="6309360" y="1691640"/>
            <a:ext cx="2560320" cy="320040"/>
          </a:xfrm>
          <a:prstGeom prst="rect">
            <a:avLst/>
          </a:prstGeom>
          <a:noFill/>
          <a:ln/>
        </p:spPr>
        <p:txBody>
          <a:bodyPr wrap="square" lIns="0" tIns="0" rIns="0" bIns="0" rtlCol="0" anchor="ctr"/>
          <a:lstStyle/>
          <a:p>
            <a:pPr marL="0" indent="0" algn="ctr">
              <a:buNone/>
            </a:pPr>
            <a:r>
              <a:rPr lang="en-US" sz="1100" dirty="0">
                <a:solidFill>
                  <a:srgbClr val="CCCCCC"/>
                </a:solidFill>
                <a:latin typeface="Arial" pitchFamily="34" charset="0"/>
                <a:ea typeface="Arial" pitchFamily="34" charset="-122"/>
                <a:cs typeface="Arial" pitchFamily="34" charset="-120"/>
              </a:rPr>
              <a:t>Central</a:t>
            </a:r>
            <a:endParaRPr lang="en-US" sz="1100" dirty="0"/>
          </a:p>
        </p:txBody>
      </p:sp>
      <p:sp>
        <p:nvSpPr>
          <p:cNvPr id="15" name="Text 13"/>
          <p:cNvSpPr/>
          <p:nvPr/>
        </p:nvSpPr>
        <p:spPr>
          <a:xfrm>
            <a:off x="6309360" y="1965960"/>
            <a:ext cx="2560320" cy="457200"/>
          </a:xfrm>
          <a:prstGeom prst="rect">
            <a:avLst/>
          </a:prstGeom>
          <a:noFill/>
          <a:ln/>
        </p:spPr>
        <p:txBody>
          <a:bodyPr wrap="square" lIns="0" tIns="0" rIns="0" bIns="0" rtlCol="0" anchor="ctr"/>
          <a:lstStyle/>
          <a:p>
            <a:pPr marL="0" indent="0" algn="ctr">
              <a:buNone/>
            </a:pPr>
            <a:r>
              <a:rPr lang="en-US" sz="2200" b="1" dirty="0">
                <a:solidFill>
                  <a:srgbClr val="00CEC9"/>
                </a:solidFill>
                <a:latin typeface="Arial" pitchFamily="34" charset="0"/>
                <a:ea typeface="Arial" pitchFamily="34" charset="-122"/>
                <a:cs typeface="Arial" pitchFamily="34" charset="-120"/>
              </a:rPr>
              <a:t>$1.04M</a:t>
            </a:r>
            <a:endParaRPr lang="en-US" sz="2200" dirty="0"/>
          </a:p>
        </p:txBody>
      </p:sp>
      <p:sp>
        <p:nvSpPr>
          <p:cNvPr id="16" name="Text 14"/>
          <p:cNvSpPr/>
          <p:nvPr/>
        </p:nvSpPr>
        <p:spPr>
          <a:xfrm>
            <a:off x="6309360" y="2423160"/>
            <a:ext cx="2560320" cy="320040"/>
          </a:xfrm>
          <a:prstGeom prst="rect">
            <a:avLst/>
          </a:prstGeom>
          <a:noFill/>
          <a:ln/>
        </p:spPr>
        <p:txBody>
          <a:bodyPr wrap="square" lIns="0" tIns="0" rIns="0" bIns="0" rtlCol="0" anchor="ctr"/>
          <a:lstStyle/>
          <a:p>
            <a:pPr marL="0" indent="0" algn="ctr">
              <a:buNone/>
            </a:pPr>
            <a:r>
              <a:rPr lang="en-US" sz="1000" dirty="0">
                <a:solidFill>
                  <a:srgbClr val="CCCCCC"/>
                </a:solidFill>
                <a:latin typeface="Arial" pitchFamily="34" charset="0"/>
                <a:ea typeface="Arial" pitchFamily="34" charset="-122"/>
                <a:cs typeface="Arial" pitchFamily="34" charset="-120"/>
              </a:rPr>
              <a:t>24.03%  |  3rd</a:t>
            </a:r>
            <a:endParaRPr lang="en-US" sz="1000" dirty="0"/>
          </a:p>
        </p:txBody>
      </p:sp>
      <p:sp>
        <p:nvSpPr>
          <p:cNvPr id="17" name="Shape 15"/>
          <p:cNvSpPr/>
          <p:nvPr/>
        </p:nvSpPr>
        <p:spPr>
          <a:xfrm>
            <a:off x="9144000" y="1645920"/>
            <a:ext cx="2560320" cy="1280160"/>
          </a:xfrm>
          <a:prstGeom prst="roundRect">
            <a:avLst>
              <a:gd name="adj" fmla="val 5714"/>
            </a:avLst>
          </a:prstGeom>
          <a:solidFill>
            <a:srgbClr val="1E2A4A"/>
          </a:solidFill>
          <a:ln/>
        </p:spPr>
      </p:sp>
      <p:sp>
        <p:nvSpPr>
          <p:cNvPr id="18" name="Text 16"/>
          <p:cNvSpPr/>
          <p:nvPr/>
        </p:nvSpPr>
        <p:spPr>
          <a:xfrm>
            <a:off x="9144000" y="1691640"/>
            <a:ext cx="2560320" cy="320040"/>
          </a:xfrm>
          <a:prstGeom prst="rect">
            <a:avLst/>
          </a:prstGeom>
          <a:noFill/>
          <a:ln/>
        </p:spPr>
        <p:txBody>
          <a:bodyPr wrap="square" lIns="0" tIns="0" rIns="0" bIns="0" rtlCol="0" anchor="ctr"/>
          <a:lstStyle/>
          <a:p>
            <a:pPr marL="0" indent="0" algn="ctr">
              <a:buNone/>
            </a:pPr>
            <a:r>
              <a:rPr lang="en-US" sz="1100" dirty="0">
                <a:solidFill>
                  <a:srgbClr val="CCCCCC"/>
                </a:solidFill>
                <a:latin typeface="Arial" pitchFamily="34" charset="0"/>
                <a:ea typeface="Arial" pitchFamily="34" charset="-122"/>
                <a:cs typeface="Arial" pitchFamily="34" charset="-120"/>
              </a:rPr>
              <a:t>West</a:t>
            </a:r>
            <a:endParaRPr lang="en-US" sz="1100" dirty="0"/>
          </a:p>
        </p:txBody>
      </p:sp>
      <p:sp>
        <p:nvSpPr>
          <p:cNvPr id="19" name="Text 17"/>
          <p:cNvSpPr/>
          <p:nvPr/>
        </p:nvSpPr>
        <p:spPr>
          <a:xfrm>
            <a:off x="9144000" y="1965960"/>
            <a:ext cx="2560320" cy="457200"/>
          </a:xfrm>
          <a:prstGeom prst="rect">
            <a:avLst/>
          </a:prstGeom>
          <a:noFill/>
          <a:ln/>
        </p:spPr>
        <p:txBody>
          <a:bodyPr wrap="square" lIns="0" tIns="0" rIns="0" bIns="0" rtlCol="0" anchor="ctr"/>
          <a:lstStyle/>
          <a:p>
            <a:pPr marL="0" indent="0" algn="ctr">
              <a:buNone/>
            </a:pPr>
            <a:r>
              <a:rPr lang="en-US" sz="2200" b="1" dirty="0">
                <a:solidFill>
                  <a:srgbClr val="00CEC9"/>
                </a:solidFill>
                <a:latin typeface="Arial" pitchFamily="34" charset="0"/>
                <a:ea typeface="Arial" pitchFamily="34" charset="-122"/>
                <a:cs typeface="Arial" pitchFamily="34" charset="-120"/>
              </a:rPr>
              <a:t>$1.00M</a:t>
            </a:r>
            <a:endParaRPr lang="en-US" sz="2200" dirty="0"/>
          </a:p>
        </p:txBody>
      </p:sp>
      <p:sp>
        <p:nvSpPr>
          <p:cNvPr id="20" name="Text 18"/>
          <p:cNvSpPr/>
          <p:nvPr/>
        </p:nvSpPr>
        <p:spPr>
          <a:xfrm>
            <a:off x="9144000" y="2423160"/>
            <a:ext cx="2560320" cy="320040"/>
          </a:xfrm>
          <a:prstGeom prst="rect">
            <a:avLst/>
          </a:prstGeom>
          <a:noFill/>
          <a:ln/>
        </p:spPr>
        <p:txBody>
          <a:bodyPr wrap="square" lIns="0" tIns="0" rIns="0" bIns="0" rtlCol="0" anchor="ctr"/>
          <a:lstStyle/>
          <a:p>
            <a:pPr marL="0" indent="0" algn="ctr">
              <a:buNone/>
            </a:pPr>
            <a:r>
              <a:rPr lang="en-US" sz="1000" dirty="0">
                <a:solidFill>
                  <a:srgbClr val="CCCCCC"/>
                </a:solidFill>
                <a:latin typeface="Arial" pitchFamily="34" charset="0"/>
                <a:ea typeface="Arial" pitchFamily="34" charset="-122"/>
                <a:cs typeface="Arial" pitchFamily="34" charset="-120"/>
              </a:rPr>
              <a:t>23.19%  |  4th</a:t>
            </a:r>
            <a:endParaRPr lang="en-US" sz="1000" dirty="0"/>
          </a:p>
        </p:txBody>
      </p:sp>
      <p:sp>
        <p:nvSpPr>
          <p:cNvPr id="21" name="Text 19"/>
          <p:cNvSpPr/>
          <p:nvPr/>
        </p:nvSpPr>
        <p:spPr>
          <a:xfrm>
            <a:off x="640080" y="3200400"/>
            <a:ext cx="4572000" cy="320040"/>
          </a:xfrm>
          <a:prstGeom prst="rect">
            <a:avLst/>
          </a:prstGeom>
          <a:noFill/>
          <a:ln/>
        </p:spPr>
        <p:txBody>
          <a:bodyPr wrap="square" rtlCol="0" anchor="ctr"/>
          <a:lstStyle/>
          <a:p>
            <a:pPr marL="0" indent="0">
              <a:buNone/>
            </a:pPr>
            <a:r>
              <a:rPr lang="en-US" sz="1400" b="1" dirty="0">
                <a:solidFill>
                  <a:srgbClr val="00CEC9"/>
                </a:solidFill>
                <a:latin typeface="Arial" pitchFamily="34" charset="0"/>
                <a:ea typeface="Arial" pitchFamily="34" charset="-122"/>
                <a:cs typeface="Arial" pitchFamily="34" charset="-120"/>
              </a:rPr>
              <a:t>Segment Performance</a:t>
            </a:r>
            <a:endParaRPr lang="en-US" sz="1400" dirty="0"/>
          </a:p>
        </p:txBody>
      </p:sp>
      <p:sp>
        <p:nvSpPr>
          <p:cNvPr id="22" name="Shape 20"/>
          <p:cNvSpPr/>
          <p:nvPr/>
        </p:nvSpPr>
        <p:spPr>
          <a:xfrm>
            <a:off x="640080" y="3657600"/>
            <a:ext cx="3474720" cy="1097280"/>
          </a:xfrm>
          <a:prstGeom prst="roundRect">
            <a:avLst>
              <a:gd name="adj" fmla="val 6667"/>
            </a:avLst>
          </a:prstGeom>
          <a:solidFill>
            <a:srgbClr val="1E2A4A"/>
          </a:solidFill>
          <a:ln/>
        </p:spPr>
      </p:sp>
      <p:sp>
        <p:nvSpPr>
          <p:cNvPr id="23" name="Text 21"/>
          <p:cNvSpPr/>
          <p:nvPr/>
        </p:nvSpPr>
        <p:spPr>
          <a:xfrm>
            <a:off x="640080" y="3703320"/>
            <a:ext cx="3474720" cy="320040"/>
          </a:xfrm>
          <a:prstGeom prst="rect">
            <a:avLst/>
          </a:prstGeom>
          <a:noFill/>
          <a:ln/>
        </p:spPr>
        <p:txBody>
          <a:bodyPr wrap="square" lIns="0" tIns="0" rIns="0" bIns="0" rtlCol="0" anchor="ctr"/>
          <a:lstStyle/>
          <a:p>
            <a:pPr marL="0" indent="0" algn="ctr">
              <a:buNone/>
            </a:pPr>
            <a:r>
              <a:rPr lang="en-US" sz="1100" dirty="0">
                <a:solidFill>
                  <a:srgbClr val="CCCCCC"/>
                </a:solidFill>
                <a:latin typeface="Arial" pitchFamily="34" charset="0"/>
                <a:ea typeface="Arial" pitchFamily="34" charset="-122"/>
                <a:cs typeface="Arial" pitchFamily="34" charset="-120"/>
              </a:rPr>
              <a:t>Consumer</a:t>
            </a:r>
            <a:endParaRPr lang="en-US" sz="1100" dirty="0"/>
          </a:p>
        </p:txBody>
      </p:sp>
      <p:sp>
        <p:nvSpPr>
          <p:cNvPr id="24" name="Text 22"/>
          <p:cNvSpPr/>
          <p:nvPr/>
        </p:nvSpPr>
        <p:spPr>
          <a:xfrm>
            <a:off x="640080" y="3977640"/>
            <a:ext cx="3474720" cy="411480"/>
          </a:xfrm>
          <a:prstGeom prst="rect">
            <a:avLst/>
          </a:prstGeom>
          <a:noFill/>
          <a:ln/>
        </p:spPr>
        <p:txBody>
          <a:bodyPr wrap="square" lIns="0" tIns="0" rIns="0" bIns="0" rtlCol="0" anchor="ctr"/>
          <a:lstStyle/>
          <a:p>
            <a:pPr marL="0" indent="0" algn="ctr">
              <a:buNone/>
            </a:pPr>
            <a:r>
              <a:rPr lang="en-US" sz="2200" b="1" dirty="0">
                <a:solidFill>
                  <a:srgbClr val="00CEC9"/>
                </a:solidFill>
                <a:latin typeface="Arial" pitchFamily="34" charset="0"/>
                <a:ea typeface="Arial" pitchFamily="34" charset="-122"/>
                <a:cs typeface="Arial" pitchFamily="34" charset="-120"/>
              </a:rPr>
              <a:t>$1.67M</a:t>
            </a:r>
            <a:endParaRPr lang="en-US" sz="2200" dirty="0"/>
          </a:p>
        </p:txBody>
      </p:sp>
      <p:sp>
        <p:nvSpPr>
          <p:cNvPr id="25" name="Text 23"/>
          <p:cNvSpPr/>
          <p:nvPr/>
        </p:nvSpPr>
        <p:spPr>
          <a:xfrm>
            <a:off x="640080" y="4343400"/>
            <a:ext cx="3474720" cy="274320"/>
          </a:xfrm>
          <a:prstGeom prst="rect">
            <a:avLst/>
          </a:prstGeom>
          <a:noFill/>
          <a:ln/>
        </p:spPr>
        <p:txBody>
          <a:bodyPr wrap="square" lIns="0" tIns="0" rIns="0" bIns="0" rtlCol="0" anchor="ctr"/>
          <a:lstStyle/>
          <a:p>
            <a:pPr marL="0" indent="0" algn="ctr">
              <a:buNone/>
            </a:pPr>
            <a:r>
              <a:rPr lang="en-US" sz="1000" dirty="0">
                <a:solidFill>
                  <a:srgbClr val="CCCCCC"/>
                </a:solidFill>
                <a:latin typeface="Arial" pitchFamily="34" charset="0"/>
                <a:ea typeface="Arial" pitchFamily="34" charset="-122"/>
                <a:cs typeface="Arial" pitchFamily="34" charset="-120"/>
              </a:rPr>
              <a:t>38.73%</a:t>
            </a:r>
            <a:endParaRPr lang="en-US" sz="1000" dirty="0"/>
          </a:p>
        </p:txBody>
      </p:sp>
      <p:sp>
        <p:nvSpPr>
          <p:cNvPr id="26" name="Shape 24"/>
          <p:cNvSpPr/>
          <p:nvPr/>
        </p:nvSpPr>
        <p:spPr>
          <a:xfrm>
            <a:off x="4389120" y="3657600"/>
            <a:ext cx="3474720" cy="1097280"/>
          </a:xfrm>
          <a:prstGeom prst="roundRect">
            <a:avLst>
              <a:gd name="adj" fmla="val 6667"/>
            </a:avLst>
          </a:prstGeom>
          <a:solidFill>
            <a:srgbClr val="1E2A4A"/>
          </a:solidFill>
          <a:ln/>
        </p:spPr>
      </p:sp>
      <p:sp>
        <p:nvSpPr>
          <p:cNvPr id="27" name="Text 25"/>
          <p:cNvSpPr/>
          <p:nvPr/>
        </p:nvSpPr>
        <p:spPr>
          <a:xfrm>
            <a:off x="4389120" y="3703320"/>
            <a:ext cx="3474720" cy="320040"/>
          </a:xfrm>
          <a:prstGeom prst="rect">
            <a:avLst/>
          </a:prstGeom>
          <a:noFill/>
          <a:ln/>
        </p:spPr>
        <p:txBody>
          <a:bodyPr wrap="square" lIns="0" tIns="0" rIns="0" bIns="0" rtlCol="0" anchor="ctr"/>
          <a:lstStyle/>
          <a:p>
            <a:pPr marL="0" indent="0" algn="ctr">
              <a:buNone/>
            </a:pPr>
            <a:r>
              <a:rPr lang="en-US" sz="1100" dirty="0">
                <a:solidFill>
                  <a:srgbClr val="CCCCCC"/>
                </a:solidFill>
                <a:latin typeface="Arial" pitchFamily="34" charset="0"/>
                <a:ea typeface="Arial" pitchFamily="34" charset="-122"/>
                <a:cs typeface="Arial" pitchFamily="34" charset="-120"/>
              </a:rPr>
              <a:t>Home Office</a:t>
            </a:r>
            <a:endParaRPr lang="en-US" sz="1100" dirty="0"/>
          </a:p>
        </p:txBody>
      </p:sp>
      <p:sp>
        <p:nvSpPr>
          <p:cNvPr id="28" name="Text 26"/>
          <p:cNvSpPr/>
          <p:nvPr/>
        </p:nvSpPr>
        <p:spPr>
          <a:xfrm>
            <a:off x="4389120" y="3977640"/>
            <a:ext cx="3474720" cy="411480"/>
          </a:xfrm>
          <a:prstGeom prst="rect">
            <a:avLst/>
          </a:prstGeom>
          <a:noFill/>
          <a:ln/>
        </p:spPr>
        <p:txBody>
          <a:bodyPr wrap="square" lIns="0" tIns="0" rIns="0" bIns="0" rtlCol="0" anchor="ctr"/>
          <a:lstStyle/>
          <a:p>
            <a:pPr marL="0" indent="0" algn="ctr">
              <a:buNone/>
            </a:pPr>
            <a:r>
              <a:rPr lang="en-US" sz="2200" b="1" dirty="0">
                <a:solidFill>
                  <a:srgbClr val="00CEC9"/>
                </a:solidFill>
                <a:latin typeface="Arial" pitchFamily="34" charset="0"/>
                <a:ea typeface="Arial" pitchFamily="34" charset="-122"/>
                <a:cs typeface="Arial" pitchFamily="34" charset="-120"/>
              </a:rPr>
              <a:t>$1.47M</a:t>
            </a:r>
            <a:endParaRPr lang="en-US" sz="2200" dirty="0"/>
          </a:p>
        </p:txBody>
      </p:sp>
      <p:sp>
        <p:nvSpPr>
          <p:cNvPr id="29" name="Text 27"/>
          <p:cNvSpPr/>
          <p:nvPr/>
        </p:nvSpPr>
        <p:spPr>
          <a:xfrm>
            <a:off x="4389120" y="4343400"/>
            <a:ext cx="3474720" cy="274320"/>
          </a:xfrm>
          <a:prstGeom prst="rect">
            <a:avLst/>
          </a:prstGeom>
          <a:noFill/>
          <a:ln/>
        </p:spPr>
        <p:txBody>
          <a:bodyPr wrap="square" lIns="0" tIns="0" rIns="0" bIns="0" rtlCol="0" anchor="ctr"/>
          <a:lstStyle/>
          <a:p>
            <a:pPr marL="0" indent="0" algn="ctr">
              <a:buNone/>
            </a:pPr>
            <a:r>
              <a:rPr lang="en-US" sz="1000" dirty="0">
                <a:solidFill>
                  <a:srgbClr val="CCCCCC"/>
                </a:solidFill>
                <a:latin typeface="Arial" pitchFamily="34" charset="0"/>
                <a:ea typeface="Arial" pitchFamily="34" charset="-122"/>
                <a:cs typeface="Arial" pitchFamily="34" charset="-120"/>
              </a:rPr>
              <a:t>34.18%</a:t>
            </a:r>
            <a:endParaRPr lang="en-US" sz="1000" dirty="0"/>
          </a:p>
        </p:txBody>
      </p:sp>
      <p:sp>
        <p:nvSpPr>
          <p:cNvPr id="30" name="Shape 28"/>
          <p:cNvSpPr/>
          <p:nvPr/>
        </p:nvSpPr>
        <p:spPr>
          <a:xfrm>
            <a:off x="8138160" y="3657600"/>
            <a:ext cx="3474720" cy="1097280"/>
          </a:xfrm>
          <a:prstGeom prst="roundRect">
            <a:avLst>
              <a:gd name="adj" fmla="val 6667"/>
            </a:avLst>
          </a:prstGeom>
          <a:solidFill>
            <a:srgbClr val="1E2A4A"/>
          </a:solidFill>
          <a:ln/>
        </p:spPr>
      </p:sp>
      <p:sp>
        <p:nvSpPr>
          <p:cNvPr id="31" name="Text 29"/>
          <p:cNvSpPr/>
          <p:nvPr/>
        </p:nvSpPr>
        <p:spPr>
          <a:xfrm>
            <a:off x="8138160" y="3703320"/>
            <a:ext cx="3474720" cy="320040"/>
          </a:xfrm>
          <a:prstGeom prst="rect">
            <a:avLst/>
          </a:prstGeom>
          <a:noFill/>
          <a:ln/>
        </p:spPr>
        <p:txBody>
          <a:bodyPr wrap="square" lIns="0" tIns="0" rIns="0" bIns="0" rtlCol="0" anchor="ctr"/>
          <a:lstStyle/>
          <a:p>
            <a:pPr marL="0" indent="0" algn="ctr">
              <a:buNone/>
            </a:pPr>
            <a:r>
              <a:rPr lang="en-US" sz="1100" dirty="0">
                <a:solidFill>
                  <a:srgbClr val="CCCCCC"/>
                </a:solidFill>
                <a:latin typeface="Arial" pitchFamily="34" charset="0"/>
                <a:ea typeface="Arial" pitchFamily="34" charset="-122"/>
                <a:cs typeface="Arial" pitchFamily="34" charset="-120"/>
              </a:rPr>
              <a:t>Corporate</a:t>
            </a:r>
            <a:endParaRPr lang="en-US" sz="1100" dirty="0"/>
          </a:p>
        </p:txBody>
      </p:sp>
      <p:sp>
        <p:nvSpPr>
          <p:cNvPr id="32" name="Text 30"/>
          <p:cNvSpPr/>
          <p:nvPr/>
        </p:nvSpPr>
        <p:spPr>
          <a:xfrm>
            <a:off x="8138160" y="3977640"/>
            <a:ext cx="3474720" cy="411480"/>
          </a:xfrm>
          <a:prstGeom prst="rect">
            <a:avLst/>
          </a:prstGeom>
          <a:noFill/>
          <a:ln/>
        </p:spPr>
        <p:txBody>
          <a:bodyPr wrap="square" lIns="0" tIns="0" rIns="0" bIns="0" rtlCol="0" anchor="ctr"/>
          <a:lstStyle/>
          <a:p>
            <a:pPr marL="0" indent="0" algn="ctr">
              <a:buNone/>
            </a:pPr>
            <a:r>
              <a:rPr lang="en-US" sz="2200" b="1" dirty="0">
                <a:solidFill>
                  <a:srgbClr val="00CEC9"/>
                </a:solidFill>
                <a:latin typeface="Arial" pitchFamily="34" charset="0"/>
                <a:ea typeface="Arial" pitchFamily="34" charset="-122"/>
                <a:cs typeface="Arial" pitchFamily="34" charset="-120"/>
              </a:rPr>
              <a:t>$1.17M</a:t>
            </a:r>
            <a:endParaRPr lang="en-US" sz="2200" dirty="0"/>
          </a:p>
        </p:txBody>
      </p:sp>
      <p:sp>
        <p:nvSpPr>
          <p:cNvPr id="33" name="Text 31"/>
          <p:cNvSpPr/>
          <p:nvPr/>
        </p:nvSpPr>
        <p:spPr>
          <a:xfrm>
            <a:off x="8138160" y="4343400"/>
            <a:ext cx="3474720" cy="274320"/>
          </a:xfrm>
          <a:prstGeom prst="rect">
            <a:avLst/>
          </a:prstGeom>
          <a:noFill/>
          <a:ln/>
        </p:spPr>
        <p:txBody>
          <a:bodyPr wrap="square" lIns="0" tIns="0" rIns="0" bIns="0" rtlCol="0" anchor="ctr"/>
          <a:lstStyle/>
          <a:p>
            <a:pPr marL="0" indent="0" algn="ctr">
              <a:buNone/>
            </a:pPr>
            <a:r>
              <a:rPr lang="en-US" sz="1000" dirty="0">
                <a:solidFill>
                  <a:srgbClr val="CCCCCC"/>
                </a:solidFill>
                <a:latin typeface="Arial" pitchFamily="34" charset="0"/>
                <a:ea typeface="Arial" pitchFamily="34" charset="-122"/>
                <a:cs typeface="Arial" pitchFamily="34" charset="-120"/>
              </a:rPr>
              <a:t>27.09%</a:t>
            </a:r>
            <a:endParaRPr lang="en-US" sz="1000" dirty="0"/>
          </a:p>
        </p:txBody>
      </p:sp>
      <p:sp>
        <p:nvSpPr>
          <p:cNvPr id="34" name="Text 32"/>
          <p:cNvSpPr/>
          <p:nvPr/>
        </p:nvSpPr>
        <p:spPr>
          <a:xfrm>
            <a:off x="640080" y="5029200"/>
            <a:ext cx="4572000" cy="320040"/>
          </a:xfrm>
          <a:prstGeom prst="rect">
            <a:avLst/>
          </a:prstGeom>
          <a:noFill/>
          <a:ln/>
        </p:spPr>
        <p:txBody>
          <a:bodyPr wrap="square" rtlCol="0" anchor="ctr"/>
          <a:lstStyle/>
          <a:p>
            <a:pPr marL="0" indent="0">
              <a:buNone/>
            </a:pPr>
            <a:r>
              <a:rPr lang="en-US" sz="1400" b="1" dirty="0">
                <a:solidFill>
                  <a:srgbClr val="00CEC9"/>
                </a:solidFill>
                <a:latin typeface="Arial" pitchFamily="34" charset="0"/>
                <a:ea typeface="Arial" pitchFamily="34" charset="-122"/>
                <a:cs typeface="Arial" pitchFamily="34" charset="-120"/>
              </a:rPr>
              <a:t>Top 5 Products by Profit</a:t>
            </a:r>
            <a:endParaRPr lang="en-US" sz="1400" dirty="0"/>
          </a:p>
        </p:txBody>
      </p:sp>
      <p:sp>
        <p:nvSpPr>
          <p:cNvPr id="35" name="Text 33"/>
          <p:cNvSpPr/>
          <p:nvPr/>
        </p:nvSpPr>
        <p:spPr>
          <a:xfrm>
            <a:off x="640080" y="5440680"/>
            <a:ext cx="2103120" cy="457200"/>
          </a:xfrm>
          <a:prstGeom prst="rect">
            <a:avLst/>
          </a:prstGeom>
          <a:solidFill>
            <a:srgbClr val="1E2A4A"/>
          </a:solidFill>
          <a:ln/>
        </p:spPr>
        <p:txBody>
          <a:bodyPr wrap="square" rtlCol="0" anchor="ctr"/>
          <a:lstStyle/>
          <a:p>
            <a:pPr marL="0" indent="0" algn="ctr">
              <a:buNone/>
            </a:pPr>
            <a:r>
              <a:rPr lang="en-US" sz="900" dirty="0">
                <a:solidFill>
                  <a:srgbClr val="FFFFFF"/>
                </a:solidFill>
                <a:latin typeface="Arial" pitchFamily="34" charset="0"/>
                <a:ea typeface="Arial" pitchFamily="34" charset="-122"/>
                <a:cs typeface="Arial" pitchFamily="34" charset="-120"/>
              </a:rPr>
              <a:t>Paper Premium 755 — $53K</a:t>
            </a:r>
            <a:endParaRPr lang="en-US" sz="900" dirty="0"/>
          </a:p>
        </p:txBody>
      </p:sp>
      <p:sp>
        <p:nvSpPr>
          <p:cNvPr id="36" name="Text 34"/>
          <p:cNvSpPr/>
          <p:nvPr/>
        </p:nvSpPr>
        <p:spPr>
          <a:xfrm>
            <a:off x="2926080" y="5440680"/>
            <a:ext cx="2103120" cy="457200"/>
          </a:xfrm>
          <a:prstGeom prst="rect">
            <a:avLst/>
          </a:prstGeom>
          <a:solidFill>
            <a:srgbClr val="1E2A4A"/>
          </a:solidFill>
          <a:ln/>
        </p:spPr>
        <p:txBody>
          <a:bodyPr wrap="square" rtlCol="0" anchor="ctr"/>
          <a:lstStyle/>
          <a:p>
            <a:pPr marL="0" indent="0" algn="ctr">
              <a:buNone/>
            </a:pPr>
            <a:r>
              <a:rPr lang="en-US" sz="900" dirty="0">
                <a:solidFill>
                  <a:srgbClr val="FFFFFF"/>
                </a:solidFill>
                <a:latin typeface="Arial" pitchFamily="34" charset="0"/>
                <a:ea typeface="Arial" pitchFamily="34" charset="-122"/>
                <a:cs typeface="Arial" pitchFamily="34" charset="-120"/>
              </a:rPr>
              <a:t>Copier Eco 562 — $51K</a:t>
            </a:r>
            <a:endParaRPr lang="en-US" sz="900" dirty="0"/>
          </a:p>
        </p:txBody>
      </p:sp>
      <p:sp>
        <p:nvSpPr>
          <p:cNvPr id="37" name="Text 35"/>
          <p:cNvSpPr/>
          <p:nvPr/>
        </p:nvSpPr>
        <p:spPr>
          <a:xfrm>
            <a:off x="5212080" y="5440680"/>
            <a:ext cx="2103120" cy="457200"/>
          </a:xfrm>
          <a:prstGeom prst="rect">
            <a:avLst/>
          </a:prstGeom>
          <a:solidFill>
            <a:srgbClr val="1E2A4A"/>
          </a:solidFill>
          <a:ln/>
        </p:spPr>
        <p:txBody>
          <a:bodyPr wrap="square" rtlCol="0" anchor="ctr"/>
          <a:lstStyle/>
          <a:p>
            <a:pPr marL="0" indent="0" algn="ctr">
              <a:buNone/>
            </a:pPr>
            <a:r>
              <a:rPr lang="en-US" sz="900" dirty="0">
                <a:solidFill>
                  <a:srgbClr val="FFFFFF"/>
                </a:solidFill>
                <a:latin typeface="Arial" pitchFamily="34" charset="0"/>
                <a:ea typeface="Arial" pitchFamily="34" charset="-122"/>
                <a:cs typeface="Arial" pitchFamily="34" charset="-120"/>
              </a:rPr>
              <a:t>Chair Max 125 — $47K</a:t>
            </a:r>
            <a:endParaRPr lang="en-US" sz="900" dirty="0"/>
          </a:p>
        </p:txBody>
      </p:sp>
      <p:sp>
        <p:nvSpPr>
          <p:cNvPr id="38" name="Text 36"/>
          <p:cNvSpPr/>
          <p:nvPr/>
        </p:nvSpPr>
        <p:spPr>
          <a:xfrm>
            <a:off x="7498080" y="5440680"/>
            <a:ext cx="2103120" cy="457200"/>
          </a:xfrm>
          <a:prstGeom prst="rect">
            <a:avLst/>
          </a:prstGeom>
          <a:solidFill>
            <a:srgbClr val="1E2A4A"/>
          </a:solidFill>
          <a:ln/>
        </p:spPr>
        <p:txBody>
          <a:bodyPr wrap="square" rtlCol="0" anchor="ctr"/>
          <a:lstStyle/>
          <a:p>
            <a:pPr marL="0" indent="0" algn="ctr">
              <a:buNone/>
            </a:pPr>
            <a:r>
              <a:rPr lang="en-US" sz="900" dirty="0">
                <a:solidFill>
                  <a:srgbClr val="FFFFFF"/>
                </a:solidFill>
                <a:latin typeface="Arial" pitchFamily="34" charset="0"/>
                <a:ea typeface="Arial" pitchFamily="34" charset="-122"/>
                <a:cs typeface="Arial" pitchFamily="34" charset="-120"/>
              </a:rPr>
              <a:t>Table Standard 448 — $46K</a:t>
            </a:r>
            <a:endParaRPr lang="en-US" sz="900" dirty="0"/>
          </a:p>
        </p:txBody>
      </p:sp>
      <p:sp>
        <p:nvSpPr>
          <p:cNvPr id="39" name="Text 37"/>
          <p:cNvSpPr/>
          <p:nvPr/>
        </p:nvSpPr>
        <p:spPr>
          <a:xfrm>
            <a:off x="9784080" y="5440680"/>
            <a:ext cx="2103120" cy="457200"/>
          </a:xfrm>
          <a:prstGeom prst="rect">
            <a:avLst/>
          </a:prstGeom>
          <a:solidFill>
            <a:srgbClr val="1E2A4A"/>
          </a:solidFill>
          <a:ln/>
        </p:spPr>
        <p:txBody>
          <a:bodyPr wrap="square" rtlCol="0" anchor="ctr"/>
          <a:lstStyle/>
          <a:p>
            <a:pPr marL="0" indent="0" algn="ctr">
              <a:buNone/>
            </a:pPr>
            <a:r>
              <a:rPr lang="en-US" sz="900" dirty="0">
                <a:solidFill>
                  <a:srgbClr val="FFFFFF"/>
                </a:solidFill>
                <a:latin typeface="Arial" pitchFamily="34" charset="0"/>
                <a:ea typeface="Arial" pitchFamily="34" charset="-122"/>
                <a:cs typeface="Arial" pitchFamily="34" charset="-120"/>
              </a:rPr>
              <a:t>Storage Premium 242 — $44K</a:t>
            </a:r>
            <a:endParaRPr lang="en-US" sz="900" dirty="0"/>
          </a:p>
        </p:txBody>
      </p:sp>
      <p:sp>
        <p:nvSpPr>
          <p:cNvPr id="40" name="Text 38"/>
          <p:cNvSpPr/>
          <p:nvPr/>
        </p:nvSpPr>
        <p:spPr>
          <a:xfrm>
            <a:off x="0" y="6446520"/>
            <a:ext cx="12161520" cy="320040"/>
          </a:xfrm>
          <a:prstGeom prst="rect">
            <a:avLst/>
          </a:prstGeom>
          <a:noFill/>
          <a:ln/>
        </p:spPr>
        <p:txBody>
          <a:bodyPr wrap="square" rtlCol="0" anchor="ctr"/>
          <a:lstStyle/>
          <a:p>
            <a:pPr marL="0" indent="0" algn="ctr">
              <a:buNone/>
            </a:pPr>
            <a:r>
              <a:rPr lang="en-US" sz="800" dirty="0">
                <a:solidFill>
                  <a:srgbClr val="CCCCCC"/>
                </a:solidFill>
                <a:latin typeface="Arial" pitchFamily="34" charset="0"/>
                <a:ea typeface="Arial" pitchFamily="34" charset="-122"/>
                <a:cs typeface="Arial" pitchFamily="34" charset="-120"/>
              </a:rPr>
              <a:t>Zuri Electronics Analysis  |  Oluwatoni Oladipo  |  12/16</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7315200" cy="640080"/>
          </a:xfrm>
          <a:prstGeom prst="rect">
            <a:avLst/>
          </a:prstGeom>
          <a:noFill/>
          <a:ln/>
        </p:spPr>
        <p:txBody>
          <a:bodyPr wrap="square" rtlCol="0" anchor="ctr"/>
          <a:lstStyle/>
          <a:p>
            <a:pPr marL="0" indent="0">
              <a:buNone/>
            </a:pPr>
            <a:r>
              <a:rPr lang="en-US" sz="2800" b="1" dirty="0">
                <a:solidFill>
                  <a:srgbClr val="16213E"/>
                </a:solidFill>
                <a:latin typeface="Arial" pitchFamily="34" charset="0"/>
                <a:ea typeface="Arial" pitchFamily="34" charset="-122"/>
                <a:cs typeface="Arial" pitchFamily="34" charset="-120"/>
              </a:rPr>
              <a:t>BUSINESS INSIGHTS</a:t>
            </a:r>
            <a:endParaRPr lang="en-US" sz="2800" dirty="0"/>
          </a:p>
        </p:txBody>
      </p:sp>
      <p:sp>
        <p:nvSpPr>
          <p:cNvPr id="3" name="Shape 1"/>
          <p:cNvSpPr/>
          <p:nvPr/>
        </p:nvSpPr>
        <p:spPr>
          <a:xfrm>
            <a:off x="640080" y="914400"/>
            <a:ext cx="3657600" cy="36576"/>
          </a:xfrm>
          <a:prstGeom prst="rect">
            <a:avLst/>
          </a:prstGeom>
          <a:solidFill>
            <a:srgbClr val="00CEC9"/>
          </a:solidFill>
          <a:ln/>
        </p:spPr>
      </p:sp>
      <p:sp>
        <p:nvSpPr>
          <p:cNvPr id="4" name="Shape 2"/>
          <p:cNvSpPr/>
          <p:nvPr/>
        </p:nvSpPr>
        <p:spPr>
          <a:xfrm>
            <a:off x="640080" y="1188720"/>
            <a:ext cx="10881360" cy="914400"/>
          </a:xfrm>
          <a:prstGeom prst="roundRect">
            <a:avLst>
              <a:gd name="adj" fmla="val 8000"/>
            </a:avLst>
          </a:prstGeom>
          <a:solidFill>
            <a:srgbClr val="F0F9FF"/>
          </a:solidFill>
          <a:ln/>
        </p:spPr>
      </p:sp>
      <p:sp>
        <p:nvSpPr>
          <p:cNvPr id="5" name="Shape 3"/>
          <p:cNvSpPr/>
          <p:nvPr/>
        </p:nvSpPr>
        <p:spPr>
          <a:xfrm>
            <a:off x="640080" y="1188720"/>
            <a:ext cx="64008" cy="914400"/>
          </a:xfrm>
          <a:prstGeom prst="rect">
            <a:avLst/>
          </a:prstGeom>
          <a:solidFill>
            <a:srgbClr val="00CEC9"/>
          </a:solidFill>
          <a:ln/>
        </p:spPr>
      </p:sp>
      <p:sp>
        <p:nvSpPr>
          <p:cNvPr id="6" name="Text 4"/>
          <p:cNvSpPr/>
          <p:nvPr/>
        </p:nvSpPr>
        <p:spPr>
          <a:xfrm>
            <a:off x="914400" y="1207008"/>
            <a:ext cx="10332720" cy="274320"/>
          </a:xfrm>
          <a:prstGeom prst="rect">
            <a:avLst/>
          </a:prstGeom>
          <a:noFill/>
          <a:ln/>
        </p:spPr>
        <p:txBody>
          <a:bodyPr wrap="square" rtlCol="0" anchor="ctr"/>
          <a:lstStyle/>
          <a:p>
            <a:pPr marL="0" indent="0">
              <a:buNone/>
            </a:pPr>
            <a:r>
              <a:rPr lang="en-US" sz="1200" b="1" dirty="0">
                <a:solidFill>
                  <a:srgbClr val="16213E"/>
                </a:solidFill>
                <a:latin typeface="Arial" pitchFamily="34" charset="0"/>
                <a:ea typeface="Arial" pitchFamily="34" charset="-122"/>
                <a:cs typeface="Arial" pitchFamily="34" charset="-120"/>
              </a:rPr>
              <a:t>Corporate Segment Underperformance</a:t>
            </a:r>
            <a:endParaRPr lang="en-US" sz="1200" dirty="0"/>
          </a:p>
        </p:txBody>
      </p:sp>
      <p:sp>
        <p:nvSpPr>
          <p:cNvPr id="7" name="Text 5"/>
          <p:cNvSpPr/>
          <p:nvPr/>
        </p:nvSpPr>
        <p:spPr>
          <a:xfrm>
            <a:off x="914400" y="1481328"/>
            <a:ext cx="10332720" cy="548640"/>
          </a:xfrm>
          <a:prstGeom prst="rect">
            <a:avLst/>
          </a:prstGeom>
          <a:noFill/>
          <a:ln/>
        </p:spPr>
        <p:txBody>
          <a:bodyPr wrap="square" rtlCol="0" anchor="ctr"/>
          <a:lstStyle/>
          <a:p>
            <a:pPr marL="0" indent="0">
              <a:lnSpc>
                <a:spcPct val="120000"/>
              </a:lnSpc>
              <a:buNone/>
            </a:pPr>
            <a:r>
              <a:rPr lang="en-US" sz="1000" dirty="0">
                <a:solidFill>
                  <a:srgbClr val="333333"/>
                </a:solidFill>
                <a:latin typeface="Arial" pitchFamily="34" charset="0"/>
                <a:ea typeface="Arial" pitchFamily="34" charset="-122"/>
                <a:cs typeface="Arial" pitchFamily="34" charset="-120"/>
              </a:rPr>
              <a:t>Corporate generates only $1.17M (27%) of sales — nearly $500K behind Consumer. This is a missed opportunity since corporate buyers typically place larger, recurring orders that could stabilize revenue without increasing acquisition costs.</a:t>
            </a:r>
            <a:endParaRPr lang="en-US" sz="1000" dirty="0"/>
          </a:p>
        </p:txBody>
      </p:sp>
      <p:sp>
        <p:nvSpPr>
          <p:cNvPr id="8" name="Shape 6"/>
          <p:cNvSpPr/>
          <p:nvPr/>
        </p:nvSpPr>
        <p:spPr>
          <a:xfrm>
            <a:off x="640080" y="2240280"/>
            <a:ext cx="10881360" cy="914400"/>
          </a:xfrm>
          <a:prstGeom prst="roundRect">
            <a:avLst>
              <a:gd name="adj" fmla="val 8000"/>
            </a:avLst>
          </a:prstGeom>
          <a:solidFill>
            <a:srgbClr val="F0F9FF"/>
          </a:solidFill>
          <a:ln/>
        </p:spPr>
      </p:sp>
      <p:sp>
        <p:nvSpPr>
          <p:cNvPr id="9" name="Shape 7"/>
          <p:cNvSpPr/>
          <p:nvPr/>
        </p:nvSpPr>
        <p:spPr>
          <a:xfrm>
            <a:off x="640080" y="2240280"/>
            <a:ext cx="64008" cy="914400"/>
          </a:xfrm>
          <a:prstGeom prst="rect">
            <a:avLst/>
          </a:prstGeom>
          <a:solidFill>
            <a:srgbClr val="00CEC9"/>
          </a:solidFill>
          <a:ln/>
        </p:spPr>
      </p:sp>
      <p:sp>
        <p:nvSpPr>
          <p:cNvPr id="10" name="Text 8"/>
          <p:cNvSpPr/>
          <p:nvPr/>
        </p:nvSpPr>
        <p:spPr>
          <a:xfrm>
            <a:off x="914400" y="2258568"/>
            <a:ext cx="10332720" cy="274320"/>
          </a:xfrm>
          <a:prstGeom prst="rect">
            <a:avLst/>
          </a:prstGeom>
          <a:noFill/>
          <a:ln/>
        </p:spPr>
        <p:txBody>
          <a:bodyPr wrap="square" rtlCol="0" anchor="ctr"/>
          <a:lstStyle/>
          <a:p>
            <a:pPr marL="0" indent="0">
              <a:buNone/>
            </a:pPr>
            <a:r>
              <a:rPr lang="en-US" sz="1200" b="1" dirty="0">
                <a:solidFill>
                  <a:srgbClr val="16213E"/>
                </a:solidFill>
                <a:latin typeface="Arial" pitchFamily="34" charset="0"/>
                <a:ea typeface="Arial" pitchFamily="34" charset="-122"/>
                <a:cs typeface="Arial" pitchFamily="34" charset="-120"/>
              </a:rPr>
              <a:t>Consistent Mid-Year Sales Dip (June-August)</a:t>
            </a:r>
            <a:endParaRPr lang="en-US" sz="1200" dirty="0"/>
          </a:p>
        </p:txBody>
      </p:sp>
      <p:sp>
        <p:nvSpPr>
          <p:cNvPr id="11" name="Text 9"/>
          <p:cNvSpPr/>
          <p:nvPr/>
        </p:nvSpPr>
        <p:spPr>
          <a:xfrm>
            <a:off x="914400" y="2532888"/>
            <a:ext cx="10332720" cy="548640"/>
          </a:xfrm>
          <a:prstGeom prst="rect">
            <a:avLst/>
          </a:prstGeom>
          <a:noFill/>
          <a:ln/>
        </p:spPr>
        <p:txBody>
          <a:bodyPr wrap="square" rtlCol="0" anchor="ctr"/>
          <a:lstStyle/>
          <a:p>
            <a:pPr marL="0" indent="0">
              <a:lnSpc>
                <a:spcPct val="120000"/>
              </a:lnSpc>
              <a:buNone/>
            </a:pPr>
            <a:r>
              <a:rPr lang="en-US" sz="1000" dirty="0">
                <a:solidFill>
                  <a:srgbClr val="333333"/>
                </a:solidFill>
                <a:latin typeface="Arial" pitchFamily="34" charset="0"/>
                <a:ea typeface="Arial" pitchFamily="34" charset="-122"/>
                <a:cs typeface="Arial" pitchFamily="34" charset="-120"/>
              </a:rPr>
              <a:t>Sales drop from ~$400K in April to ~$300K every mid-year. In 2023, August was lowest; in 2024 and 2025, July was lowest. This predictable gap could be addressed with targeted promotions or seasonal campaigns.</a:t>
            </a:r>
            <a:endParaRPr lang="en-US" sz="1000" dirty="0"/>
          </a:p>
        </p:txBody>
      </p:sp>
      <p:sp>
        <p:nvSpPr>
          <p:cNvPr id="12" name="Shape 10"/>
          <p:cNvSpPr/>
          <p:nvPr/>
        </p:nvSpPr>
        <p:spPr>
          <a:xfrm>
            <a:off x="640080" y="3291840"/>
            <a:ext cx="10881360" cy="914400"/>
          </a:xfrm>
          <a:prstGeom prst="roundRect">
            <a:avLst>
              <a:gd name="adj" fmla="val 8000"/>
            </a:avLst>
          </a:prstGeom>
          <a:solidFill>
            <a:srgbClr val="F0F9FF"/>
          </a:solidFill>
          <a:ln/>
        </p:spPr>
      </p:sp>
      <p:sp>
        <p:nvSpPr>
          <p:cNvPr id="13" name="Shape 11"/>
          <p:cNvSpPr/>
          <p:nvPr/>
        </p:nvSpPr>
        <p:spPr>
          <a:xfrm>
            <a:off x="640080" y="3291840"/>
            <a:ext cx="64008" cy="914400"/>
          </a:xfrm>
          <a:prstGeom prst="rect">
            <a:avLst/>
          </a:prstGeom>
          <a:solidFill>
            <a:srgbClr val="00CEC9"/>
          </a:solidFill>
          <a:ln/>
        </p:spPr>
      </p:sp>
      <p:sp>
        <p:nvSpPr>
          <p:cNvPr id="14" name="Text 12"/>
          <p:cNvSpPr/>
          <p:nvPr/>
        </p:nvSpPr>
        <p:spPr>
          <a:xfrm>
            <a:off x="914400" y="3310128"/>
            <a:ext cx="10332720" cy="274320"/>
          </a:xfrm>
          <a:prstGeom prst="rect">
            <a:avLst/>
          </a:prstGeom>
          <a:noFill/>
          <a:ln/>
        </p:spPr>
        <p:txBody>
          <a:bodyPr wrap="square" rtlCol="0" anchor="ctr"/>
          <a:lstStyle/>
          <a:p>
            <a:pPr marL="0" indent="0">
              <a:buNone/>
            </a:pPr>
            <a:r>
              <a:rPr lang="en-US" sz="1200" b="1" dirty="0">
                <a:solidFill>
                  <a:srgbClr val="16213E"/>
                </a:solidFill>
                <a:latin typeface="Arial" pitchFamily="34" charset="0"/>
                <a:ea typeface="Arial" pitchFamily="34" charset="-122"/>
                <a:cs typeface="Arial" pitchFamily="34" charset="-120"/>
              </a:rPr>
              <a:t>Technology Products Drive Profitability</a:t>
            </a:r>
            <a:endParaRPr lang="en-US" sz="1200" dirty="0"/>
          </a:p>
        </p:txBody>
      </p:sp>
      <p:sp>
        <p:nvSpPr>
          <p:cNvPr id="15" name="Text 13"/>
          <p:cNvSpPr/>
          <p:nvPr/>
        </p:nvSpPr>
        <p:spPr>
          <a:xfrm>
            <a:off x="914400" y="3584448"/>
            <a:ext cx="10332720" cy="548640"/>
          </a:xfrm>
          <a:prstGeom prst="rect">
            <a:avLst/>
          </a:prstGeom>
          <a:noFill/>
          <a:ln/>
        </p:spPr>
        <p:txBody>
          <a:bodyPr wrap="square" rtlCol="0" anchor="ctr"/>
          <a:lstStyle/>
          <a:p>
            <a:pPr marL="0" indent="0">
              <a:lnSpc>
                <a:spcPct val="120000"/>
              </a:lnSpc>
              <a:buNone/>
            </a:pPr>
            <a:r>
              <a:rPr lang="en-US" sz="1000" dirty="0">
                <a:solidFill>
                  <a:srgbClr val="333333"/>
                </a:solidFill>
                <a:latin typeface="Arial" pitchFamily="34" charset="0"/>
                <a:ea typeface="Arial" pitchFamily="34" charset="-122"/>
                <a:cs typeface="Arial" pitchFamily="34" charset="-120"/>
              </a:rPr>
              <a:t>Technology sub-categories (Copiers $147K, Accessories $137K) deliver 2-3x more profit than Furniture (Bookcases $40K). The West region's lower sales may be a product mix issue — underselling high-margin Tech products.</a:t>
            </a:r>
            <a:endParaRPr lang="en-US" sz="1000" dirty="0"/>
          </a:p>
        </p:txBody>
      </p:sp>
      <p:sp>
        <p:nvSpPr>
          <p:cNvPr id="16" name="Shape 14"/>
          <p:cNvSpPr/>
          <p:nvPr/>
        </p:nvSpPr>
        <p:spPr>
          <a:xfrm>
            <a:off x="640080" y="4343400"/>
            <a:ext cx="10881360" cy="914400"/>
          </a:xfrm>
          <a:prstGeom prst="roundRect">
            <a:avLst>
              <a:gd name="adj" fmla="val 8000"/>
            </a:avLst>
          </a:prstGeom>
          <a:solidFill>
            <a:srgbClr val="F0F9FF"/>
          </a:solidFill>
          <a:ln/>
        </p:spPr>
      </p:sp>
      <p:sp>
        <p:nvSpPr>
          <p:cNvPr id="17" name="Shape 15"/>
          <p:cNvSpPr/>
          <p:nvPr/>
        </p:nvSpPr>
        <p:spPr>
          <a:xfrm>
            <a:off x="640080" y="4343400"/>
            <a:ext cx="64008" cy="914400"/>
          </a:xfrm>
          <a:prstGeom prst="rect">
            <a:avLst/>
          </a:prstGeom>
          <a:solidFill>
            <a:srgbClr val="00CEC9"/>
          </a:solidFill>
          <a:ln/>
        </p:spPr>
      </p:sp>
      <p:sp>
        <p:nvSpPr>
          <p:cNvPr id="18" name="Text 16"/>
          <p:cNvSpPr/>
          <p:nvPr/>
        </p:nvSpPr>
        <p:spPr>
          <a:xfrm>
            <a:off x="914400" y="4361688"/>
            <a:ext cx="10332720" cy="274320"/>
          </a:xfrm>
          <a:prstGeom prst="rect">
            <a:avLst/>
          </a:prstGeom>
          <a:noFill/>
          <a:ln/>
        </p:spPr>
        <p:txBody>
          <a:bodyPr wrap="square" rtlCol="0" anchor="ctr"/>
          <a:lstStyle/>
          <a:p>
            <a:pPr marL="0" indent="0">
              <a:buNone/>
            </a:pPr>
            <a:r>
              <a:rPr lang="en-US" sz="1200" b="1" dirty="0">
                <a:solidFill>
                  <a:srgbClr val="16213E"/>
                </a:solidFill>
                <a:latin typeface="Arial" pitchFamily="34" charset="0"/>
                <a:ea typeface="Arial" pitchFamily="34" charset="-122"/>
                <a:cs typeface="Arial" pitchFamily="34" charset="-120"/>
              </a:rPr>
              <a:t>Year-over-Year Revenue Decline (2023-2025)</a:t>
            </a:r>
            <a:endParaRPr lang="en-US" sz="1200" dirty="0"/>
          </a:p>
        </p:txBody>
      </p:sp>
      <p:sp>
        <p:nvSpPr>
          <p:cNvPr id="19" name="Text 17"/>
          <p:cNvSpPr/>
          <p:nvPr/>
        </p:nvSpPr>
        <p:spPr>
          <a:xfrm>
            <a:off x="914400" y="4636008"/>
            <a:ext cx="10332720" cy="548640"/>
          </a:xfrm>
          <a:prstGeom prst="rect">
            <a:avLst/>
          </a:prstGeom>
          <a:noFill/>
          <a:ln/>
        </p:spPr>
        <p:txBody>
          <a:bodyPr wrap="square" rtlCol="0" anchor="ctr"/>
          <a:lstStyle/>
          <a:p>
            <a:pPr marL="0" indent="0">
              <a:lnSpc>
                <a:spcPct val="120000"/>
              </a:lnSpc>
              <a:buNone/>
            </a:pPr>
            <a:r>
              <a:rPr lang="en-US" sz="1000" dirty="0">
                <a:solidFill>
                  <a:srgbClr val="333333"/>
                </a:solidFill>
                <a:latin typeface="Arial" pitchFamily="34" charset="0"/>
                <a:ea typeface="Arial" pitchFamily="34" charset="-122"/>
                <a:cs typeface="Arial" pitchFamily="34" charset="-120"/>
              </a:rPr>
              <a:t>2023 had the highest sales and profit. Both 2024 and 2025 showed declines. Two consecutive years of decline signals a need for strategic intervention to reverse the trend.</a:t>
            </a:r>
            <a:endParaRPr lang="en-US" sz="1000" dirty="0"/>
          </a:p>
        </p:txBody>
      </p:sp>
      <p:sp>
        <p:nvSpPr>
          <p:cNvPr id="20" name="Shape 18"/>
          <p:cNvSpPr/>
          <p:nvPr/>
        </p:nvSpPr>
        <p:spPr>
          <a:xfrm>
            <a:off x="640080" y="5394960"/>
            <a:ext cx="10881360" cy="914400"/>
          </a:xfrm>
          <a:prstGeom prst="roundRect">
            <a:avLst>
              <a:gd name="adj" fmla="val 8000"/>
            </a:avLst>
          </a:prstGeom>
          <a:solidFill>
            <a:srgbClr val="F0F9FF"/>
          </a:solidFill>
          <a:ln/>
        </p:spPr>
      </p:sp>
      <p:sp>
        <p:nvSpPr>
          <p:cNvPr id="21" name="Shape 19"/>
          <p:cNvSpPr/>
          <p:nvPr/>
        </p:nvSpPr>
        <p:spPr>
          <a:xfrm>
            <a:off x="640080" y="5394960"/>
            <a:ext cx="64008" cy="914400"/>
          </a:xfrm>
          <a:prstGeom prst="rect">
            <a:avLst/>
          </a:prstGeom>
          <a:solidFill>
            <a:srgbClr val="00CEC9"/>
          </a:solidFill>
          <a:ln/>
        </p:spPr>
      </p:sp>
      <p:sp>
        <p:nvSpPr>
          <p:cNvPr id="22" name="Text 20"/>
          <p:cNvSpPr/>
          <p:nvPr/>
        </p:nvSpPr>
        <p:spPr>
          <a:xfrm>
            <a:off x="914400" y="5413248"/>
            <a:ext cx="10332720" cy="274320"/>
          </a:xfrm>
          <a:prstGeom prst="rect">
            <a:avLst/>
          </a:prstGeom>
          <a:noFill/>
          <a:ln/>
        </p:spPr>
        <p:txBody>
          <a:bodyPr wrap="square" rtlCol="0" anchor="ctr"/>
          <a:lstStyle/>
          <a:p>
            <a:pPr marL="0" indent="0">
              <a:buNone/>
            </a:pPr>
            <a:r>
              <a:rPr lang="en-US" sz="1200" b="1" dirty="0">
                <a:solidFill>
                  <a:srgbClr val="16213E"/>
                </a:solidFill>
                <a:latin typeface="Arial" pitchFamily="34" charset="0"/>
                <a:ea typeface="Arial" pitchFamily="34" charset="-122"/>
                <a:cs typeface="Arial" pitchFamily="34" charset="-120"/>
              </a:rPr>
              <a:t>Central Region Leads Through Product Mix</a:t>
            </a:r>
            <a:endParaRPr lang="en-US" sz="1200" dirty="0"/>
          </a:p>
        </p:txBody>
      </p:sp>
      <p:sp>
        <p:nvSpPr>
          <p:cNvPr id="23" name="Text 21"/>
          <p:cNvSpPr/>
          <p:nvPr/>
        </p:nvSpPr>
        <p:spPr>
          <a:xfrm>
            <a:off x="914400" y="5687568"/>
            <a:ext cx="10332720" cy="548640"/>
          </a:xfrm>
          <a:prstGeom prst="rect">
            <a:avLst/>
          </a:prstGeom>
          <a:noFill/>
          <a:ln/>
        </p:spPr>
        <p:txBody>
          <a:bodyPr wrap="square" rtlCol="0" anchor="ctr"/>
          <a:lstStyle/>
          <a:p>
            <a:pPr marL="0" indent="0">
              <a:lnSpc>
                <a:spcPct val="120000"/>
              </a:lnSpc>
              <a:buNone/>
            </a:pPr>
            <a:r>
              <a:rPr lang="en-US" sz="1000" dirty="0">
                <a:solidFill>
                  <a:srgbClr val="333333"/>
                </a:solidFill>
                <a:latin typeface="Arial" pitchFamily="34" charset="0"/>
                <a:ea typeface="Arial" pitchFamily="34" charset="-122"/>
                <a:cs typeface="Arial" pitchFamily="34" charset="-120"/>
              </a:rPr>
              <a:t>Central has the most consistent year-round sales and highest profit. Drill-down shows this isn't from Furniture (where it lags) but from strong Office Supplies and Technology performance — success driven by mix, not volume.</a:t>
            </a:r>
            <a:endParaRPr lang="en-US" sz="1000" dirty="0"/>
          </a:p>
        </p:txBody>
      </p:sp>
      <p:sp>
        <p:nvSpPr>
          <p:cNvPr id="24" name="Text 22"/>
          <p:cNvSpPr/>
          <p:nvPr/>
        </p:nvSpPr>
        <p:spPr>
          <a:xfrm>
            <a:off x="0" y="6446520"/>
            <a:ext cx="12161520" cy="320040"/>
          </a:xfrm>
          <a:prstGeom prst="rect">
            <a:avLst/>
          </a:prstGeom>
          <a:noFill/>
          <a:ln/>
        </p:spPr>
        <p:txBody>
          <a:bodyPr wrap="square" rtlCol="0" anchor="ctr"/>
          <a:lstStyle/>
          <a:p>
            <a:pPr marL="0" indent="0" algn="ctr">
              <a:buNone/>
            </a:pPr>
            <a:r>
              <a:rPr lang="en-US" sz="800" dirty="0">
                <a:solidFill>
                  <a:srgbClr val="CCCCCC"/>
                </a:solidFill>
                <a:latin typeface="Arial" pitchFamily="34" charset="0"/>
                <a:ea typeface="Arial" pitchFamily="34" charset="-122"/>
                <a:cs typeface="Arial" pitchFamily="34" charset="-120"/>
              </a:rPr>
              <a:t>Zuri Electronics Analysis  |  Oluwatoni Oladipo  |  13/16</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A2E"/>
        </a:solidFill>
        <a:effectLst/>
      </p:bgPr>
    </p:bg>
    <p:spTree>
      <p:nvGrpSpPr>
        <p:cNvPr id="1" name=""/>
        <p:cNvGrpSpPr/>
        <p:nvPr/>
      </p:nvGrpSpPr>
      <p:grpSpPr>
        <a:xfrm>
          <a:off x="0" y="0"/>
          <a:ext cx="0" cy="0"/>
          <a:chOff x="0" y="0"/>
          <a:chExt cx="0" cy="0"/>
        </a:xfrm>
      </p:grpSpPr>
      <p:sp>
        <p:nvSpPr>
          <p:cNvPr id="2" name="Text 0"/>
          <p:cNvSpPr/>
          <p:nvPr/>
        </p:nvSpPr>
        <p:spPr>
          <a:xfrm>
            <a:off x="640080" y="365760"/>
            <a:ext cx="7315200" cy="640080"/>
          </a:xfrm>
          <a:prstGeom prst="rect">
            <a:avLst/>
          </a:prstGeom>
          <a:noFill/>
          <a:ln/>
        </p:spPr>
        <p:txBody>
          <a:bodyPr wrap="square" rtlCol="0" anchor="ctr"/>
          <a:lstStyle/>
          <a:p>
            <a:pPr marL="0" indent="0">
              <a:buNone/>
            </a:pPr>
            <a:r>
              <a:rPr lang="en-US" sz="2800" b="1" dirty="0">
                <a:solidFill>
                  <a:srgbClr val="FFFFFF"/>
                </a:solidFill>
                <a:latin typeface="Arial" pitchFamily="34" charset="0"/>
                <a:ea typeface="Arial" pitchFamily="34" charset="-122"/>
                <a:cs typeface="Arial" pitchFamily="34" charset="-120"/>
              </a:rPr>
              <a:t>RECOMMENDATIONS</a:t>
            </a:r>
            <a:endParaRPr lang="en-US" sz="2800" dirty="0"/>
          </a:p>
        </p:txBody>
      </p:sp>
      <p:sp>
        <p:nvSpPr>
          <p:cNvPr id="3" name="Shape 1"/>
          <p:cNvSpPr/>
          <p:nvPr/>
        </p:nvSpPr>
        <p:spPr>
          <a:xfrm>
            <a:off x="640080" y="960120"/>
            <a:ext cx="3657600" cy="36576"/>
          </a:xfrm>
          <a:prstGeom prst="rect">
            <a:avLst/>
          </a:prstGeom>
          <a:solidFill>
            <a:srgbClr val="00CEC9"/>
          </a:solidFill>
          <a:ln/>
        </p:spPr>
      </p:sp>
      <p:sp>
        <p:nvSpPr>
          <p:cNvPr id="4" name="Shape 2"/>
          <p:cNvSpPr/>
          <p:nvPr/>
        </p:nvSpPr>
        <p:spPr>
          <a:xfrm>
            <a:off x="640080" y="1280160"/>
            <a:ext cx="5394960" cy="1280160"/>
          </a:xfrm>
          <a:prstGeom prst="roundRect">
            <a:avLst>
              <a:gd name="adj" fmla="val 5714"/>
            </a:avLst>
          </a:prstGeom>
          <a:solidFill>
            <a:srgbClr val="1E2A4A"/>
          </a:solidFill>
          <a:ln/>
        </p:spPr>
      </p:sp>
      <p:sp>
        <p:nvSpPr>
          <p:cNvPr id="5" name="Text 3"/>
          <p:cNvSpPr/>
          <p:nvPr/>
        </p:nvSpPr>
        <p:spPr>
          <a:xfrm>
            <a:off x="822960" y="1417320"/>
            <a:ext cx="457200" cy="457200"/>
          </a:xfrm>
          <a:prstGeom prst="rect">
            <a:avLst/>
          </a:prstGeom>
          <a:noFill/>
          <a:ln/>
        </p:spPr>
        <p:txBody>
          <a:bodyPr wrap="square" rtlCol="0" anchor="ctr"/>
          <a:lstStyle/>
          <a:p>
            <a:pPr marL="0" indent="0">
              <a:buNone/>
            </a:pPr>
            <a:r>
              <a:rPr lang="en-US" sz="2000" b="1" dirty="0">
                <a:solidFill>
                  <a:srgbClr val="00CEC9"/>
                </a:solidFill>
                <a:latin typeface="Arial" pitchFamily="34" charset="0"/>
                <a:ea typeface="Arial" pitchFamily="34" charset="-122"/>
                <a:cs typeface="Arial" pitchFamily="34" charset="-120"/>
              </a:rPr>
              <a:t>01</a:t>
            </a:r>
            <a:endParaRPr lang="en-US" sz="2000" dirty="0"/>
          </a:p>
        </p:txBody>
      </p:sp>
      <p:sp>
        <p:nvSpPr>
          <p:cNvPr id="6" name="Text 4"/>
          <p:cNvSpPr/>
          <p:nvPr/>
        </p:nvSpPr>
        <p:spPr>
          <a:xfrm>
            <a:off x="1371600" y="1417320"/>
            <a:ext cx="4389120" cy="32004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Grow Corporate Segment</a:t>
            </a:r>
            <a:endParaRPr lang="en-US" sz="1300" dirty="0"/>
          </a:p>
        </p:txBody>
      </p:sp>
      <p:sp>
        <p:nvSpPr>
          <p:cNvPr id="7" name="Text 5"/>
          <p:cNvSpPr/>
          <p:nvPr/>
        </p:nvSpPr>
        <p:spPr>
          <a:xfrm>
            <a:off x="1371600" y="1783080"/>
            <a:ext cx="4389120" cy="640080"/>
          </a:xfrm>
          <a:prstGeom prst="rect">
            <a:avLst/>
          </a:prstGeom>
          <a:noFill/>
          <a:ln/>
        </p:spPr>
        <p:txBody>
          <a:bodyPr wrap="square" rtlCol="0" anchor="ctr"/>
          <a:lstStyle/>
          <a:p>
            <a:pPr marL="0" indent="0">
              <a:lnSpc>
                <a:spcPct val="130000"/>
              </a:lnSpc>
              <a:buNone/>
            </a:pPr>
            <a:r>
              <a:rPr lang="en-US" sz="1000" dirty="0">
                <a:solidFill>
                  <a:srgbClr val="CCCCCC"/>
                </a:solidFill>
                <a:latin typeface="Arial" pitchFamily="34" charset="0"/>
                <a:ea typeface="Arial" pitchFamily="34" charset="-122"/>
                <a:cs typeface="Arial" pitchFamily="34" charset="-120"/>
              </a:rPr>
              <a:t>Implement B2B marketing, offer volume discounts, and establish account management programs for corporate clients.</a:t>
            </a:r>
            <a:endParaRPr lang="en-US" sz="1000" dirty="0"/>
          </a:p>
        </p:txBody>
      </p:sp>
      <p:sp>
        <p:nvSpPr>
          <p:cNvPr id="8" name="Shape 6"/>
          <p:cNvSpPr/>
          <p:nvPr/>
        </p:nvSpPr>
        <p:spPr>
          <a:xfrm>
            <a:off x="640080" y="2834640"/>
            <a:ext cx="5394960" cy="1280160"/>
          </a:xfrm>
          <a:prstGeom prst="roundRect">
            <a:avLst>
              <a:gd name="adj" fmla="val 5714"/>
            </a:avLst>
          </a:prstGeom>
          <a:solidFill>
            <a:srgbClr val="1E2A4A"/>
          </a:solidFill>
          <a:ln/>
        </p:spPr>
      </p:sp>
      <p:sp>
        <p:nvSpPr>
          <p:cNvPr id="9" name="Text 7"/>
          <p:cNvSpPr/>
          <p:nvPr/>
        </p:nvSpPr>
        <p:spPr>
          <a:xfrm>
            <a:off x="822960" y="2971800"/>
            <a:ext cx="457200" cy="457200"/>
          </a:xfrm>
          <a:prstGeom prst="rect">
            <a:avLst/>
          </a:prstGeom>
          <a:noFill/>
          <a:ln/>
        </p:spPr>
        <p:txBody>
          <a:bodyPr wrap="square" rtlCol="0" anchor="ctr"/>
          <a:lstStyle/>
          <a:p>
            <a:pPr marL="0" indent="0">
              <a:buNone/>
            </a:pPr>
            <a:r>
              <a:rPr lang="en-US" sz="2000" b="1" dirty="0">
                <a:solidFill>
                  <a:srgbClr val="00CEC9"/>
                </a:solidFill>
                <a:latin typeface="Arial" pitchFamily="34" charset="0"/>
                <a:ea typeface="Arial" pitchFamily="34" charset="-122"/>
                <a:cs typeface="Arial" pitchFamily="34" charset="-120"/>
              </a:rPr>
              <a:t>02</a:t>
            </a:r>
            <a:endParaRPr lang="en-US" sz="2000" dirty="0"/>
          </a:p>
        </p:txBody>
      </p:sp>
      <p:sp>
        <p:nvSpPr>
          <p:cNvPr id="10" name="Text 8"/>
          <p:cNvSpPr/>
          <p:nvPr/>
        </p:nvSpPr>
        <p:spPr>
          <a:xfrm>
            <a:off x="1371600" y="2971800"/>
            <a:ext cx="4389120" cy="32004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Address Mid-Year Dip</a:t>
            </a:r>
            <a:endParaRPr lang="en-US" sz="1300" dirty="0"/>
          </a:p>
        </p:txBody>
      </p:sp>
      <p:sp>
        <p:nvSpPr>
          <p:cNvPr id="11" name="Text 9"/>
          <p:cNvSpPr/>
          <p:nvPr/>
        </p:nvSpPr>
        <p:spPr>
          <a:xfrm>
            <a:off x="1371600" y="3337560"/>
            <a:ext cx="4389120" cy="640080"/>
          </a:xfrm>
          <a:prstGeom prst="rect">
            <a:avLst/>
          </a:prstGeom>
          <a:noFill/>
          <a:ln/>
        </p:spPr>
        <p:txBody>
          <a:bodyPr wrap="square" rtlCol="0" anchor="ctr"/>
          <a:lstStyle/>
          <a:p>
            <a:pPr marL="0" indent="0">
              <a:lnSpc>
                <a:spcPct val="130000"/>
              </a:lnSpc>
              <a:buNone/>
            </a:pPr>
            <a:r>
              <a:rPr lang="en-US" sz="1000" dirty="0">
                <a:solidFill>
                  <a:srgbClr val="CCCCCC"/>
                </a:solidFill>
                <a:latin typeface="Arial" pitchFamily="34" charset="0"/>
                <a:ea typeface="Arial" pitchFamily="34" charset="-122"/>
                <a:cs typeface="Arial" pitchFamily="34" charset="-120"/>
              </a:rPr>
              <a:t>Launch June-August promotions, product bundles, and seasonal campaigns to smooth revenue throughout the year.</a:t>
            </a:r>
            <a:endParaRPr lang="en-US" sz="1000" dirty="0"/>
          </a:p>
        </p:txBody>
      </p:sp>
      <p:sp>
        <p:nvSpPr>
          <p:cNvPr id="12" name="Shape 10"/>
          <p:cNvSpPr/>
          <p:nvPr/>
        </p:nvSpPr>
        <p:spPr>
          <a:xfrm>
            <a:off x="640080" y="4389120"/>
            <a:ext cx="5394960" cy="1280160"/>
          </a:xfrm>
          <a:prstGeom prst="roundRect">
            <a:avLst>
              <a:gd name="adj" fmla="val 5714"/>
            </a:avLst>
          </a:prstGeom>
          <a:solidFill>
            <a:srgbClr val="1E2A4A"/>
          </a:solidFill>
          <a:ln/>
        </p:spPr>
      </p:sp>
      <p:sp>
        <p:nvSpPr>
          <p:cNvPr id="13" name="Text 11"/>
          <p:cNvSpPr/>
          <p:nvPr/>
        </p:nvSpPr>
        <p:spPr>
          <a:xfrm>
            <a:off x="822960" y="4526280"/>
            <a:ext cx="457200" cy="457200"/>
          </a:xfrm>
          <a:prstGeom prst="rect">
            <a:avLst/>
          </a:prstGeom>
          <a:noFill/>
          <a:ln/>
        </p:spPr>
        <p:txBody>
          <a:bodyPr wrap="square" rtlCol="0" anchor="ctr"/>
          <a:lstStyle/>
          <a:p>
            <a:pPr marL="0" indent="0">
              <a:buNone/>
            </a:pPr>
            <a:r>
              <a:rPr lang="en-US" sz="2000" b="1" dirty="0">
                <a:solidFill>
                  <a:srgbClr val="00CEC9"/>
                </a:solidFill>
                <a:latin typeface="Arial" pitchFamily="34" charset="0"/>
                <a:ea typeface="Arial" pitchFamily="34" charset="-122"/>
                <a:cs typeface="Arial" pitchFamily="34" charset="-120"/>
              </a:rPr>
              <a:t>03</a:t>
            </a:r>
            <a:endParaRPr lang="en-US" sz="2000" dirty="0"/>
          </a:p>
        </p:txBody>
      </p:sp>
      <p:sp>
        <p:nvSpPr>
          <p:cNvPr id="14" name="Text 12"/>
          <p:cNvSpPr/>
          <p:nvPr/>
        </p:nvSpPr>
        <p:spPr>
          <a:xfrm>
            <a:off x="1371600" y="4526280"/>
            <a:ext cx="4389120" cy="32004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Push Tech in West Region</a:t>
            </a:r>
            <a:endParaRPr lang="en-US" sz="1300" dirty="0"/>
          </a:p>
        </p:txBody>
      </p:sp>
      <p:sp>
        <p:nvSpPr>
          <p:cNvPr id="15" name="Text 13"/>
          <p:cNvSpPr/>
          <p:nvPr/>
        </p:nvSpPr>
        <p:spPr>
          <a:xfrm>
            <a:off x="1371600" y="4892040"/>
            <a:ext cx="4389120" cy="640080"/>
          </a:xfrm>
          <a:prstGeom prst="rect">
            <a:avLst/>
          </a:prstGeom>
          <a:noFill/>
          <a:ln/>
        </p:spPr>
        <p:txBody>
          <a:bodyPr wrap="square" rtlCol="0" anchor="ctr"/>
          <a:lstStyle/>
          <a:p>
            <a:pPr marL="0" indent="0">
              <a:lnSpc>
                <a:spcPct val="130000"/>
              </a:lnSpc>
              <a:buNone/>
            </a:pPr>
            <a:r>
              <a:rPr lang="en-US" sz="1000" dirty="0">
                <a:solidFill>
                  <a:srgbClr val="CCCCCC"/>
                </a:solidFill>
                <a:latin typeface="Arial" pitchFamily="34" charset="0"/>
                <a:ea typeface="Arial" pitchFamily="34" charset="-122"/>
                <a:cs typeface="Arial" pitchFamily="34" charset="-120"/>
              </a:rPr>
              <a:t>Increase Technology product penetration in the West through targeted marketing and sales incentives.</a:t>
            </a:r>
            <a:endParaRPr lang="en-US" sz="1000" dirty="0"/>
          </a:p>
        </p:txBody>
      </p:sp>
      <p:sp>
        <p:nvSpPr>
          <p:cNvPr id="16" name="Shape 14"/>
          <p:cNvSpPr/>
          <p:nvPr/>
        </p:nvSpPr>
        <p:spPr>
          <a:xfrm>
            <a:off x="6355080" y="1280160"/>
            <a:ext cx="5394960" cy="1280160"/>
          </a:xfrm>
          <a:prstGeom prst="roundRect">
            <a:avLst>
              <a:gd name="adj" fmla="val 5714"/>
            </a:avLst>
          </a:prstGeom>
          <a:solidFill>
            <a:srgbClr val="1E2A4A"/>
          </a:solidFill>
          <a:ln/>
        </p:spPr>
      </p:sp>
      <p:sp>
        <p:nvSpPr>
          <p:cNvPr id="17" name="Text 15"/>
          <p:cNvSpPr/>
          <p:nvPr/>
        </p:nvSpPr>
        <p:spPr>
          <a:xfrm>
            <a:off x="6537960" y="1417320"/>
            <a:ext cx="457200" cy="457200"/>
          </a:xfrm>
          <a:prstGeom prst="rect">
            <a:avLst/>
          </a:prstGeom>
          <a:noFill/>
          <a:ln/>
        </p:spPr>
        <p:txBody>
          <a:bodyPr wrap="square" rtlCol="0" anchor="ctr"/>
          <a:lstStyle/>
          <a:p>
            <a:pPr marL="0" indent="0">
              <a:buNone/>
            </a:pPr>
            <a:r>
              <a:rPr lang="en-US" sz="2000" b="1" dirty="0">
                <a:solidFill>
                  <a:srgbClr val="00CEC9"/>
                </a:solidFill>
                <a:latin typeface="Arial" pitchFamily="34" charset="0"/>
                <a:ea typeface="Arial" pitchFamily="34" charset="-122"/>
                <a:cs typeface="Arial" pitchFamily="34" charset="-120"/>
              </a:rPr>
              <a:t>04</a:t>
            </a:r>
            <a:endParaRPr lang="en-US" sz="2000" dirty="0"/>
          </a:p>
        </p:txBody>
      </p:sp>
      <p:sp>
        <p:nvSpPr>
          <p:cNvPr id="18" name="Text 16"/>
          <p:cNvSpPr/>
          <p:nvPr/>
        </p:nvSpPr>
        <p:spPr>
          <a:xfrm>
            <a:off x="7086600" y="1417320"/>
            <a:ext cx="4389120" cy="32004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Investigate YoY Decline</a:t>
            </a:r>
            <a:endParaRPr lang="en-US" sz="1300" dirty="0"/>
          </a:p>
        </p:txBody>
      </p:sp>
      <p:sp>
        <p:nvSpPr>
          <p:cNvPr id="19" name="Text 17"/>
          <p:cNvSpPr/>
          <p:nvPr/>
        </p:nvSpPr>
        <p:spPr>
          <a:xfrm>
            <a:off x="7086600" y="1783080"/>
            <a:ext cx="4389120" cy="640080"/>
          </a:xfrm>
          <a:prstGeom prst="rect">
            <a:avLst/>
          </a:prstGeom>
          <a:noFill/>
          <a:ln/>
        </p:spPr>
        <p:txBody>
          <a:bodyPr wrap="square" rtlCol="0" anchor="ctr"/>
          <a:lstStyle/>
          <a:p>
            <a:pPr marL="0" indent="0">
              <a:lnSpc>
                <a:spcPct val="130000"/>
              </a:lnSpc>
              <a:buNone/>
            </a:pPr>
            <a:r>
              <a:rPr lang="en-US" sz="1000" dirty="0">
                <a:solidFill>
                  <a:srgbClr val="CCCCCC"/>
                </a:solidFill>
                <a:latin typeface="Arial" pitchFamily="34" charset="0"/>
                <a:ea typeface="Arial" pitchFamily="34" charset="-122"/>
                <a:cs typeface="Arial" pitchFamily="34" charset="-120"/>
              </a:rPr>
              <a:t>Analyze churn rates, competitive landscape, and pricing to identify root causes of the 2024-2025 decline.</a:t>
            </a:r>
            <a:endParaRPr lang="en-US" sz="1000" dirty="0"/>
          </a:p>
        </p:txBody>
      </p:sp>
      <p:sp>
        <p:nvSpPr>
          <p:cNvPr id="20" name="Shape 18"/>
          <p:cNvSpPr/>
          <p:nvPr/>
        </p:nvSpPr>
        <p:spPr>
          <a:xfrm>
            <a:off x="6355080" y="2834640"/>
            <a:ext cx="5394960" cy="1280160"/>
          </a:xfrm>
          <a:prstGeom prst="roundRect">
            <a:avLst>
              <a:gd name="adj" fmla="val 5714"/>
            </a:avLst>
          </a:prstGeom>
          <a:solidFill>
            <a:srgbClr val="1E2A4A"/>
          </a:solidFill>
          <a:ln/>
        </p:spPr>
      </p:sp>
      <p:sp>
        <p:nvSpPr>
          <p:cNvPr id="21" name="Text 19"/>
          <p:cNvSpPr/>
          <p:nvPr/>
        </p:nvSpPr>
        <p:spPr>
          <a:xfrm>
            <a:off x="6537960" y="2971800"/>
            <a:ext cx="457200" cy="457200"/>
          </a:xfrm>
          <a:prstGeom prst="rect">
            <a:avLst/>
          </a:prstGeom>
          <a:noFill/>
          <a:ln/>
        </p:spPr>
        <p:txBody>
          <a:bodyPr wrap="square" rtlCol="0" anchor="ctr"/>
          <a:lstStyle/>
          <a:p>
            <a:pPr marL="0" indent="0">
              <a:buNone/>
            </a:pPr>
            <a:r>
              <a:rPr lang="en-US" sz="2000" b="1" dirty="0">
                <a:solidFill>
                  <a:srgbClr val="00CEC9"/>
                </a:solidFill>
                <a:latin typeface="Arial" pitchFamily="34" charset="0"/>
                <a:ea typeface="Arial" pitchFamily="34" charset="-122"/>
                <a:cs typeface="Arial" pitchFamily="34" charset="-120"/>
              </a:rPr>
              <a:t>05</a:t>
            </a:r>
            <a:endParaRPr lang="en-US" sz="2000" dirty="0"/>
          </a:p>
        </p:txBody>
      </p:sp>
      <p:sp>
        <p:nvSpPr>
          <p:cNvPr id="22" name="Text 20"/>
          <p:cNvSpPr/>
          <p:nvPr/>
        </p:nvSpPr>
        <p:spPr>
          <a:xfrm>
            <a:off x="7086600" y="2971800"/>
            <a:ext cx="4389120" cy="32004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Customer Retention</a:t>
            </a:r>
            <a:endParaRPr lang="en-US" sz="1300" dirty="0"/>
          </a:p>
        </p:txBody>
      </p:sp>
      <p:sp>
        <p:nvSpPr>
          <p:cNvPr id="23" name="Text 21"/>
          <p:cNvSpPr/>
          <p:nvPr/>
        </p:nvSpPr>
        <p:spPr>
          <a:xfrm>
            <a:off x="7086600" y="3337560"/>
            <a:ext cx="4389120" cy="640080"/>
          </a:xfrm>
          <a:prstGeom prst="rect">
            <a:avLst/>
          </a:prstGeom>
          <a:noFill/>
          <a:ln/>
        </p:spPr>
        <p:txBody>
          <a:bodyPr wrap="square" rtlCol="0" anchor="ctr"/>
          <a:lstStyle/>
          <a:p>
            <a:pPr marL="0" indent="0">
              <a:lnSpc>
                <a:spcPct val="130000"/>
              </a:lnSpc>
              <a:buNone/>
            </a:pPr>
            <a:r>
              <a:rPr lang="en-US" sz="1000" dirty="0">
                <a:solidFill>
                  <a:srgbClr val="CCCCCC"/>
                </a:solidFill>
                <a:latin typeface="Arial" pitchFamily="34" charset="0"/>
                <a:ea typeface="Arial" pitchFamily="34" charset="-122"/>
                <a:cs typeface="Arial" pitchFamily="34" charset="-120"/>
              </a:rPr>
              <a:t>Implement loyalty programs and personalized marketing for the Consumer segment to increase lifetime value.</a:t>
            </a:r>
            <a:endParaRPr lang="en-US" sz="1000" dirty="0"/>
          </a:p>
        </p:txBody>
      </p:sp>
      <p:sp>
        <p:nvSpPr>
          <p:cNvPr id="24" name="Shape 22"/>
          <p:cNvSpPr/>
          <p:nvPr/>
        </p:nvSpPr>
        <p:spPr>
          <a:xfrm>
            <a:off x="6355080" y="4389120"/>
            <a:ext cx="5394960" cy="1280160"/>
          </a:xfrm>
          <a:prstGeom prst="roundRect">
            <a:avLst>
              <a:gd name="adj" fmla="val 5714"/>
            </a:avLst>
          </a:prstGeom>
          <a:solidFill>
            <a:srgbClr val="1E2A4A"/>
          </a:solidFill>
          <a:ln/>
        </p:spPr>
      </p:sp>
      <p:sp>
        <p:nvSpPr>
          <p:cNvPr id="25" name="Text 23"/>
          <p:cNvSpPr/>
          <p:nvPr/>
        </p:nvSpPr>
        <p:spPr>
          <a:xfrm>
            <a:off x="6537960" y="4526280"/>
            <a:ext cx="457200" cy="457200"/>
          </a:xfrm>
          <a:prstGeom prst="rect">
            <a:avLst/>
          </a:prstGeom>
          <a:noFill/>
          <a:ln/>
        </p:spPr>
        <p:txBody>
          <a:bodyPr wrap="square" rtlCol="0" anchor="ctr"/>
          <a:lstStyle/>
          <a:p>
            <a:pPr marL="0" indent="0">
              <a:buNone/>
            </a:pPr>
            <a:r>
              <a:rPr lang="en-US" sz="2000" b="1" dirty="0">
                <a:solidFill>
                  <a:srgbClr val="00CEC9"/>
                </a:solidFill>
                <a:latin typeface="Arial" pitchFamily="34" charset="0"/>
                <a:ea typeface="Arial" pitchFamily="34" charset="-122"/>
                <a:cs typeface="Arial" pitchFamily="34" charset="-120"/>
              </a:rPr>
              <a:t>06</a:t>
            </a:r>
            <a:endParaRPr lang="en-US" sz="2000" dirty="0"/>
          </a:p>
        </p:txBody>
      </p:sp>
      <p:sp>
        <p:nvSpPr>
          <p:cNvPr id="26" name="Text 24"/>
          <p:cNvSpPr/>
          <p:nvPr/>
        </p:nvSpPr>
        <p:spPr>
          <a:xfrm>
            <a:off x="7086600" y="4526280"/>
            <a:ext cx="4389120" cy="32004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Optimize Furniture</a:t>
            </a:r>
            <a:endParaRPr lang="en-US" sz="1300" dirty="0"/>
          </a:p>
        </p:txBody>
      </p:sp>
      <p:sp>
        <p:nvSpPr>
          <p:cNvPr id="27" name="Text 25"/>
          <p:cNvSpPr/>
          <p:nvPr/>
        </p:nvSpPr>
        <p:spPr>
          <a:xfrm>
            <a:off x="7086600" y="4892040"/>
            <a:ext cx="4389120" cy="640080"/>
          </a:xfrm>
          <a:prstGeom prst="rect">
            <a:avLst/>
          </a:prstGeom>
          <a:noFill/>
          <a:ln/>
        </p:spPr>
        <p:txBody>
          <a:bodyPr wrap="square" rtlCol="0" anchor="ctr"/>
          <a:lstStyle/>
          <a:p>
            <a:pPr marL="0" indent="0">
              <a:lnSpc>
                <a:spcPct val="130000"/>
              </a:lnSpc>
              <a:buNone/>
            </a:pPr>
            <a:r>
              <a:rPr lang="en-US" sz="1000" dirty="0">
                <a:solidFill>
                  <a:srgbClr val="CCCCCC"/>
                </a:solidFill>
                <a:latin typeface="Arial" pitchFamily="34" charset="0"/>
                <a:ea typeface="Arial" pitchFamily="34" charset="-122"/>
                <a:cs typeface="Arial" pitchFamily="34" charset="-120"/>
              </a:rPr>
              <a:t>Evaluate pricing and supplier costs for underperforming Furniture sub-categories or reallocate resources.</a:t>
            </a:r>
            <a:endParaRPr lang="en-US" sz="1000" dirty="0"/>
          </a:p>
        </p:txBody>
      </p:sp>
      <p:sp>
        <p:nvSpPr>
          <p:cNvPr id="28" name="Text 26"/>
          <p:cNvSpPr/>
          <p:nvPr/>
        </p:nvSpPr>
        <p:spPr>
          <a:xfrm>
            <a:off x="0" y="6446520"/>
            <a:ext cx="12161520" cy="320040"/>
          </a:xfrm>
          <a:prstGeom prst="rect">
            <a:avLst/>
          </a:prstGeom>
          <a:noFill/>
          <a:ln/>
        </p:spPr>
        <p:txBody>
          <a:bodyPr wrap="square" rtlCol="0" anchor="ctr"/>
          <a:lstStyle/>
          <a:p>
            <a:pPr marL="0" indent="0" algn="ctr">
              <a:buNone/>
            </a:pPr>
            <a:r>
              <a:rPr lang="en-US" sz="800" dirty="0">
                <a:solidFill>
                  <a:srgbClr val="CCCCCC"/>
                </a:solidFill>
                <a:latin typeface="Arial" pitchFamily="34" charset="0"/>
                <a:ea typeface="Arial" pitchFamily="34" charset="-122"/>
                <a:cs typeface="Arial" pitchFamily="34" charset="-120"/>
              </a:rPr>
              <a:t>Zuri Electronics Analysis  |  Oluwatoni Oladipo  |  14/16</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7315200" cy="640080"/>
          </a:xfrm>
          <a:prstGeom prst="rect">
            <a:avLst/>
          </a:prstGeom>
          <a:noFill/>
          <a:ln/>
        </p:spPr>
        <p:txBody>
          <a:bodyPr wrap="square" rtlCol="0" anchor="ctr"/>
          <a:lstStyle/>
          <a:p>
            <a:pPr marL="0" indent="0">
              <a:buNone/>
            </a:pPr>
            <a:r>
              <a:rPr lang="en-US" sz="2800" b="1" dirty="0">
                <a:solidFill>
                  <a:srgbClr val="16213E"/>
                </a:solidFill>
                <a:latin typeface="Arial" pitchFamily="34" charset="0"/>
                <a:ea typeface="Arial" pitchFamily="34" charset="-122"/>
                <a:cs typeface="Arial" pitchFamily="34" charset="-120"/>
              </a:rPr>
              <a:t>ROW-LEVEL SECURITY (RLS)</a:t>
            </a:r>
            <a:endParaRPr lang="en-US" sz="2800" dirty="0"/>
          </a:p>
        </p:txBody>
      </p:sp>
      <p:sp>
        <p:nvSpPr>
          <p:cNvPr id="3" name="Shape 1"/>
          <p:cNvSpPr/>
          <p:nvPr/>
        </p:nvSpPr>
        <p:spPr>
          <a:xfrm>
            <a:off x="640080" y="914400"/>
            <a:ext cx="3657600" cy="36576"/>
          </a:xfrm>
          <a:prstGeom prst="rect">
            <a:avLst/>
          </a:prstGeom>
          <a:solidFill>
            <a:srgbClr val="00CEC9"/>
          </a:solidFill>
          <a:ln/>
        </p:spPr>
      </p:sp>
      <p:sp>
        <p:nvSpPr>
          <p:cNvPr id="4" name="Text 2"/>
          <p:cNvSpPr/>
          <p:nvPr/>
        </p:nvSpPr>
        <p:spPr>
          <a:xfrm>
            <a:off x="640080" y="1097280"/>
            <a:ext cx="10881360" cy="457200"/>
          </a:xfrm>
          <a:prstGeom prst="rect">
            <a:avLst/>
          </a:prstGeom>
          <a:noFill/>
          <a:ln/>
        </p:spPr>
        <p:txBody>
          <a:bodyPr wrap="square" rtlCol="0" anchor="ctr"/>
          <a:lstStyle/>
          <a:p>
            <a:pPr marL="0" indent="0">
              <a:buNone/>
            </a:pPr>
            <a:r>
              <a:rPr lang="en-US" sz="1200" dirty="0">
                <a:solidFill>
                  <a:srgbClr val="333333"/>
                </a:solidFill>
                <a:latin typeface="Arial" pitchFamily="34" charset="0"/>
                <a:ea typeface="Arial" pitchFamily="34" charset="-122"/>
                <a:cs typeface="Arial" pitchFamily="34" charset="-120"/>
              </a:rPr>
              <a:t>RLS ensures different users only see data relevant to their role, making the solution secure, personalized, scalable, and business-ready.</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40080" y="1737360"/>
          <a:ext cx="1088136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4937760">
                  <a:extLst>
                    <a:ext uri="{9D8B030D-6E8A-4147-A177-3AD203B41FA5}">
                      <a16:colId xmlns:a16="http://schemas.microsoft.com/office/drawing/2014/main" val="20002"/>
                    </a:ext>
                  </a:extLst>
                </a:gridCol>
              </a:tblGrid>
              <a:tr h="0">
                <a:tc>
                  <a:txBody>
                    <a:bodyPr/>
                    <a:lstStyle/>
                    <a:p>
                      <a:pPr marL="0" indent="0">
                        <a:buNone/>
                      </a:pPr>
                      <a:r>
                        <a:rPr lang="en-US" sz="1000" b="1" dirty="0">
                          <a:solidFill>
                            <a:srgbClr val="FFFFFF"/>
                          </a:solidFill>
                          <a:latin typeface="Arial" pitchFamily="34" charset="0"/>
                          <a:ea typeface="Arial" pitchFamily="34" charset="-122"/>
                          <a:cs typeface="Arial" pitchFamily="34" charset="-120"/>
                        </a:rPr>
                        <a:t>Role</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6213E"/>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Access Level</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6213E"/>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Implementation Method</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6213E"/>
                    </a:solidFill>
                  </a:tcPr>
                </a:tc>
                <a:extLst>
                  <a:ext uri="{0D108BD9-81ED-4DB2-BD59-A6C34878D82A}">
                    <a16:rowId xmlns:a16="http://schemas.microsoft.com/office/drawing/2014/main" val="10000"/>
                  </a:ext>
                </a:extLst>
              </a:tr>
              <a:tr h="0">
                <a:tc>
                  <a:txBody>
                    <a:bodyPr/>
                    <a:lstStyle/>
                    <a:p>
                      <a:pPr marL="0" indent="0">
                        <a:buNone/>
                      </a:pPr>
                      <a:r>
                        <a:rPr lang="en-US" sz="1000" b="1" dirty="0">
                          <a:solidFill>
                            <a:srgbClr val="0097A7"/>
                          </a:solidFill>
                          <a:latin typeface="Arial" pitchFamily="34" charset="0"/>
                          <a:ea typeface="Arial" pitchFamily="34" charset="-122"/>
                          <a:cs typeface="Arial" pitchFamily="34" charset="-120"/>
                        </a:rPr>
                        <a:t>RegionManager</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333333"/>
                          </a:solidFill>
                          <a:latin typeface="Arial" pitchFamily="34" charset="0"/>
                          <a:ea typeface="Arial" pitchFamily="34" charset="-122"/>
                          <a:cs typeface="Arial" pitchFamily="34" charset="-120"/>
                        </a:rPr>
                        <a:t>Sees only their assigned region</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333333"/>
                          </a:solidFill>
                          <a:latin typeface="Arial" pitchFamily="34" charset="0"/>
                          <a:ea typeface="Arial" pitchFamily="34" charset="-122"/>
                          <a:cs typeface="Arial" pitchFamily="34" charset="-120"/>
                        </a:rPr>
                        <a:t>RegionMapping table + LOOKUPVALUE + USERPRINCIPALNAME()</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000" b="1" dirty="0">
                          <a:solidFill>
                            <a:srgbClr val="0097A7"/>
                          </a:solidFill>
                          <a:latin typeface="Arial" pitchFamily="34" charset="0"/>
                          <a:ea typeface="Arial" pitchFamily="34" charset="-122"/>
                          <a:cs typeface="Arial" pitchFamily="34" charset="-120"/>
                        </a:rPr>
                        <a:t>SalesRep</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333333"/>
                          </a:solidFill>
                          <a:latin typeface="Arial" pitchFamily="34" charset="0"/>
                          <a:ea typeface="Arial" pitchFamily="34" charset="-122"/>
                          <a:cs typeface="Arial" pitchFamily="34" charset="-120"/>
                        </a:rPr>
                        <a:t>Sees only their own sales data</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333333"/>
                          </a:solidFill>
                          <a:latin typeface="Arial" pitchFamily="34" charset="0"/>
                          <a:ea typeface="Arial" pitchFamily="34" charset="-122"/>
                          <a:cs typeface="Arial" pitchFamily="34" charset="-120"/>
                        </a:rPr>
                        <a:t>Filters by sales representative email</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000" b="1" dirty="0">
                          <a:solidFill>
                            <a:srgbClr val="0097A7"/>
                          </a:solidFill>
                          <a:latin typeface="Arial" pitchFamily="34" charset="0"/>
                          <a:ea typeface="Arial" pitchFamily="34" charset="-122"/>
                          <a:cs typeface="Arial" pitchFamily="34" charset="-120"/>
                        </a:rPr>
                        <a:t>CategoryManager</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333333"/>
                          </a:solidFill>
                          <a:latin typeface="Arial" pitchFamily="34" charset="0"/>
                          <a:ea typeface="Arial" pitchFamily="34" charset="-122"/>
                          <a:cs typeface="Arial" pitchFamily="34" charset="-120"/>
                        </a:rPr>
                        <a:t>Sees only their product categories</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333333"/>
                          </a:solidFill>
                          <a:latin typeface="Arial" pitchFamily="34" charset="0"/>
                          <a:ea typeface="Arial" pitchFamily="34" charset="-122"/>
                          <a:cs typeface="Arial" pitchFamily="34" charset="-120"/>
                        </a:rPr>
                        <a:t>Filters by product category assignment</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000" b="1" dirty="0">
                          <a:solidFill>
                            <a:srgbClr val="0097A7"/>
                          </a:solidFill>
                          <a:latin typeface="Arial" pitchFamily="34" charset="0"/>
                          <a:ea typeface="Arial" pitchFamily="34" charset="-122"/>
                          <a:cs typeface="Arial" pitchFamily="34" charset="-120"/>
                        </a:rPr>
                        <a:t>FinancialAnalyst</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333333"/>
                          </a:solidFill>
                          <a:latin typeface="Arial" pitchFamily="34" charset="0"/>
                          <a:ea typeface="Arial" pitchFamily="34" charset="-122"/>
                          <a:cs typeface="Arial" pitchFamily="34" charset="-120"/>
                        </a:rPr>
                        <a:t>Full access to all financial data</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333333"/>
                          </a:solidFill>
                          <a:latin typeface="Arial" pitchFamily="34" charset="0"/>
                          <a:ea typeface="Arial" pitchFamily="34" charset="-122"/>
                          <a:cs typeface="Arial" pitchFamily="34" charset="-120"/>
                        </a:rPr>
                        <a:t>No filter applied (unrestricted access)</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Text 3"/>
          <p:cNvSpPr/>
          <p:nvPr/>
        </p:nvSpPr>
        <p:spPr>
          <a:xfrm>
            <a:off x="640080" y="3566160"/>
            <a:ext cx="4572000" cy="365760"/>
          </a:xfrm>
          <a:prstGeom prst="rect">
            <a:avLst/>
          </a:prstGeom>
          <a:noFill/>
          <a:ln/>
        </p:spPr>
        <p:txBody>
          <a:bodyPr wrap="square" rtlCol="0" anchor="ctr"/>
          <a:lstStyle/>
          <a:p>
            <a:pPr marL="0" indent="0">
              <a:buNone/>
            </a:pPr>
            <a:r>
              <a:rPr lang="en-US" sz="1600" b="1" dirty="0">
                <a:solidFill>
                  <a:srgbClr val="0097A7"/>
                </a:solidFill>
                <a:latin typeface="Arial" pitchFamily="34" charset="0"/>
                <a:ea typeface="Arial" pitchFamily="34" charset="-122"/>
                <a:cs typeface="Arial" pitchFamily="34" charset="-120"/>
              </a:rPr>
              <a:t>Implementation Details</a:t>
            </a:r>
            <a:endParaRPr lang="en-US" sz="1600" dirty="0"/>
          </a:p>
        </p:txBody>
      </p:sp>
      <p:sp>
        <p:nvSpPr>
          <p:cNvPr id="7" name="Text 4"/>
          <p:cNvSpPr/>
          <p:nvPr/>
        </p:nvSpPr>
        <p:spPr>
          <a:xfrm>
            <a:off x="640080" y="3931920"/>
            <a:ext cx="10881360" cy="914400"/>
          </a:xfrm>
          <a:prstGeom prst="rect">
            <a:avLst/>
          </a:prstGeom>
          <a:noFill/>
          <a:ln/>
        </p:spPr>
        <p:txBody>
          <a:bodyPr wrap="square" rtlCol="0" anchor="ctr"/>
          <a:lstStyle/>
          <a:p>
            <a:pPr marL="0" indent="0">
              <a:lnSpc>
                <a:spcPct val="140000"/>
              </a:lnSpc>
              <a:buNone/>
            </a:pPr>
            <a:r>
              <a:rPr lang="en-US" sz="1100" dirty="0">
                <a:solidFill>
                  <a:srgbClr val="333333"/>
                </a:solidFill>
                <a:latin typeface="Arial" pitchFamily="34" charset="0"/>
                <a:ea typeface="Arial" pitchFamily="34" charset="-122"/>
                <a:cs typeface="Arial" pitchFamily="34" charset="-120"/>
              </a:rPr>
              <a:t>A RegionMapping table was created with Region and UserEmail columns to map users to their respective regions. The table was linked to the Customers table via a Region-to-Region relationship. The RegionManager role uses LOOKUPVALUE to dynamically filter data based on the logged-in user's email address via USERPRINCIPALNAME(). All roles were tested using Power BI Desktop's View as Roles feature.</a:t>
            </a:r>
            <a:endParaRPr lang="en-US" sz="1100" dirty="0"/>
          </a:p>
        </p:txBody>
      </p:sp>
      <p:sp>
        <p:nvSpPr>
          <p:cNvPr id="8" name="Text 5"/>
          <p:cNvSpPr/>
          <p:nvPr/>
        </p:nvSpPr>
        <p:spPr>
          <a:xfrm>
            <a:off x="0" y="6446520"/>
            <a:ext cx="12161520" cy="320040"/>
          </a:xfrm>
          <a:prstGeom prst="rect">
            <a:avLst/>
          </a:prstGeom>
          <a:noFill/>
          <a:ln/>
        </p:spPr>
        <p:txBody>
          <a:bodyPr wrap="square" rtlCol="0" anchor="ctr"/>
          <a:lstStyle/>
          <a:p>
            <a:pPr marL="0" indent="0" algn="ctr">
              <a:buNone/>
            </a:pPr>
            <a:r>
              <a:rPr lang="en-US" sz="800" dirty="0">
                <a:solidFill>
                  <a:srgbClr val="CCCCCC"/>
                </a:solidFill>
                <a:latin typeface="Arial" pitchFamily="34" charset="0"/>
                <a:ea typeface="Arial" pitchFamily="34" charset="-122"/>
                <a:cs typeface="Arial" pitchFamily="34" charset="-120"/>
              </a:rPr>
              <a:t>Zuri Electronics Analysis  |  Oluwatoni Oladipo  |  15/16</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1A2E"/>
        </a:solidFill>
        <a:effectLst/>
      </p:bgPr>
    </p:bg>
    <p:spTree>
      <p:nvGrpSpPr>
        <p:cNvPr id="1" name=""/>
        <p:cNvGrpSpPr/>
        <p:nvPr/>
      </p:nvGrpSpPr>
      <p:grpSpPr>
        <a:xfrm>
          <a:off x="0" y="0"/>
          <a:ext cx="0" cy="0"/>
          <a:chOff x="0" y="0"/>
          <a:chExt cx="0" cy="0"/>
        </a:xfrm>
      </p:grpSpPr>
      <p:sp>
        <p:nvSpPr>
          <p:cNvPr id="2" name="Text 0"/>
          <p:cNvSpPr/>
          <p:nvPr/>
        </p:nvSpPr>
        <p:spPr>
          <a:xfrm>
            <a:off x="640080" y="365760"/>
            <a:ext cx="7315200" cy="640080"/>
          </a:xfrm>
          <a:prstGeom prst="rect">
            <a:avLst/>
          </a:prstGeom>
          <a:noFill/>
          <a:ln/>
        </p:spPr>
        <p:txBody>
          <a:bodyPr wrap="square" rtlCol="0" anchor="ctr"/>
          <a:lstStyle/>
          <a:p>
            <a:pPr marL="0" indent="0">
              <a:buNone/>
            </a:pPr>
            <a:r>
              <a:rPr lang="en-US" sz="2800" b="1" dirty="0">
                <a:solidFill>
                  <a:srgbClr val="FFFFFF"/>
                </a:solidFill>
                <a:latin typeface="Arial" pitchFamily="34" charset="0"/>
                <a:ea typeface="Arial" pitchFamily="34" charset="-122"/>
                <a:cs typeface="Arial" pitchFamily="34" charset="-120"/>
              </a:rPr>
              <a:t>DATA REFRESH &amp; CONCLUSION</a:t>
            </a:r>
            <a:endParaRPr lang="en-US" sz="2800" dirty="0"/>
          </a:p>
        </p:txBody>
      </p:sp>
      <p:sp>
        <p:nvSpPr>
          <p:cNvPr id="3" name="Shape 1"/>
          <p:cNvSpPr/>
          <p:nvPr/>
        </p:nvSpPr>
        <p:spPr>
          <a:xfrm>
            <a:off x="640080" y="960120"/>
            <a:ext cx="3657600" cy="36576"/>
          </a:xfrm>
          <a:prstGeom prst="rect">
            <a:avLst/>
          </a:prstGeom>
          <a:solidFill>
            <a:srgbClr val="00CEC9"/>
          </a:solidFill>
          <a:ln/>
        </p:spPr>
      </p:sp>
      <p:sp>
        <p:nvSpPr>
          <p:cNvPr id="4" name="Shape 2"/>
          <p:cNvSpPr/>
          <p:nvPr/>
        </p:nvSpPr>
        <p:spPr>
          <a:xfrm>
            <a:off x="640080" y="1188720"/>
            <a:ext cx="5212080" cy="2286000"/>
          </a:xfrm>
          <a:prstGeom prst="roundRect">
            <a:avLst>
              <a:gd name="adj" fmla="val 4000"/>
            </a:avLst>
          </a:prstGeom>
          <a:solidFill>
            <a:srgbClr val="1E2A4A"/>
          </a:solidFill>
          <a:ln/>
        </p:spPr>
      </p:sp>
      <p:sp>
        <p:nvSpPr>
          <p:cNvPr id="5" name="Text 3"/>
          <p:cNvSpPr/>
          <p:nvPr/>
        </p:nvSpPr>
        <p:spPr>
          <a:xfrm>
            <a:off x="914400" y="1280160"/>
            <a:ext cx="4754880" cy="365760"/>
          </a:xfrm>
          <a:prstGeom prst="rect">
            <a:avLst/>
          </a:prstGeom>
          <a:noFill/>
          <a:ln/>
        </p:spPr>
        <p:txBody>
          <a:bodyPr wrap="square" rtlCol="0" anchor="ctr"/>
          <a:lstStyle/>
          <a:p>
            <a:pPr marL="0" indent="0">
              <a:buNone/>
            </a:pPr>
            <a:r>
              <a:rPr lang="en-US" sz="1600" b="1" dirty="0">
                <a:solidFill>
                  <a:srgbClr val="00CEC9"/>
                </a:solidFill>
                <a:latin typeface="Arial" pitchFamily="34" charset="0"/>
                <a:ea typeface="Arial" pitchFamily="34" charset="-122"/>
                <a:cs typeface="Arial" pitchFamily="34" charset="-120"/>
              </a:rPr>
              <a:t>Data Refresh Strategy</a:t>
            </a:r>
            <a:endParaRPr lang="en-US" sz="1600" dirty="0"/>
          </a:p>
        </p:txBody>
      </p:sp>
      <p:sp>
        <p:nvSpPr>
          <p:cNvPr id="6" name="Text 4"/>
          <p:cNvSpPr/>
          <p:nvPr/>
        </p:nvSpPr>
        <p:spPr>
          <a:xfrm>
            <a:off x="914400" y="1737360"/>
            <a:ext cx="4754880" cy="1097280"/>
          </a:xfrm>
          <a:prstGeom prst="rect">
            <a:avLst/>
          </a:prstGeom>
          <a:noFill/>
          <a:ln/>
        </p:spPr>
        <p:txBody>
          <a:bodyPr wrap="square" rtlCol="0" anchor="ctr"/>
          <a:lstStyle/>
          <a:p>
            <a:pPr marL="0" indent="0">
              <a:lnSpc>
                <a:spcPct val="140000"/>
              </a:lnSpc>
              <a:buNone/>
            </a:pPr>
            <a:r>
              <a:rPr lang="en-US" sz="1100" dirty="0">
                <a:solidFill>
                  <a:srgbClr val="CCCCCC"/>
                </a:solidFill>
                <a:latin typeface="Arial" pitchFamily="34" charset="0"/>
                <a:ea typeface="Arial" pitchFamily="34" charset="-122"/>
                <a:cs typeface="Arial" pitchFamily="34" charset="-120"/>
              </a:rPr>
              <a:t>A daily refresh schedule is recommended, set to 7:00 AM before the business day begins at 8:00 AM. This ensures stakeholders always have yesterday's data ready for morning reviews and decision-making.</a:t>
            </a:r>
            <a:endParaRPr lang="en-US" sz="1100" dirty="0"/>
          </a:p>
        </p:txBody>
      </p:sp>
      <p:sp>
        <p:nvSpPr>
          <p:cNvPr id="7" name="Shape 5"/>
          <p:cNvSpPr/>
          <p:nvPr/>
        </p:nvSpPr>
        <p:spPr>
          <a:xfrm>
            <a:off x="6309360" y="1188720"/>
            <a:ext cx="5212080" cy="2286000"/>
          </a:xfrm>
          <a:prstGeom prst="roundRect">
            <a:avLst>
              <a:gd name="adj" fmla="val 4000"/>
            </a:avLst>
          </a:prstGeom>
          <a:solidFill>
            <a:srgbClr val="1E2A4A"/>
          </a:solidFill>
          <a:ln/>
        </p:spPr>
      </p:sp>
      <p:sp>
        <p:nvSpPr>
          <p:cNvPr id="8" name="Text 6"/>
          <p:cNvSpPr/>
          <p:nvPr/>
        </p:nvSpPr>
        <p:spPr>
          <a:xfrm>
            <a:off x="6583680" y="1280160"/>
            <a:ext cx="4754880" cy="365760"/>
          </a:xfrm>
          <a:prstGeom prst="rect">
            <a:avLst/>
          </a:prstGeom>
          <a:noFill/>
          <a:ln/>
        </p:spPr>
        <p:txBody>
          <a:bodyPr wrap="square" rtlCol="0" anchor="ctr"/>
          <a:lstStyle/>
          <a:p>
            <a:pPr marL="0" indent="0">
              <a:buNone/>
            </a:pPr>
            <a:r>
              <a:rPr lang="en-US" sz="1600" b="1" dirty="0">
                <a:solidFill>
                  <a:srgbClr val="00CEC9"/>
                </a:solidFill>
                <a:latin typeface="Arial" pitchFamily="34" charset="0"/>
                <a:ea typeface="Arial" pitchFamily="34" charset="-122"/>
                <a:cs typeface="Arial" pitchFamily="34" charset="-120"/>
              </a:rPr>
              <a:t>Key Accomplishments</a:t>
            </a:r>
            <a:endParaRPr lang="en-US" sz="1600" dirty="0"/>
          </a:p>
        </p:txBody>
      </p:sp>
      <p:sp>
        <p:nvSpPr>
          <p:cNvPr id="9" name="Text 7"/>
          <p:cNvSpPr/>
          <p:nvPr/>
        </p:nvSpPr>
        <p:spPr>
          <a:xfrm>
            <a:off x="6583680" y="1737360"/>
            <a:ext cx="4754880" cy="1463040"/>
          </a:xfrm>
          <a:prstGeom prst="rect">
            <a:avLst/>
          </a:prstGeom>
          <a:noFill/>
          <a:ln/>
        </p:spPr>
        <p:txBody>
          <a:bodyPr wrap="square" rtlCol="0" anchor="ctr"/>
          <a:lstStyle/>
          <a:p>
            <a:pPr marL="0" indent="0">
              <a:lnSpc>
                <a:spcPct val="140000"/>
              </a:lnSpc>
              <a:buNone/>
            </a:pPr>
            <a:r>
              <a:rPr lang="en-US" sz="1100" dirty="0">
                <a:solidFill>
                  <a:srgbClr val="CCCCCC"/>
                </a:solidFill>
                <a:latin typeface="Arial" pitchFamily="34" charset="0"/>
                <a:ea typeface="Arial" pitchFamily="34" charset="-122"/>
                <a:cs typeface="Arial" pitchFamily="34" charset="-120"/>
              </a:rPr>
              <a:t>Thorough data cleaning with documented decisions</a:t>
            </a:r>
            <a:endParaRPr lang="en-US" sz="1100" dirty="0"/>
          </a:p>
          <a:p>
            <a:pPr marL="0" indent="0">
              <a:lnSpc>
                <a:spcPct val="140000"/>
              </a:lnSpc>
              <a:buNone/>
            </a:pPr>
            <a:r>
              <a:rPr lang="en-US" sz="1100" dirty="0">
                <a:solidFill>
                  <a:srgbClr val="CCCCCC"/>
                </a:solidFill>
                <a:latin typeface="Arial" pitchFamily="34" charset="0"/>
                <a:ea typeface="Arial" pitchFamily="34" charset="-122"/>
                <a:cs typeface="Arial" pitchFamily="34" charset="-120"/>
              </a:rPr>
              <a:t>Clean star schema with DAX Date table</a:t>
            </a:r>
            <a:endParaRPr lang="en-US" sz="1100" dirty="0"/>
          </a:p>
          <a:p>
            <a:pPr marL="0" indent="0">
              <a:lnSpc>
                <a:spcPct val="140000"/>
              </a:lnSpc>
              <a:buNone/>
            </a:pPr>
            <a:r>
              <a:rPr lang="en-US" sz="1100" dirty="0">
                <a:solidFill>
                  <a:srgbClr val="CCCCCC"/>
                </a:solidFill>
                <a:latin typeface="Arial" pitchFamily="34" charset="0"/>
                <a:ea typeface="Arial" pitchFamily="34" charset="-122"/>
                <a:cs typeface="Arial" pitchFamily="34" charset="-120"/>
              </a:rPr>
              <a:t>13+ DAX measures incl. time intelligence</a:t>
            </a:r>
            <a:endParaRPr lang="en-US" sz="1100" dirty="0"/>
          </a:p>
          <a:p>
            <a:pPr marL="0" indent="0">
              <a:lnSpc>
                <a:spcPct val="140000"/>
              </a:lnSpc>
              <a:buNone/>
            </a:pPr>
            <a:r>
              <a:rPr lang="en-US" sz="1100" dirty="0">
                <a:solidFill>
                  <a:srgbClr val="CCCCCC"/>
                </a:solidFill>
                <a:latin typeface="Arial" pitchFamily="34" charset="0"/>
                <a:ea typeface="Arial" pitchFamily="34" charset="-122"/>
                <a:cs typeface="Arial" pitchFamily="34" charset="-120"/>
              </a:rPr>
              <a:t>Interactive dark-themed executive dashboard</a:t>
            </a:r>
            <a:endParaRPr lang="en-US" sz="1100" dirty="0"/>
          </a:p>
          <a:p>
            <a:pPr marL="0" indent="0">
              <a:lnSpc>
                <a:spcPct val="140000"/>
              </a:lnSpc>
              <a:buNone/>
            </a:pPr>
            <a:r>
              <a:rPr lang="en-US" sz="1100" dirty="0">
                <a:solidFill>
                  <a:srgbClr val="CCCCCC"/>
                </a:solidFill>
                <a:latin typeface="Arial" pitchFamily="34" charset="0"/>
                <a:ea typeface="Arial" pitchFamily="34" charset="-122"/>
                <a:cs typeface="Arial" pitchFamily="34" charset="-120"/>
              </a:rPr>
              <a:t>4 RLS roles for secure multi-user access</a:t>
            </a:r>
            <a:endParaRPr lang="en-US" sz="1100" dirty="0"/>
          </a:p>
          <a:p>
            <a:pPr marL="0" indent="0">
              <a:lnSpc>
                <a:spcPct val="140000"/>
              </a:lnSpc>
              <a:buNone/>
            </a:pPr>
            <a:r>
              <a:rPr lang="en-US" sz="1100" dirty="0">
                <a:solidFill>
                  <a:srgbClr val="CCCCCC"/>
                </a:solidFill>
                <a:latin typeface="Arial" pitchFamily="34" charset="0"/>
                <a:ea typeface="Arial" pitchFamily="34" charset="-122"/>
                <a:cs typeface="Arial" pitchFamily="34" charset="-120"/>
              </a:rPr>
              <a:t>Actionable insights backed by data</a:t>
            </a:r>
            <a:endParaRPr lang="en-US" sz="1100" dirty="0"/>
          </a:p>
        </p:txBody>
      </p:sp>
      <p:sp>
        <p:nvSpPr>
          <p:cNvPr id="10" name="Shape 8"/>
          <p:cNvSpPr/>
          <p:nvPr/>
        </p:nvSpPr>
        <p:spPr>
          <a:xfrm>
            <a:off x="2286000" y="3840480"/>
            <a:ext cx="7589520" cy="2011680"/>
          </a:xfrm>
          <a:prstGeom prst="roundRect">
            <a:avLst>
              <a:gd name="adj" fmla="val 4545"/>
            </a:avLst>
          </a:prstGeom>
          <a:solidFill>
            <a:srgbClr val="16213E"/>
          </a:solidFill>
          <a:ln/>
        </p:spPr>
      </p:sp>
      <p:sp>
        <p:nvSpPr>
          <p:cNvPr id="11" name="Text 9"/>
          <p:cNvSpPr/>
          <p:nvPr/>
        </p:nvSpPr>
        <p:spPr>
          <a:xfrm>
            <a:off x="2286000" y="4023360"/>
            <a:ext cx="7589520" cy="640080"/>
          </a:xfrm>
          <a:prstGeom prst="rect">
            <a:avLst/>
          </a:prstGeom>
          <a:noFill/>
          <a:ln/>
        </p:spPr>
        <p:txBody>
          <a:bodyPr wrap="square" rtlCol="0" anchor="ctr"/>
          <a:lstStyle/>
          <a:p>
            <a:pPr marL="0" indent="0" algn="ctr">
              <a:buNone/>
            </a:pPr>
            <a:r>
              <a:rPr lang="en-US" sz="3600" b="1" dirty="0">
                <a:solidFill>
                  <a:srgbClr val="00CEC9"/>
                </a:solidFill>
                <a:latin typeface="Arial" pitchFamily="34" charset="0"/>
                <a:ea typeface="Arial" pitchFamily="34" charset="-122"/>
                <a:cs typeface="Arial" pitchFamily="34" charset="-120"/>
              </a:rPr>
              <a:t>THANK YOU</a:t>
            </a:r>
            <a:endParaRPr lang="en-US" sz="3600" dirty="0"/>
          </a:p>
        </p:txBody>
      </p:sp>
      <p:sp>
        <p:nvSpPr>
          <p:cNvPr id="12" name="Text 10"/>
          <p:cNvSpPr/>
          <p:nvPr/>
        </p:nvSpPr>
        <p:spPr>
          <a:xfrm>
            <a:off x="2286000" y="4572000"/>
            <a:ext cx="7589520" cy="365760"/>
          </a:xfrm>
          <a:prstGeom prst="rect">
            <a:avLst/>
          </a:prstGeom>
          <a:noFill/>
          <a:ln/>
        </p:spPr>
        <p:txBody>
          <a:bodyPr wrap="square" rtlCol="0" anchor="ctr"/>
          <a:lstStyle/>
          <a:p>
            <a:pPr marL="0" indent="0" algn="ctr">
              <a:buNone/>
            </a:pPr>
            <a:r>
              <a:rPr lang="en-US" sz="1400" dirty="0">
                <a:solidFill>
                  <a:srgbClr val="FFFFFF"/>
                </a:solidFill>
                <a:latin typeface="Arial" pitchFamily="34" charset="0"/>
                <a:ea typeface="Arial" pitchFamily="34" charset="-122"/>
                <a:cs typeface="Arial" pitchFamily="34" charset="-120"/>
              </a:rPr>
              <a:t>Oluwatoni Oladipo  |  Data Analyst</a:t>
            </a:r>
            <a:endParaRPr lang="en-US" sz="1400" dirty="0"/>
          </a:p>
        </p:txBody>
      </p:sp>
      <p:sp>
        <p:nvSpPr>
          <p:cNvPr id="13" name="Text 11"/>
          <p:cNvSpPr/>
          <p:nvPr/>
        </p:nvSpPr>
        <p:spPr>
          <a:xfrm>
            <a:off x="2286000" y="4937760"/>
            <a:ext cx="7589520" cy="365760"/>
          </a:xfrm>
          <a:prstGeom prst="rect">
            <a:avLst/>
          </a:prstGeom>
          <a:noFill/>
          <a:ln/>
        </p:spPr>
        <p:txBody>
          <a:bodyPr wrap="square" rtlCol="0" anchor="ctr"/>
          <a:lstStyle/>
          <a:p>
            <a:pPr marL="0" indent="0" algn="ctr">
              <a:buNone/>
            </a:pPr>
            <a:r>
              <a:rPr lang="en-US" sz="1300" dirty="0">
                <a:solidFill>
                  <a:srgbClr val="00CEC9"/>
                </a:solidFill>
                <a:latin typeface="Arial" pitchFamily="34" charset="0"/>
                <a:ea typeface="Arial" pitchFamily="34" charset="-122"/>
                <a:cs typeface="Arial" pitchFamily="34" charset="-120"/>
              </a:rPr>
              <a:t>toni@tonianalytics.com.ng</a:t>
            </a:r>
            <a:endParaRPr lang="en-US" sz="1300" dirty="0"/>
          </a:p>
        </p:txBody>
      </p:sp>
      <p:sp>
        <p:nvSpPr>
          <p:cNvPr id="14" name="Text 12"/>
          <p:cNvSpPr/>
          <p:nvPr/>
        </p:nvSpPr>
        <p:spPr>
          <a:xfrm>
            <a:off x="0" y="6446520"/>
            <a:ext cx="12161520" cy="320040"/>
          </a:xfrm>
          <a:prstGeom prst="rect">
            <a:avLst/>
          </a:prstGeom>
          <a:noFill/>
          <a:ln/>
        </p:spPr>
        <p:txBody>
          <a:bodyPr wrap="square" rtlCol="0" anchor="ctr"/>
          <a:lstStyle/>
          <a:p>
            <a:pPr marL="0" indent="0" algn="ctr">
              <a:buNone/>
            </a:pPr>
            <a:r>
              <a:rPr lang="en-US" sz="800" dirty="0">
                <a:solidFill>
                  <a:srgbClr val="CCCCCC"/>
                </a:solidFill>
                <a:latin typeface="Arial" pitchFamily="34" charset="0"/>
                <a:ea typeface="Arial" pitchFamily="34" charset="-122"/>
                <a:cs typeface="Arial" pitchFamily="34" charset="-120"/>
              </a:rPr>
              <a:t>Zuri Electronics Analysis  |  Oluwatoni Oladipo  |  16/16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2055</Words>
  <Application>Microsoft Office PowerPoint</Application>
  <PresentationFormat>Widescreen</PresentationFormat>
  <Paragraphs>344</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Oladipo Oluwatoni</cp:lastModifiedBy>
  <cp:revision>1</cp:revision>
  <dcterms:created xsi:type="dcterms:W3CDTF">2026-08-01T01:18:09Z</dcterms:created>
  <dcterms:modified xsi:type="dcterms:W3CDTF">2026-08-01T01:19:26Z</dcterms:modified>
</cp:coreProperties>
</file>